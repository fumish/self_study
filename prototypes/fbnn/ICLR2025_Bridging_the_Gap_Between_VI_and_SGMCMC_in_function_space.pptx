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2" r:id="rId6"/>
    <p:sldId id="263" r:id="rId7"/>
    <p:sldId id="264" r:id="rId8"/>
    <p:sldId id="265" r:id="rId9"/>
    <p:sldId id="268" r:id="rId10"/>
    <p:sldId id="266" r:id="rId11"/>
    <p:sldId id="269" r:id="rId12"/>
    <p:sldId id="270" r:id="rId13"/>
    <p:sldId id="272" r:id="rId14"/>
    <p:sldId id="273" r:id="rId15"/>
    <p:sldId id="274" r:id="rId16"/>
    <p:sldId id="275" r:id="rId17"/>
    <p:sldId id="276" r:id="rId18"/>
    <p:sldId id="277" r:id="rId19"/>
    <p:sldId id="278" r:id="rId20"/>
    <p:sldId id="279" r:id="rId21"/>
    <p:sldId id="280" r:id="rId22"/>
    <p:sldId id="281" r:id="rId23"/>
    <p:sldId id="282" r:id="rId24"/>
    <p:sldId id="285" r:id="rId25"/>
    <p:sldId id="284" r:id="rId26"/>
    <p:sldId id="286" r:id="rId27"/>
    <p:sldId id="287" r:id="rId28"/>
    <p:sldId id="283" r:id="rId2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7EB699-B61C-301F-6B74-1BA5F7EB44D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B3683C1-A828-081A-1F57-9A97C7A065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C7AF215-F5A7-A92E-1252-32446D27EC1D}"/>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5" name="フッター プレースホルダー 4">
            <a:extLst>
              <a:ext uri="{FF2B5EF4-FFF2-40B4-BE49-F238E27FC236}">
                <a16:creationId xmlns:a16="http://schemas.microsoft.com/office/drawing/2014/main" id="{43665CC1-3625-B8D0-579D-6BC2E0BAD2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ECCFB3F-8050-3624-6862-E3E7100BB605}"/>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2463689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39E8B8-E0E7-F441-675A-015F4E6FF57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6D0E0F9-9018-A1A4-734B-CA03476F74D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227309-944F-1504-085F-287DC9F0B779}"/>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5" name="フッター プレースホルダー 4">
            <a:extLst>
              <a:ext uri="{FF2B5EF4-FFF2-40B4-BE49-F238E27FC236}">
                <a16:creationId xmlns:a16="http://schemas.microsoft.com/office/drawing/2014/main" id="{FD12E496-0E4E-2EE7-0EE5-1560090016E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7BE25A-FD3F-F902-B520-30723D90A98E}"/>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508152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EE07AF-4650-F987-60EE-B82392584BE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70B8266-A40C-59CD-2BE5-2BD35E304A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D687098-DBB3-DC36-DEC8-C14F753F5968}"/>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5" name="フッター プレースホルダー 4">
            <a:extLst>
              <a:ext uri="{FF2B5EF4-FFF2-40B4-BE49-F238E27FC236}">
                <a16:creationId xmlns:a16="http://schemas.microsoft.com/office/drawing/2014/main" id="{2A640492-AC69-F04E-9476-2B98E3C3DB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501C03-A672-39B1-2C3E-0E6FA7600CB4}"/>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653705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30E9EC-EB79-8373-86FC-177F4B8C94D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68E8719-932E-E1ED-27A2-778F0B80552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5AFADA6-A570-AF3C-344E-652029224C73}"/>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8FE1CAD-550C-DD7F-2754-C7CFA6CFE427}"/>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6" name="フッター プレースホルダー 5">
            <a:extLst>
              <a:ext uri="{FF2B5EF4-FFF2-40B4-BE49-F238E27FC236}">
                <a16:creationId xmlns:a16="http://schemas.microsoft.com/office/drawing/2014/main" id="{31040051-27B8-6DB8-DE5E-6F3490FBC4E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461C4B-33AF-3BD5-96B1-75DBB581F90F}"/>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764498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73150B-2F2D-7CD2-0274-49EB44EED79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056BDBD-4E44-51F0-4FDE-D7C1F8D06B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2749D51-1749-1DAE-ED7F-D8255D51E15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926F4C-4712-7DC0-BE46-0F0C705B6B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C25DF-C2CD-7BAD-4D81-A7DCFD6EFCA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C1A1200-5D64-243C-4660-3D7531F579D4}"/>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8" name="フッター プレースホルダー 7">
            <a:extLst>
              <a:ext uri="{FF2B5EF4-FFF2-40B4-BE49-F238E27FC236}">
                <a16:creationId xmlns:a16="http://schemas.microsoft.com/office/drawing/2014/main" id="{556494F8-C417-CE39-D135-35E92E92D8A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61575BB-F190-7071-BDDE-B5D84786418E}"/>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491259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39D85F-6D30-5C81-6F28-9B4C4B985E4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3073941-AD8C-8D7E-8E2C-F39FC5402CE7}"/>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4" name="フッター プレースホルダー 3">
            <a:extLst>
              <a:ext uri="{FF2B5EF4-FFF2-40B4-BE49-F238E27FC236}">
                <a16:creationId xmlns:a16="http://schemas.microsoft.com/office/drawing/2014/main" id="{F218DC3D-15AC-D2CB-219A-31823EE8131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29A3401-7206-3F28-5148-B7F14896F783}"/>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210246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315C6F2-962E-8E3D-AA2F-68955A8AC558}"/>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3" name="フッター プレースホルダー 2">
            <a:extLst>
              <a:ext uri="{FF2B5EF4-FFF2-40B4-BE49-F238E27FC236}">
                <a16:creationId xmlns:a16="http://schemas.microsoft.com/office/drawing/2014/main" id="{6F566561-2035-533C-B996-8B86BD257E1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880935F-2C98-0970-72AB-E78ED2612AF9}"/>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94869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4300B4-F29D-92C8-3E19-EA0F0938D0A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C2817CF-B679-355F-40FF-F0468CF576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33D028C-0ABC-2F5E-4D92-148C79619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3659B46-4BE4-E260-ADB4-C434D60F763F}"/>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6" name="フッター プレースホルダー 5">
            <a:extLst>
              <a:ext uri="{FF2B5EF4-FFF2-40B4-BE49-F238E27FC236}">
                <a16:creationId xmlns:a16="http://schemas.microsoft.com/office/drawing/2014/main" id="{6CDB136E-0761-787D-15E8-E8DA6B24E9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D3E50D6-0B69-1927-2CFE-2DD9DE671844}"/>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396898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B73787-A1FD-13AE-487C-3947384EDCD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63FCA77-6AA1-7C8E-8936-E72B8A820F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1E240D1-D164-565E-CA35-809DB392E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0D98B59-4D1D-38D9-F128-3FDB004AB73C}"/>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6" name="フッター プレースホルダー 5">
            <a:extLst>
              <a:ext uri="{FF2B5EF4-FFF2-40B4-BE49-F238E27FC236}">
                <a16:creationId xmlns:a16="http://schemas.microsoft.com/office/drawing/2014/main" id="{969D7555-0748-D548-0587-83985208347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B72EE7-473E-2106-2541-B4DC60D84113}"/>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2211650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8D9E5C-E76B-3F96-CF90-85359BE117A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32DFAC3-74B0-A02E-4142-855C6CDAEB8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D61D9A-02BF-C978-1557-496857C25CFC}"/>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5" name="フッター プレースホルダー 4">
            <a:extLst>
              <a:ext uri="{FF2B5EF4-FFF2-40B4-BE49-F238E27FC236}">
                <a16:creationId xmlns:a16="http://schemas.microsoft.com/office/drawing/2014/main" id="{C941C01F-DEF5-37A2-4946-F671CAD8CE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1D5438-3596-A5B2-8788-0919206BC2E1}"/>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77886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3B26E82-8EE9-197F-619E-28840E01CF8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2E0EC4E-3476-BA60-F63D-15856B6CFE0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707B571-5FA8-8CBE-F9AD-95D469339707}"/>
              </a:ext>
            </a:extLst>
          </p:cNvPr>
          <p:cNvSpPr>
            <a:spLocks noGrp="1"/>
          </p:cNvSpPr>
          <p:nvPr>
            <p:ph type="dt" sz="half" idx="10"/>
          </p:nvPr>
        </p:nvSpPr>
        <p:spPr/>
        <p:txBody>
          <a:bodyPr/>
          <a:lstStyle/>
          <a:p>
            <a:fld id="{188B54D9-8338-4A6A-9228-54ACEEBC9525}" type="datetimeFigureOut">
              <a:rPr kumimoji="1" lang="ja-JP" altLang="en-US" smtClean="0"/>
              <a:t>2025/5/28</a:t>
            </a:fld>
            <a:endParaRPr kumimoji="1" lang="ja-JP" altLang="en-US"/>
          </a:p>
        </p:txBody>
      </p:sp>
      <p:sp>
        <p:nvSpPr>
          <p:cNvPr id="5" name="フッター プレースホルダー 4">
            <a:extLst>
              <a:ext uri="{FF2B5EF4-FFF2-40B4-BE49-F238E27FC236}">
                <a16:creationId xmlns:a16="http://schemas.microsoft.com/office/drawing/2014/main" id="{21613A1E-7CBA-431C-6AC5-798CC987D9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DCE79DF-DF41-F3F8-FDC4-2D8FD62CC3EE}"/>
              </a:ext>
            </a:extLst>
          </p:cNvPr>
          <p:cNvSpPr>
            <a:spLocks noGrp="1"/>
          </p:cNvSpPr>
          <p:nvPr>
            <p:ph type="sldNum" sz="quarter" idx="12"/>
          </p:nvPr>
        </p:nvSpPr>
        <p:spPr/>
        <p:txBody>
          <a:body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3883791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C53B21D-AB7B-361B-7367-4BF22BE18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6257A61-8426-D474-EA01-4145818E59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FF2380-FF74-6DC0-7A0E-0501727EE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8B54D9-8338-4A6A-9228-54ACEEBC9525}" type="datetimeFigureOut">
              <a:rPr kumimoji="1" lang="ja-JP" altLang="en-US" smtClean="0"/>
              <a:t>2025/5/28</a:t>
            </a:fld>
            <a:endParaRPr kumimoji="1" lang="ja-JP" altLang="en-US"/>
          </a:p>
        </p:txBody>
      </p:sp>
      <p:sp>
        <p:nvSpPr>
          <p:cNvPr id="5" name="フッター プレースホルダー 4">
            <a:extLst>
              <a:ext uri="{FF2B5EF4-FFF2-40B4-BE49-F238E27FC236}">
                <a16:creationId xmlns:a16="http://schemas.microsoft.com/office/drawing/2014/main" id="{4C6F54CB-7433-15FA-4870-72DE561752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6744C77-3475-E7C2-D2E4-23392C003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A90C2-197C-4214-AF05-4875FB0B3BC0}" type="slidenum">
              <a:rPr kumimoji="1" lang="ja-JP" altLang="en-US" smtClean="0"/>
              <a:t>‹#›</a:t>
            </a:fld>
            <a:endParaRPr kumimoji="1" lang="ja-JP" altLang="en-US"/>
          </a:p>
        </p:txBody>
      </p:sp>
    </p:spTree>
    <p:extLst>
      <p:ext uri="{BB962C8B-B14F-4D97-AF65-F5344CB8AC3E}">
        <p14:creationId xmlns:p14="http://schemas.microsoft.com/office/powerpoint/2010/main" val="1036471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0.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110.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410.png"/><Relationship Id="rId4" Type="http://schemas.openxmlformats.org/officeDocument/2006/relationships/image" Target="../media/image310.png"/></Relationships>
</file>

<file path=ppt/slides/_rels/slide15.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70.png"/><Relationship Id="rId7" Type="http://schemas.openxmlformats.org/officeDocument/2006/relationships/image" Target="../media/image111.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80.png"/><Relationship Id="rId9" Type="http://schemas.openxmlformats.org/officeDocument/2006/relationships/image" Target="../media/image130.png"/></Relationships>
</file>

<file path=ppt/slides/_rels/slide16.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50.png"/><Relationship Id="rId7" Type="http://schemas.openxmlformats.org/officeDocument/2006/relationships/image" Target="../media/image191.png"/><Relationship Id="rId2" Type="http://schemas.openxmlformats.org/officeDocument/2006/relationships/image" Target="../media/image140.png"/><Relationship Id="rId1" Type="http://schemas.openxmlformats.org/officeDocument/2006/relationships/slideLayout" Target="../slideLayouts/slideLayout7.xml"/><Relationship Id="rId6" Type="http://schemas.openxmlformats.org/officeDocument/2006/relationships/image" Target="../media/image180.png"/><Relationship Id="rId5" Type="http://schemas.openxmlformats.org/officeDocument/2006/relationships/image" Target="../media/image170.png"/><Relationship Id="rId10" Type="http://schemas.openxmlformats.org/officeDocument/2006/relationships/image" Target="../media/image44.png"/><Relationship Id="rId4" Type="http://schemas.openxmlformats.org/officeDocument/2006/relationships/image" Target="../media/image160.png"/><Relationship Id="rId9" Type="http://schemas.openxmlformats.org/officeDocument/2006/relationships/image" Target="../media/image211.png"/></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7.xml"/><Relationship Id="rId6" Type="http://schemas.openxmlformats.org/officeDocument/2006/relationships/image" Target="../media/image311.png"/><Relationship Id="rId5" Type="http://schemas.openxmlformats.org/officeDocument/2006/relationships/image" Target="../media/image30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0.png"/><Relationship Id="rId1" Type="http://schemas.openxmlformats.org/officeDocument/2006/relationships/slideLayout" Target="../slideLayouts/slideLayout7.xml"/><Relationship Id="rId5" Type="http://schemas.openxmlformats.org/officeDocument/2006/relationships/image" Target="../media/image350.png"/><Relationship Id="rId4" Type="http://schemas.openxmlformats.org/officeDocument/2006/relationships/image" Target="../media/image3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A00C70-408B-A370-6B67-E8A209F571C7}"/>
              </a:ext>
            </a:extLst>
          </p:cNvPr>
          <p:cNvSpPr>
            <a:spLocks noGrp="1"/>
          </p:cNvSpPr>
          <p:nvPr>
            <p:ph type="ctrTitle"/>
          </p:nvPr>
        </p:nvSpPr>
        <p:spPr/>
        <p:txBody>
          <a:bodyPr/>
          <a:lstStyle/>
          <a:p>
            <a:r>
              <a:rPr kumimoji="1" lang="en-US" altLang="ja-JP" dirty="0"/>
              <a:t>ICLR2025 </a:t>
            </a:r>
            <a:r>
              <a:rPr kumimoji="1" lang="ja-JP" altLang="en-US" dirty="0"/>
              <a:t>論文読み会</a:t>
            </a:r>
          </a:p>
        </p:txBody>
      </p:sp>
      <p:sp>
        <p:nvSpPr>
          <p:cNvPr id="3" name="字幕 2">
            <a:extLst>
              <a:ext uri="{FF2B5EF4-FFF2-40B4-BE49-F238E27FC236}">
                <a16:creationId xmlns:a16="http://schemas.microsoft.com/office/drawing/2014/main" id="{5F857132-B960-5040-3207-C41D405D04F9}"/>
              </a:ext>
            </a:extLst>
          </p:cNvPr>
          <p:cNvSpPr>
            <a:spLocks noGrp="1"/>
          </p:cNvSpPr>
          <p:nvPr>
            <p:ph type="subTitle" idx="1"/>
          </p:nvPr>
        </p:nvSpPr>
        <p:spPr/>
        <p:txBody>
          <a:bodyPr/>
          <a:lstStyle/>
          <a:p>
            <a:r>
              <a:rPr kumimoji="1" lang="en-US" altLang="ja-JP" dirty="0"/>
              <a:t>Wu,. M, Xuan,. J, Lu,. J,</a:t>
            </a:r>
          </a:p>
          <a:p>
            <a:r>
              <a:rPr kumimoji="1" lang="en-US" altLang="ja-JP" dirty="0"/>
              <a:t>Bridging the Gap Between Variational Inference and Stochastic Gradient MCMC in Function Space</a:t>
            </a:r>
            <a:endParaRPr kumimoji="1" lang="ja-JP" altLang="en-US" dirty="0"/>
          </a:p>
        </p:txBody>
      </p:sp>
    </p:spTree>
    <p:extLst>
      <p:ext uri="{BB962C8B-B14F-4D97-AF65-F5344CB8AC3E}">
        <p14:creationId xmlns:p14="http://schemas.microsoft.com/office/powerpoint/2010/main" val="4550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DCB5200-7151-60BF-4791-867E9DBAA961}"/>
              </a:ext>
            </a:extLst>
          </p:cNvPr>
          <p:cNvSpPr txBox="1"/>
          <p:nvPr/>
        </p:nvSpPr>
        <p:spPr>
          <a:xfrm>
            <a:off x="277401" y="260501"/>
            <a:ext cx="10140593" cy="769441"/>
          </a:xfrm>
          <a:prstGeom prst="rect">
            <a:avLst/>
          </a:prstGeom>
          <a:noFill/>
        </p:spPr>
        <p:txBody>
          <a:bodyPr wrap="square" rtlCol="0">
            <a:spAutoFit/>
          </a:bodyPr>
          <a:lstStyle/>
          <a:p>
            <a:r>
              <a:rPr lang="ja-JP" altLang="en-US" sz="4400" dirty="0"/>
              <a:t>はじめに</a:t>
            </a:r>
            <a:endParaRPr kumimoji="1" lang="ja-JP" altLang="en-US" sz="4400" dirty="0"/>
          </a:p>
        </p:txBody>
      </p:sp>
      <p:sp>
        <p:nvSpPr>
          <p:cNvPr id="5" name="テキスト ボックス 4">
            <a:extLst>
              <a:ext uri="{FF2B5EF4-FFF2-40B4-BE49-F238E27FC236}">
                <a16:creationId xmlns:a16="http://schemas.microsoft.com/office/drawing/2014/main" id="{A760E861-381F-38FF-8104-67376EC73CCD}"/>
              </a:ext>
            </a:extLst>
          </p:cNvPr>
          <p:cNvSpPr txBox="1"/>
          <p:nvPr/>
        </p:nvSpPr>
        <p:spPr>
          <a:xfrm>
            <a:off x="1263721" y="1181512"/>
            <a:ext cx="9524143" cy="4862870"/>
          </a:xfrm>
          <a:prstGeom prst="rect">
            <a:avLst/>
          </a:prstGeom>
          <a:noFill/>
        </p:spPr>
        <p:txBody>
          <a:bodyPr wrap="square" rtlCol="0">
            <a:spAutoFit/>
          </a:bodyPr>
          <a:lstStyle/>
          <a:p>
            <a:r>
              <a:rPr lang="ja-JP" altLang="en-US" sz="2000" dirty="0"/>
              <a:t>この論文を選んだ経緯</a:t>
            </a:r>
            <a:r>
              <a:rPr lang="en-US" altLang="ja-JP" sz="2000" dirty="0"/>
              <a:t>: </a:t>
            </a:r>
          </a:p>
          <a:p>
            <a:r>
              <a:rPr lang="en-US" altLang="ja-JP" dirty="0"/>
              <a:t>Bayesian Neural Network</a:t>
            </a:r>
            <a:r>
              <a:rPr lang="ja-JP" altLang="en-US" dirty="0"/>
              <a:t>の推論の研究や無限次元のベイズ推論に興味があったため</a:t>
            </a:r>
            <a:endParaRPr lang="en-US" altLang="ja-JP" dirty="0"/>
          </a:p>
          <a:p>
            <a:endParaRPr lang="en-US" altLang="ja-JP" dirty="0"/>
          </a:p>
          <a:p>
            <a:r>
              <a:rPr lang="en-US" altLang="ja-JP" dirty="0"/>
              <a:t>※ Bayesian</a:t>
            </a:r>
            <a:r>
              <a:rPr lang="ja-JP" altLang="en-US" dirty="0"/>
              <a:t> </a:t>
            </a:r>
            <a:r>
              <a:rPr lang="en-US" altLang="ja-JP" dirty="0"/>
              <a:t>Neural</a:t>
            </a:r>
            <a:r>
              <a:rPr lang="ja-JP" altLang="en-US" dirty="0"/>
              <a:t> </a:t>
            </a:r>
            <a:r>
              <a:rPr lang="en-US" altLang="ja-JP" dirty="0"/>
              <a:t>Network</a:t>
            </a:r>
            <a:r>
              <a:rPr lang="ja-JP" altLang="en-US" dirty="0"/>
              <a:t>系の論文の例</a:t>
            </a:r>
            <a:r>
              <a:rPr lang="en-US" altLang="ja-JP" dirty="0"/>
              <a:t>:</a:t>
            </a:r>
          </a:p>
          <a:p>
            <a:r>
              <a:rPr lang="ja-JP" altLang="en-US" sz="1600" dirty="0"/>
              <a:t>・</a:t>
            </a:r>
            <a:r>
              <a:rPr lang="en-US" altLang="ja-JP" sz="1600" dirty="0"/>
              <a:t>Sun, </a:t>
            </a:r>
            <a:r>
              <a:rPr lang="en-US" altLang="ja-JP" sz="1600" dirty="0" err="1"/>
              <a:t>Shengyang</a:t>
            </a:r>
            <a:r>
              <a:rPr lang="en-US" altLang="ja-JP" sz="1600" dirty="0"/>
              <a:t>, et al. "Functional variational Bayesian neural networks.“, 2019.</a:t>
            </a:r>
          </a:p>
          <a:p>
            <a:r>
              <a:rPr lang="ja-JP" altLang="en-US" sz="1600" dirty="0"/>
              <a:t>・</a:t>
            </a:r>
            <a:r>
              <a:rPr lang="en-US" altLang="ja-JP" sz="1600" dirty="0"/>
              <a:t>Rudner, Tim GJ, et al. "Tractable function-space variational inference in </a:t>
            </a:r>
            <a:r>
              <a:rPr lang="en-US" altLang="ja-JP" sz="1600" dirty="0" err="1"/>
              <a:t>bayesian</a:t>
            </a:r>
            <a:r>
              <a:rPr lang="en-US" altLang="ja-JP" sz="1600" dirty="0"/>
              <a:t> neural networks.“, 2022.</a:t>
            </a:r>
          </a:p>
          <a:p>
            <a:r>
              <a:rPr lang="ja-JP" altLang="en-US" sz="1600" dirty="0"/>
              <a:t>・</a:t>
            </a:r>
            <a:r>
              <a:rPr lang="en-US" altLang="ja-JP" sz="1600" dirty="0"/>
              <a:t>Wild, Veit David, Robert Hu, and Dino </a:t>
            </a:r>
            <a:r>
              <a:rPr lang="en-US" altLang="ja-JP" sz="1600" dirty="0" err="1"/>
              <a:t>Sejdinovic</a:t>
            </a:r>
            <a:r>
              <a:rPr lang="en-US" altLang="ja-JP" sz="1600" dirty="0"/>
              <a:t>. "Generalized variational inference in function spaces: Gaussian measures meet </a:t>
            </a:r>
            <a:r>
              <a:rPr lang="en-US" altLang="ja-JP" sz="1600" dirty="0" err="1"/>
              <a:t>bayesian</a:t>
            </a:r>
            <a:r>
              <a:rPr lang="en-US" altLang="ja-JP" sz="1600" dirty="0"/>
              <a:t> deep learning.“, 2022.</a:t>
            </a:r>
          </a:p>
          <a:p>
            <a:r>
              <a:rPr lang="ja-JP" altLang="en-US" sz="1600" dirty="0"/>
              <a:t>・</a:t>
            </a:r>
            <a:r>
              <a:rPr lang="en-US" altLang="ja-JP" sz="1600" dirty="0"/>
              <a:t>Yi, </a:t>
            </a:r>
            <a:r>
              <a:rPr lang="en-US" altLang="ja-JP" sz="1600" dirty="0" err="1"/>
              <a:t>Mingxuan</a:t>
            </a:r>
            <a:r>
              <a:rPr lang="en-US" altLang="ja-JP" sz="1600" dirty="0"/>
              <a:t>, and Song Liu. "Bridging the gap between variational inference and </a:t>
            </a:r>
            <a:r>
              <a:rPr lang="en-US" altLang="ja-JP" sz="1600" dirty="0" err="1"/>
              <a:t>wasserstein</a:t>
            </a:r>
            <a:r>
              <a:rPr lang="en-US" altLang="ja-JP" sz="1600" dirty="0"/>
              <a:t> gradient flows.“, 2023.</a:t>
            </a:r>
          </a:p>
          <a:p>
            <a:r>
              <a:rPr lang="ja-JP" altLang="en-US" sz="1600" dirty="0"/>
              <a:t>・</a:t>
            </a:r>
            <a:r>
              <a:rPr lang="en-US" altLang="ja-JP" sz="1600" dirty="0"/>
              <a:t>Wu, </a:t>
            </a:r>
            <a:r>
              <a:rPr lang="en-US" altLang="ja-JP" sz="1600" dirty="0" err="1"/>
              <a:t>Mengjing</a:t>
            </a:r>
            <a:r>
              <a:rPr lang="en-US" altLang="ja-JP" sz="1600" dirty="0"/>
              <a:t>, Junyu Xuan, and Jie Lu. "Functional Stochastic Gradient MCMC for Bayesian Neural Networks.“, 2024.</a:t>
            </a:r>
          </a:p>
          <a:p>
            <a:endParaRPr lang="en-US" altLang="ja-JP" dirty="0"/>
          </a:p>
          <a:p>
            <a:r>
              <a:rPr kumimoji="1" lang="ja-JP" altLang="en-US" sz="2000" dirty="0"/>
              <a:t>この発表の範囲</a:t>
            </a:r>
            <a:r>
              <a:rPr kumimoji="1" lang="en-US" altLang="ja-JP" sz="2000" dirty="0"/>
              <a:t>: </a:t>
            </a:r>
          </a:p>
          <a:p>
            <a:r>
              <a:rPr lang="ja-JP" altLang="en-US" dirty="0"/>
              <a:t>基本的に、論文上で書かれている範囲を説明するが、論文上で引用している内容はあまり説明しない</a:t>
            </a:r>
          </a:p>
          <a:p>
            <a:r>
              <a:rPr lang="ja-JP" altLang="en-US" dirty="0"/>
              <a:t>　→ 関数解析や確率過程の知識があれば、より深く内容を理解できそうではある</a:t>
            </a:r>
            <a:endParaRPr kumimoji="1" lang="en-US" altLang="ja-JP" dirty="0"/>
          </a:p>
        </p:txBody>
      </p:sp>
    </p:spTree>
    <p:extLst>
      <p:ext uri="{BB962C8B-B14F-4D97-AF65-F5344CB8AC3E}">
        <p14:creationId xmlns:p14="http://schemas.microsoft.com/office/powerpoint/2010/main" val="3723887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5238F96-68FD-374E-1F56-7A5E960092EC}"/>
              </a:ext>
            </a:extLst>
          </p:cNvPr>
          <p:cNvSpPr txBox="1"/>
          <p:nvPr/>
        </p:nvSpPr>
        <p:spPr>
          <a:xfrm>
            <a:off x="342472" y="174661"/>
            <a:ext cx="10140593" cy="769441"/>
          </a:xfrm>
          <a:prstGeom prst="rect">
            <a:avLst/>
          </a:prstGeom>
          <a:noFill/>
        </p:spPr>
        <p:txBody>
          <a:bodyPr wrap="square" rtlCol="0">
            <a:spAutoFit/>
          </a:bodyPr>
          <a:lstStyle/>
          <a:p>
            <a:r>
              <a:rPr kumimoji="1" lang="en-US" altLang="ja-JP" sz="4400" dirty="0"/>
              <a:t>Abstract(</a:t>
            </a:r>
            <a:r>
              <a:rPr kumimoji="1" lang="ja-JP" altLang="en-US" sz="4400" dirty="0"/>
              <a:t>書いてある通りのことを記述</a:t>
            </a:r>
            <a:r>
              <a:rPr kumimoji="1" lang="en-US" altLang="ja-JP" sz="4400" dirty="0"/>
              <a:t>)</a:t>
            </a:r>
            <a:endParaRPr kumimoji="1" lang="ja-JP" altLang="en-US" sz="4400" dirty="0"/>
          </a:p>
        </p:txBody>
      </p:sp>
      <p:sp>
        <p:nvSpPr>
          <p:cNvPr id="5" name="テキスト ボックス 4">
            <a:extLst>
              <a:ext uri="{FF2B5EF4-FFF2-40B4-BE49-F238E27FC236}">
                <a16:creationId xmlns:a16="http://schemas.microsoft.com/office/drawing/2014/main" id="{F7617013-5D9D-46D8-DA65-CCFA7F9945C5}"/>
              </a:ext>
            </a:extLst>
          </p:cNvPr>
          <p:cNvSpPr txBox="1"/>
          <p:nvPr/>
        </p:nvSpPr>
        <p:spPr>
          <a:xfrm>
            <a:off x="1513726" y="1040353"/>
            <a:ext cx="8774130" cy="5078313"/>
          </a:xfrm>
          <a:prstGeom prst="rect">
            <a:avLst/>
          </a:prstGeom>
          <a:noFill/>
        </p:spPr>
        <p:txBody>
          <a:bodyPr wrap="square" rtlCol="0">
            <a:spAutoFit/>
          </a:bodyPr>
          <a:lstStyle/>
          <a:p>
            <a:r>
              <a:rPr kumimoji="1" lang="ja-JP" altLang="en-US" dirty="0"/>
              <a:t>ベイズニューラルネットワークにおいて、パラメータ空間上で事後分布を作ろうとすると、良い事前分布を設定したりするのが難しいので、関数空間上で事後分布を作る方法として、汎関数変分推論</a:t>
            </a:r>
            <a:r>
              <a:rPr kumimoji="1" lang="en-US" altLang="ja-JP" dirty="0"/>
              <a:t>(</a:t>
            </a:r>
            <a:r>
              <a:rPr kumimoji="1" lang="en-US" altLang="ja-JP" dirty="0" err="1"/>
              <a:t>fVI</a:t>
            </a:r>
            <a:r>
              <a:rPr kumimoji="1" lang="en-US" altLang="ja-JP" dirty="0"/>
              <a:t>)</a:t>
            </a:r>
            <a:r>
              <a:rPr kumimoji="1" lang="ja-JP" altLang="en-US" dirty="0"/>
              <a:t>や汎関数</a:t>
            </a:r>
            <a:r>
              <a:rPr kumimoji="1" lang="en-US" altLang="ja-JP" dirty="0"/>
              <a:t>MCMC(</a:t>
            </a:r>
            <a:r>
              <a:rPr kumimoji="1" lang="en-US" altLang="ja-JP" dirty="0" err="1"/>
              <a:t>fMCMC</a:t>
            </a:r>
            <a:r>
              <a:rPr kumimoji="1" lang="en-US" altLang="ja-JP" dirty="0"/>
              <a:t>)</a:t>
            </a:r>
            <a:r>
              <a:rPr kumimoji="1" lang="ja-JP" altLang="en-US" dirty="0"/>
              <a:t>が近年提案されていて、良い事前分布を設定することができるようになった。</a:t>
            </a:r>
            <a:endParaRPr kumimoji="1" lang="en-US" altLang="ja-JP" dirty="0"/>
          </a:p>
          <a:p>
            <a:endParaRPr lang="en-US" altLang="ja-JP" dirty="0"/>
          </a:p>
          <a:p>
            <a:r>
              <a:rPr lang="en-US" altLang="ja-JP" dirty="0" err="1"/>
              <a:t>fVI</a:t>
            </a:r>
            <a:r>
              <a:rPr lang="ja-JP" altLang="en-US" dirty="0"/>
              <a:t>や</a:t>
            </a:r>
            <a:r>
              <a:rPr lang="en-US" altLang="ja-JP" dirty="0" err="1"/>
              <a:t>fMCMC</a:t>
            </a:r>
            <a:r>
              <a:rPr lang="ja-JP" altLang="en-US" dirty="0"/>
              <a:t>はパラメータ空間上の変分推論や</a:t>
            </a:r>
            <a:r>
              <a:rPr lang="en-US" altLang="ja-JP" dirty="0"/>
              <a:t>MCMC</a:t>
            </a:r>
            <a:r>
              <a:rPr lang="ja-JP" altLang="en-US" dirty="0"/>
              <a:t>の特徴を継承している</a:t>
            </a:r>
            <a:r>
              <a:rPr lang="en-US" altLang="ja-JP" dirty="0"/>
              <a:t>:</a:t>
            </a:r>
          </a:p>
          <a:p>
            <a:r>
              <a:rPr kumimoji="1" lang="en-US" altLang="ja-JP" dirty="0" err="1"/>
              <a:t>fVI</a:t>
            </a:r>
            <a:r>
              <a:rPr kumimoji="1" lang="en-US" altLang="ja-JP" dirty="0"/>
              <a:t>: </a:t>
            </a:r>
            <a:r>
              <a:rPr kumimoji="1" lang="ja-JP" altLang="en-US" dirty="0"/>
              <a:t>計算は早いが、近似事後分布の仮定が強く精度が悪い</a:t>
            </a:r>
            <a:endParaRPr kumimoji="1" lang="en-US" altLang="ja-JP" dirty="0"/>
          </a:p>
          <a:p>
            <a:r>
              <a:rPr lang="en-US" altLang="ja-JP" dirty="0" err="1"/>
              <a:t>fMCMC</a:t>
            </a:r>
            <a:r>
              <a:rPr lang="en-US" altLang="ja-JP" dirty="0"/>
              <a:t>: </a:t>
            </a:r>
            <a:r>
              <a:rPr lang="ja-JP" altLang="en-US" dirty="0"/>
              <a:t>精度は良いが、計算が遅い</a:t>
            </a:r>
            <a:endParaRPr lang="en-US" altLang="ja-JP" dirty="0"/>
          </a:p>
          <a:p>
            <a:endParaRPr kumimoji="1" lang="en-US" altLang="ja-JP" dirty="0"/>
          </a:p>
          <a:p>
            <a:r>
              <a:rPr lang="ja-JP" altLang="en-US" dirty="0"/>
              <a:t>この論文では、この</a:t>
            </a:r>
            <a:r>
              <a:rPr lang="en-US" altLang="ja-JP" dirty="0"/>
              <a:t>2</a:t>
            </a:r>
            <a:r>
              <a:rPr lang="ja-JP" altLang="en-US" dirty="0"/>
              <a:t>つの手法を利点を補うように、ハイブリットな推論を関数空間上で行う。具体的には、</a:t>
            </a:r>
            <a:r>
              <a:rPr lang="en-US" altLang="ja-JP" dirty="0" err="1">
                <a:solidFill>
                  <a:srgbClr val="FF0000"/>
                </a:solidFill>
              </a:rPr>
              <a:t>fVI</a:t>
            </a:r>
            <a:r>
              <a:rPr lang="ja-JP" altLang="en-US" dirty="0">
                <a:solidFill>
                  <a:srgbClr val="FF0000"/>
                </a:solidFill>
              </a:rPr>
              <a:t>と</a:t>
            </a:r>
            <a:r>
              <a:rPr lang="en-US" altLang="ja-JP" dirty="0" err="1">
                <a:solidFill>
                  <a:srgbClr val="FF0000"/>
                </a:solidFill>
              </a:rPr>
              <a:t>fMCMC</a:t>
            </a:r>
            <a:r>
              <a:rPr lang="ja-JP" altLang="en-US" dirty="0">
                <a:solidFill>
                  <a:srgbClr val="FF0000"/>
                </a:solidFill>
              </a:rPr>
              <a:t>のそれぞれの推論を繰り返す</a:t>
            </a:r>
            <a:r>
              <a:rPr lang="ja-JP" altLang="en-US" dirty="0"/>
              <a:t>ようなことをする。</a:t>
            </a:r>
            <a:endParaRPr lang="en-US" altLang="ja-JP" dirty="0"/>
          </a:p>
          <a:p>
            <a:endParaRPr lang="en-US" altLang="ja-JP" dirty="0"/>
          </a:p>
          <a:p>
            <a:r>
              <a:rPr lang="ja-JP" altLang="en-US" dirty="0"/>
              <a:t>さらに、関数空間上のワッサースタイン勾配流を用いることで、それぞれの推論を繰り返すことの妥当性を理論的に示す。</a:t>
            </a:r>
            <a:endParaRPr lang="en-US" altLang="ja-JP" dirty="0"/>
          </a:p>
          <a:p>
            <a:endParaRPr kumimoji="1" lang="en-US" altLang="ja-JP" dirty="0"/>
          </a:p>
          <a:p>
            <a:r>
              <a:rPr kumimoji="1" lang="ja-JP" altLang="en-US" dirty="0"/>
              <a:t>ベンチマークタスクに適用して、精度や不確実性の定量化に関して、パラメータ空間上の</a:t>
            </a:r>
            <a:r>
              <a:rPr kumimoji="1" lang="en-US" altLang="ja-JP" dirty="0"/>
              <a:t>VI</a:t>
            </a:r>
            <a:r>
              <a:rPr kumimoji="1" lang="ja-JP" altLang="en-US" dirty="0"/>
              <a:t>や</a:t>
            </a:r>
            <a:r>
              <a:rPr kumimoji="1" lang="en-US" altLang="ja-JP" dirty="0"/>
              <a:t>MCMC</a:t>
            </a:r>
            <a:r>
              <a:rPr kumimoji="1" lang="ja-JP" altLang="en-US" dirty="0"/>
              <a:t>と比較して改善があることを実験的に示す。</a:t>
            </a:r>
            <a:endParaRPr kumimoji="1" lang="en-US" altLang="ja-JP" dirty="0"/>
          </a:p>
        </p:txBody>
      </p:sp>
      <p:sp>
        <p:nvSpPr>
          <p:cNvPr id="6" name="テキスト ボックス 5">
            <a:extLst>
              <a:ext uri="{FF2B5EF4-FFF2-40B4-BE49-F238E27FC236}">
                <a16:creationId xmlns:a16="http://schemas.microsoft.com/office/drawing/2014/main" id="{6F9BC948-B0FA-8771-E51D-7787DDF57CCB}"/>
              </a:ext>
            </a:extLst>
          </p:cNvPr>
          <p:cNvSpPr txBox="1"/>
          <p:nvPr/>
        </p:nvSpPr>
        <p:spPr>
          <a:xfrm>
            <a:off x="1931542" y="6231680"/>
            <a:ext cx="8126858" cy="369332"/>
          </a:xfrm>
          <a:prstGeom prst="rect">
            <a:avLst/>
          </a:prstGeom>
          <a:noFill/>
        </p:spPr>
        <p:txBody>
          <a:bodyPr wrap="square" rtlCol="0">
            <a:spAutoFit/>
          </a:bodyPr>
          <a:lstStyle/>
          <a:p>
            <a:r>
              <a:rPr kumimoji="1" lang="en-US" altLang="ja-JP" dirty="0" err="1"/>
              <a:t>fVI</a:t>
            </a:r>
            <a:r>
              <a:rPr kumimoji="1" lang="ja-JP" altLang="en-US" dirty="0"/>
              <a:t>や</a:t>
            </a:r>
            <a:r>
              <a:rPr kumimoji="1" lang="en-US" altLang="ja-JP" dirty="0" err="1"/>
              <a:t>fMCMC</a:t>
            </a:r>
            <a:r>
              <a:rPr kumimoji="1" lang="ja-JP" altLang="en-US" dirty="0"/>
              <a:t>の理解が前提として必要なので、まずそれらについて説明する</a:t>
            </a:r>
          </a:p>
        </p:txBody>
      </p:sp>
    </p:spTree>
    <p:extLst>
      <p:ext uri="{BB962C8B-B14F-4D97-AF65-F5344CB8AC3E}">
        <p14:creationId xmlns:p14="http://schemas.microsoft.com/office/powerpoint/2010/main" val="127835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BC0F2AB-479C-BA9B-6649-3B2F67A70E43}"/>
              </a:ext>
            </a:extLst>
          </p:cNvPr>
          <p:cNvSpPr txBox="1"/>
          <p:nvPr/>
        </p:nvSpPr>
        <p:spPr>
          <a:xfrm>
            <a:off x="3928153" y="3013501"/>
            <a:ext cx="4335694" cy="830997"/>
          </a:xfrm>
          <a:prstGeom prst="rect">
            <a:avLst/>
          </a:prstGeom>
          <a:noFill/>
        </p:spPr>
        <p:txBody>
          <a:bodyPr wrap="square" rtlCol="0">
            <a:spAutoFit/>
          </a:bodyPr>
          <a:lstStyle/>
          <a:p>
            <a:r>
              <a:rPr kumimoji="1" lang="en-US" altLang="ja-JP" sz="4800" dirty="0"/>
              <a:t>Preliminaries</a:t>
            </a:r>
            <a:endParaRPr kumimoji="1" lang="ja-JP" altLang="en-US" sz="4800" dirty="0"/>
          </a:p>
        </p:txBody>
      </p:sp>
    </p:spTree>
    <p:extLst>
      <p:ext uri="{BB962C8B-B14F-4D97-AF65-F5344CB8AC3E}">
        <p14:creationId xmlns:p14="http://schemas.microsoft.com/office/powerpoint/2010/main" val="871724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3F77B30-7D3F-F087-6EB4-1A8615D82ABE}"/>
              </a:ext>
            </a:extLst>
          </p:cNvPr>
          <p:cNvSpPr txBox="1"/>
          <p:nvPr/>
        </p:nvSpPr>
        <p:spPr>
          <a:xfrm>
            <a:off x="342472" y="174661"/>
            <a:ext cx="10140593" cy="769441"/>
          </a:xfrm>
          <a:prstGeom prst="rect">
            <a:avLst/>
          </a:prstGeom>
          <a:noFill/>
        </p:spPr>
        <p:txBody>
          <a:bodyPr wrap="square" rtlCol="0">
            <a:spAutoFit/>
          </a:bodyPr>
          <a:lstStyle/>
          <a:p>
            <a:r>
              <a:rPr lang="ja-JP" altLang="en-US" sz="4400" dirty="0"/>
              <a:t>ベイズ推論について</a:t>
            </a:r>
            <a:endParaRPr kumimoji="1" lang="ja-JP" altLang="en-US" sz="4400"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6F3E7049-9D2E-F8B1-2C4C-41F0BCF5A4B0}"/>
                  </a:ext>
                </a:extLst>
              </p:cNvPr>
              <p:cNvSpPr txBox="1"/>
              <p:nvPr/>
            </p:nvSpPr>
            <p:spPr>
              <a:xfrm>
                <a:off x="2838216" y="1583339"/>
                <a:ext cx="1717073" cy="276999"/>
              </a:xfrm>
              <a:prstGeom prst="rect">
                <a:avLst/>
              </a:prstGeom>
              <a:noFill/>
            </p:spPr>
            <p:txBody>
              <a:bodyPr wrap="none" lIns="0" tIns="0" rIns="0" bIns="0" rtlCol="0">
                <a:spAutoFit/>
              </a:bodyPr>
              <a:lstStyle/>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oMath>
                </a14:m>
                <a:r>
                  <a:rPr kumimoji="1" lang="en-US" altLang="ja-JP" dirty="0"/>
                  <a:t>: </a:t>
                </a:r>
                <a:r>
                  <a:rPr kumimoji="1" lang="ja-JP" altLang="en-US" dirty="0"/>
                  <a:t>事前分布</a:t>
                </a:r>
              </a:p>
            </p:txBody>
          </p:sp>
        </mc:Choice>
        <mc:Fallback xmlns="">
          <p:sp>
            <p:nvSpPr>
              <p:cNvPr id="3" name="テキスト ボックス 2">
                <a:extLst>
                  <a:ext uri="{FF2B5EF4-FFF2-40B4-BE49-F238E27FC236}">
                    <a16:creationId xmlns:a16="http://schemas.microsoft.com/office/drawing/2014/main" id="{6F3E7049-9D2E-F8B1-2C4C-41F0BCF5A4B0}"/>
                  </a:ext>
                </a:extLst>
              </p:cNvPr>
              <p:cNvSpPr txBox="1">
                <a:spLocks noRot="1" noChangeAspect="1" noMove="1" noResize="1" noEditPoints="1" noAdjustHandles="1" noChangeArrowheads="1" noChangeShapeType="1" noTextEdit="1"/>
              </p:cNvSpPr>
              <p:nvPr/>
            </p:nvSpPr>
            <p:spPr>
              <a:xfrm>
                <a:off x="2838216" y="1583339"/>
                <a:ext cx="1717073" cy="276999"/>
              </a:xfrm>
              <a:prstGeom prst="rect">
                <a:avLst/>
              </a:prstGeom>
              <a:blipFill>
                <a:blip r:embed="rId2"/>
                <a:stretch>
                  <a:fillRect l="-4982" t="-26667" r="-4270" b="-5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8C02CBFD-66A9-1346-83FA-93C2812B0724}"/>
                  </a:ext>
                </a:extLst>
              </p:cNvPr>
              <p:cNvSpPr txBox="1"/>
              <p:nvPr/>
            </p:nvSpPr>
            <p:spPr>
              <a:xfrm>
                <a:off x="2838216" y="1959466"/>
                <a:ext cx="6425092" cy="281937"/>
              </a:xfrm>
              <a:prstGeom prst="rect">
                <a:avLst/>
              </a:prstGeom>
              <a:noFill/>
            </p:spPr>
            <p:txBody>
              <a:bodyPr wrap="none" lIns="0" tIns="0" rIns="0" bIns="0" rtlCol="0">
                <a:spAutoFit/>
              </a:bodyPr>
              <a:lstStyle/>
              <a:p>
                <a14:m>
                  <m:oMath xmlns:m="http://schemas.openxmlformats.org/officeDocument/2006/math">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𝑦</m:t>
                        </m:r>
                      </m:e>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𝑁</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r>
                      <a:rPr kumimoji="1" lang="en-US" altLang="ja-JP" b="0" i="1" smtClean="0">
                        <a:latin typeface="Cambria Math" panose="02040503050406030204" pitchFamily="18" charset="0"/>
                      </a:rPr>
                      <m:t>, </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𝜎</m:t>
                        </m:r>
                      </m:e>
                      <m:sup>
                        <m:r>
                          <a:rPr kumimoji="1" lang="en-US" altLang="ja-JP" b="0" i="1" smtClean="0">
                            <a:latin typeface="Cambria Math" panose="02040503050406030204" pitchFamily="18" charset="0"/>
                          </a:rPr>
                          <m:t>2</m:t>
                        </m:r>
                      </m:sup>
                    </m:sSup>
                    <m:r>
                      <a:rPr kumimoji="1" lang="en-US" altLang="ja-JP" b="0" i="1" smtClean="0">
                        <a:latin typeface="Cambria Math" panose="02040503050406030204" pitchFamily="18" charset="0"/>
                      </a:rPr>
                      <m:t>)</m:t>
                    </m:r>
                  </m:oMath>
                </a14:m>
                <a:r>
                  <a:rPr kumimoji="1" lang="en-US" altLang="ja-JP" dirty="0"/>
                  <a:t>: </a:t>
                </a:r>
                <a:r>
                  <a:rPr kumimoji="1" lang="ja-JP" altLang="en-US" dirty="0"/>
                  <a:t>学習モデル</a:t>
                </a:r>
                <a14:m>
                  <m:oMath xmlns:m="http://schemas.openxmlformats.org/officeDocument/2006/math">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ℝ</m:t>
                        </m:r>
                      </m:e>
                      <m:sup>
                        <m:r>
                          <a:rPr kumimoji="1" lang="en-US" altLang="ja-JP" b="0" i="1" smtClean="0">
                            <a:latin typeface="Cambria Math" panose="02040503050406030204" pitchFamily="18" charset="0"/>
                          </a:rPr>
                          <m:t>𝑝</m:t>
                        </m:r>
                      </m:sup>
                    </m:sSup>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ℝ</m:t>
                        </m:r>
                      </m:e>
                      <m:sup>
                        <m:r>
                          <a:rPr kumimoji="1" lang="en-US" altLang="ja-JP" b="0" i="1" smtClean="0">
                            <a:latin typeface="Cambria Math" panose="02040503050406030204" pitchFamily="18" charset="0"/>
                          </a:rPr>
                          <m:t>𝑐</m:t>
                        </m:r>
                      </m:sup>
                    </m:sSup>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ℝ</m:t>
                        </m:r>
                      </m:e>
                      <m:sup>
                        <m:r>
                          <a:rPr kumimoji="1" lang="en-US" altLang="ja-JP" b="0" i="1" smtClean="0">
                            <a:latin typeface="Cambria Math" panose="02040503050406030204" pitchFamily="18" charset="0"/>
                          </a:rPr>
                          <m:t>𝑘</m:t>
                        </m:r>
                      </m:sup>
                    </m:sSup>
                  </m:oMath>
                </a14:m>
                <a:endParaRPr kumimoji="1" lang="ja-JP" altLang="en-US" dirty="0"/>
              </a:p>
            </p:txBody>
          </p:sp>
        </mc:Choice>
        <mc:Fallback xmlns="">
          <p:sp>
            <p:nvSpPr>
              <p:cNvPr id="4" name="テキスト ボックス 3">
                <a:extLst>
                  <a:ext uri="{FF2B5EF4-FFF2-40B4-BE49-F238E27FC236}">
                    <a16:creationId xmlns:a16="http://schemas.microsoft.com/office/drawing/2014/main" id="{8C02CBFD-66A9-1346-83FA-93C2812B0724}"/>
                  </a:ext>
                </a:extLst>
              </p:cNvPr>
              <p:cNvSpPr txBox="1">
                <a:spLocks noRot="1" noChangeAspect="1" noMove="1" noResize="1" noEditPoints="1" noAdjustHandles="1" noChangeArrowheads="1" noChangeShapeType="1" noTextEdit="1"/>
              </p:cNvSpPr>
              <p:nvPr/>
            </p:nvSpPr>
            <p:spPr>
              <a:xfrm>
                <a:off x="2838216" y="1959466"/>
                <a:ext cx="6425092" cy="281937"/>
              </a:xfrm>
              <a:prstGeom prst="rect">
                <a:avLst/>
              </a:prstGeom>
              <a:blipFill>
                <a:blip r:embed="rId3"/>
                <a:stretch>
                  <a:fillRect l="-1328" t="-23404" b="-510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65FABEFE-C343-4E40-EF62-98102E59EB6D}"/>
                  </a:ext>
                </a:extLst>
              </p:cNvPr>
              <p:cNvSpPr txBox="1"/>
              <p:nvPr/>
            </p:nvSpPr>
            <p:spPr>
              <a:xfrm>
                <a:off x="2838216" y="2633539"/>
                <a:ext cx="3973460" cy="292131"/>
              </a:xfrm>
              <a:prstGeom prst="rect">
                <a:avLst/>
              </a:prstGeom>
              <a:noFill/>
            </p:spPr>
            <p:txBody>
              <a:bodyPr wrap="none" lIns="0" tIns="0" rIns="0" bIns="0" rtlCol="0">
                <a:spAutoFit/>
              </a:bodyPr>
              <a:lstStyle/>
              <a:p>
                <a14:m>
                  <m:oMath xmlns:m="http://schemas.openxmlformats.org/officeDocument/2006/math">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m:t>
                    </m:r>
                    <m:sSubSup>
                      <m:sSubSupPr>
                        <m:ctrlPr>
                          <a:rPr kumimoji="1" lang="en-US" altLang="ja-JP" b="0" i="1" smtClean="0">
                            <a:latin typeface="Cambria Math" panose="02040503050406030204" pitchFamily="18" charset="0"/>
                          </a:rPr>
                        </m:ctrlPr>
                      </m:sSubSupPr>
                      <m:e>
                        <m:d>
                          <m:dPr>
                            <m:begChr m:val="{"/>
                            <m:endChr m:val="}"/>
                            <m:ctrlPr>
                              <a:rPr kumimoji="1" lang="en-US" altLang="ja-JP" b="0" i="1" smtClean="0">
                                <a:latin typeface="Cambria Math" panose="02040503050406030204" pitchFamily="18" charset="0"/>
                              </a:rPr>
                            </m:ctrlPr>
                          </m:dPr>
                          <m:e>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𝑖</m:t>
                                    </m:r>
                                  </m:sub>
                                </m:sSub>
                              </m:e>
                            </m:d>
                          </m:e>
                        </m:d>
                      </m:e>
                      <m:sub>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𝑁</m:t>
                        </m:r>
                      </m:sup>
                    </m:sSubSup>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e>
                    </m:d>
                  </m:oMath>
                </a14:m>
                <a:r>
                  <a:rPr kumimoji="1" lang="en-US" altLang="ja-JP" dirty="0"/>
                  <a:t>: </a:t>
                </a:r>
                <a:r>
                  <a:rPr kumimoji="1" lang="ja-JP" altLang="en-US" dirty="0"/>
                  <a:t>学習データ</a:t>
                </a:r>
              </a:p>
            </p:txBody>
          </p:sp>
        </mc:Choice>
        <mc:Fallback xmlns="">
          <p:sp>
            <p:nvSpPr>
              <p:cNvPr id="5" name="テキスト ボックス 4">
                <a:extLst>
                  <a:ext uri="{FF2B5EF4-FFF2-40B4-BE49-F238E27FC236}">
                    <a16:creationId xmlns:a16="http://schemas.microsoft.com/office/drawing/2014/main" id="{65FABEFE-C343-4E40-EF62-98102E59EB6D}"/>
                  </a:ext>
                </a:extLst>
              </p:cNvPr>
              <p:cNvSpPr txBox="1">
                <a:spLocks noRot="1" noChangeAspect="1" noMove="1" noResize="1" noEditPoints="1" noAdjustHandles="1" noChangeArrowheads="1" noChangeShapeType="1" noTextEdit="1"/>
              </p:cNvSpPr>
              <p:nvPr/>
            </p:nvSpPr>
            <p:spPr>
              <a:xfrm>
                <a:off x="2838216" y="2633539"/>
                <a:ext cx="3973460" cy="292131"/>
              </a:xfrm>
              <a:prstGeom prst="rect">
                <a:avLst/>
              </a:prstGeom>
              <a:blipFill>
                <a:blip r:embed="rId4"/>
                <a:stretch>
                  <a:fillRect l="-2151" t="-20833" r="-3072" b="-50000"/>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E7186B83-D676-D353-0E37-804A6772E933}"/>
              </a:ext>
            </a:extLst>
          </p:cNvPr>
          <p:cNvSpPr txBox="1"/>
          <p:nvPr/>
        </p:nvSpPr>
        <p:spPr>
          <a:xfrm>
            <a:off x="750013" y="1017141"/>
            <a:ext cx="10839236" cy="400110"/>
          </a:xfrm>
          <a:prstGeom prst="rect">
            <a:avLst/>
          </a:prstGeom>
          <a:noFill/>
        </p:spPr>
        <p:txBody>
          <a:bodyPr wrap="square" rtlCol="0">
            <a:spAutoFit/>
          </a:bodyPr>
          <a:lstStyle/>
          <a:p>
            <a:r>
              <a:rPr lang="ja-JP" altLang="en-US" sz="2000" dirty="0"/>
              <a:t>論文の記述に合わせつつ、教師あり学習におけるベイズ推論とその近似推論について述べる</a:t>
            </a:r>
            <a:endParaRPr kumimoji="1" lang="ja-JP" altLang="en-US" sz="2000"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EBEE989E-7A06-934A-8EA5-E666E3EA9B66}"/>
                  </a:ext>
                </a:extLst>
              </p:cNvPr>
              <p:cNvSpPr txBox="1"/>
              <p:nvPr/>
            </p:nvSpPr>
            <p:spPr>
              <a:xfrm>
                <a:off x="3822266" y="3536873"/>
                <a:ext cx="3323089"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𝑤</m:t>
                          </m:r>
                        </m:e>
                        <m:e>
                          <m:r>
                            <a:rPr kumimoji="1" lang="en-US" altLang="ja-JP" b="0" i="1" smtClean="0">
                              <a:latin typeface="Cambria Math" panose="02040503050406030204" pitchFamily="18" charset="0"/>
                            </a:rPr>
                            <m:t>𝐷</m:t>
                          </m:r>
                        </m:e>
                      </m:d>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𝑍</m:t>
                          </m:r>
                        </m:den>
                      </m:f>
                      <m:nary>
                        <m:naryPr>
                          <m:chr m:val="∏"/>
                          <m:ctrlPr>
                            <a:rPr kumimoji="1" lang="en-US" altLang="ja-JP" b="0" i="1" smtClean="0">
                              <a:latin typeface="Cambria Math" panose="02040503050406030204" pitchFamily="18" charset="0"/>
                            </a:rPr>
                          </m:ctrlPr>
                        </m:naryPr>
                        <m:sub>
                          <m:r>
                            <m:rPr>
                              <m:brk m:alnAt="23"/>
                            </m:rP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𝑁</m:t>
                          </m:r>
                        </m:sup>
                        <m:e>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𝑖</m:t>
                                  </m:r>
                                </m:sub>
                              </m:sSub>
                            </m:e>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e>
                      </m:nary>
                    </m:oMath>
                  </m:oMathPara>
                </a14:m>
                <a:endParaRPr kumimoji="1" lang="ja-JP" altLang="en-US" dirty="0"/>
              </a:p>
            </p:txBody>
          </p:sp>
        </mc:Choice>
        <mc:Fallback xmlns="">
          <p:sp>
            <p:nvSpPr>
              <p:cNvPr id="7" name="テキスト ボックス 6">
                <a:extLst>
                  <a:ext uri="{FF2B5EF4-FFF2-40B4-BE49-F238E27FC236}">
                    <a16:creationId xmlns:a16="http://schemas.microsoft.com/office/drawing/2014/main" id="{EBEE989E-7A06-934A-8EA5-E666E3EA9B66}"/>
                  </a:ext>
                </a:extLst>
              </p:cNvPr>
              <p:cNvSpPr txBox="1">
                <a:spLocks noRot="1" noChangeAspect="1" noMove="1" noResize="1" noEditPoints="1" noAdjustHandles="1" noChangeArrowheads="1" noChangeShapeType="1" noTextEdit="1"/>
              </p:cNvSpPr>
              <p:nvPr/>
            </p:nvSpPr>
            <p:spPr>
              <a:xfrm>
                <a:off x="3822266" y="3536873"/>
                <a:ext cx="3323089" cy="778931"/>
              </a:xfrm>
              <a:prstGeom prst="rect">
                <a:avLst/>
              </a:prstGeom>
              <a:blipFill>
                <a:blip r:embed="rId5"/>
                <a:stretch>
                  <a:fillRect/>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692B166E-BDD3-F6CF-6AFD-C4F70E2B3E04}"/>
              </a:ext>
            </a:extLst>
          </p:cNvPr>
          <p:cNvSpPr txBox="1"/>
          <p:nvPr/>
        </p:nvSpPr>
        <p:spPr>
          <a:xfrm>
            <a:off x="1101883" y="3195808"/>
            <a:ext cx="5002192" cy="400110"/>
          </a:xfrm>
          <a:prstGeom prst="rect">
            <a:avLst/>
          </a:prstGeom>
          <a:noFill/>
        </p:spPr>
        <p:txBody>
          <a:bodyPr wrap="square" rtlCol="0">
            <a:spAutoFit/>
          </a:bodyPr>
          <a:lstStyle/>
          <a:p>
            <a:r>
              <a:rPr kumimoji="1" lang="ja-JP" altLang="en-US" sz="2000" dirty="0"/>
              <a:t>ベイズ推論は、ベイズ事後分布</a:t>
            </a:r>
          </a:p>
        </p:txBody>
      </p:sp>
      <p:sp>
        <p:nvSpPr>
          <p:cNvPr id="9" name="テキスト ボックス 8">
            <a:extLst>
              <a:ext uri="{FF2B5EF4-FFF2-40B4-BE49-F238E27FC236}">
                <a16:creationId xmlns:a16="http://schemas.microsoft.com/office/drawing/2014/main" id="{0CE96995-3D47-873C-8853-4F60536DF53F}"/>
              </a:ext>
            </a:extLst>
          </p:cNvPr>
          <p:cNvSpPr txBox="1"/>
          <p:nvPr/>
        </p:nvSpPr>
        <p:spPr>
          <a:xfrm>
            <a:off x="1060786" y="4829045"/>
            <a:ext cx="5884544" cy="400110"/>
          </a:xfrm>
          <a:prstGeom prst="rect">
            <a:avLst/>
          </a:prstGeom>
          <a:noFill/>
        </p:spPr>
        <p:txBody>
          <a:bodyPr wrap="square" rtlCol="0">
            <a:spAutoFit/>
          </a:bodyPr>
          <a:lstStyle/>
          <a:p>
            <a:r>
              <a:rPr kumimoji="1" lang="ja-JP" altLang="en-US" sz="2000" dirty="0"/>
              <a:t>を求めて、</a:t>
            </a:r>
            <a:r>
              <a:rPr lang="ja-JP" altLang="en-US" sz="2000" dirty="0"/>
              <a:t>予測分布を得ることで推論を行う方法</a:t>
            </a:r>
            <a:endParaRPr kumimoji="1" lang="ja-JP" altLang="en-US" sz="2000"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0026285-88F3-8CBF-1EDA-1F69105CEC29}"/>
                  </a:ext>
                </a:extLst>
              </p:cNvPr>
              <p:cNvSpPr txBox="1"/>
              <p:nvPr/>
            </p:nvSpPr>
            <p:spPr>
              <a:xfrm>
                <a:off x="3010607" y="5289078"/>
                <a:ext cx="5904886" cy="8102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𝑦</m:t>
                              </m:r>
                            </m:e>
                            <m:sup>
                              <m:r>
                                <a:rPr kumimoji="1" lang="en-US" altLang="ja-JP" b="0" i="1" smtClean="0">
                                  <a:latin typeface="Cambria Math" panose="02040503050406030204" pitchFamily="18" charset="0"/>
                                </a:rPr>
                                <m:t>∗</m:t>
                              </m:r>
                            </m:sup>
                          </m:sSup>
                        </m:e>
                        <m:e>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𝑥</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e>
                      </m:d>
                      <m:r>
                        <a:rPr kumimoji="1" lang="en-US" altLang="ja-JP" b="0" i="1" smtClean="0">
                          <a:latin typeface="Cambria Math" panose="02040503050406030204" pitchFamily="18" charset="0"/>
                        </a:rPr>
                        <m:t>=</m:t>
                      </m:r>
                      <m:nary>
                        <m:naryPr>
                          <m:subHide m:val="on"/>
                          <m:supHide m:val="on"/>
                          <m:ctrlPr>
                            <a:rPr kumimoji="1" lang="en-US" altLang="ja-JP" b="0" i="1" smtClean="0">
                              <a:latin typeface="Cambria Math" panose="02040503050406030204" pitchFamily="18" charset="0"/>
                            </a:rPr>
                          </m:ctrlPr>
                        </m:naryPr>
                        <m:sub/>
                        <m:sup/>
                        <m:e>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𝑦</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𝑥</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𝑑𝑤</m:t>
                          </m:r>
                        </m:e>
                      </m:nary>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en-US" altLang="ja-JP" b="0" i="1" smtClean="0">
                              <a:latin typeface="Cambria Math" panose="02040503050406030204" pitchFamily="18" charset="0"/>
                            </a:rPr>
                            <m:t>𝐿</m:t>
                          </m:r>
                        </m:den>
                      </m:f>
                      <m:nary>
                        <m:naryPr>
                          <m:chr m:val="∑"/>
                          <m:ctrlPr>
                            <a:rPr kumimoji="1" lang="en-US" altLang="ja-JP" b="0" i="1" smtClean="0">
                              <a:latin typeface="Cambria Math" panose="02040503050406030204" pitchFamily="18" charset="0"/>
                            </a:rPr>
                          </m:ctrlPr>
                        </m:naryPr>
                        <m:sub>
                          <m:r>
                            <m:rPr>
                              <m:brk m:alnAt="23"/>
                            </m:rP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𝐿</m:t>
                          </m:r>
                        </m:sup>
                        <m:e>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𝑦</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𝑥</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𝑗</m:t>
                              </m:r>
                            </m:sub>
                          </m:sSub>
                          <m:r>
                            <a:rPr kumimoji="1" lang="en-US" altLang="ja-JP" b="0" i="1" smtClean="0">
                              <a:latin typeface="Cambria Math" panose="02040503050406030204" pitchFamily="18" charset="0"/>
                            </a:rPr>
                            <m:t>)</m:t>
                          </m:r>
                        </m:e>
                      </m:nary>
                    </m:oMath>
                  </m:oMathPara>
                </a14:m>
                <a:endParaRPr kumimoji="1" lang="ja-JP" altLang="en-US" dirty="0"/>
              </a:p>
            </p:txBody>
          </p:sp>
        </mc:Choice>
        <mc:Fallback xmlns="">
          <p:sp>
            <p:nvSpPr>
              <p:cNvPr id="10" name="テキスト ボックス 9">
                <a:extLst>
                  <a:ext uri="{FF2B5EF4-FFF2-40B4-BE49-F238E27FC236}">
                    <a16:creationId xmlns:a16="http://schemas.microsoft.com/office/drawing/2014/main" id="{00026285-88F3-8CBF-1EDA-1F69105CEC29}"/>
                  </a:ext>
                </a:extLst>
              </p:cNvPr>
              <p:cNvSpPr txBox="1">
                <a:spLocks noRot="1" noChangeAspect="1" noMove="1" noResize="1" noEditPoints="1" noAdjustHandles="1" noChangeArrowheads="1" noChangeShapeType="1" noTextEdit="1"/>
              </p:cNvSpPr>
              <p:nvPr/>
            </p:nvSpPr>
            <p:spPr>
              <a:xfrm>
                <a:off x="3010607" y="5289078"/>
                <a:ext cx="5904886" cy="81022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211D492A-1343-789F-1537-7E7444D68089}"/>
                  </a:ext>
                </a:extLst>
              </p:cNvPr>
              <p:cNvSpPr txBox="1"/>
              <p:nvPr/>
            </p:nvSpPr>
            <p:spPr>
              <a:xfrm>
                <a:off x="9136274" y="5810036"/>
                <a:ext cx="1207254"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𝑗</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𝐷</m:t>
                      </m:r>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11" name="テキスト ボックス 10">
                <a:extLst>
                  <a:ext uri="{FF2B5EF4-FFF2-40B4-BE49-F238E27FC236}">
                    <a16:creationId xmlns:a16="http://schemas.microsoft.com/office/drawing/2014/main" id="{211D492A-1343-789F-1537-7E7444D68089}"/>
                  </a:ext>
                </a:extLst>
              </p:cNvPr>
              <p:cNvSpPr txBox="1">
                <a:spLocks noRot="1" noChangeAspect="1" noMove="1" noResize="1" noEditPoints="1" noAdjustHandles="1" noChangeArrowheads="1" noChangeShapeType="1" noTextEdit="1"/>
              </p:cNvSpPr>
              <p:nvPr/>
            </p:nvSpPr>
            <p:spPr>
              <a:xfrm>
                <a:off x="9136274" y="5810036"/>
                <a:ext cx="1207254" cy="299313"/>
              </a:xfrm>
              <a:prstGeom prst="rect">
                <a:avLst/>
              </a:prstGeom>
              <a:blipFill>
                <a:blip r:embed="rId7"/>
                <a:stretch>
                  <a:fillRect l="-2020" r="-6061" b="-26531"/>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B8E36E01-EB45-C42B-5B92-73B51AE4FDC5}"/>
              </a:ext>
            </a:extLst>
          </p:cNvPr>
          <p:cNvSpPr txBox="1"/>
          <p:nvPr/>
        </p:nvSpPr>
        <p:spPr>
          <a:xfrm>
            <a:off x="1644587" y="3754580"/>
            <a:ext cx="2052165" cy="400110"/>
          </a:xfrm>
          <a:prstGeom prst="rect">
            <a:avLst/>
          </a:prstGeom>
          <a:noFill/>
        </p:spPr>
        <p:txBody>
          <a:bodyPr wrap="none" rtlCol="0">
            <a:spAutoFit/>
          </a:bodyPr>
          <a:lstStyle/>
          <a:p>
            <a:r>
              <a:rPr kumimoji="1" lang="ja-JP" altLang="en-US" sz="2000" dirty="0"/>
              <a:t>ベイズ事後分布</a:t>
            </a:r>
            <a:r>
              <a:rPr kumimoji="1" lang="en-US" altLang="ja-JP" sz="2000" dirty="0"/>
              <a:t>:</a:t>
            </a:r>
            <a:endParaRPr kumimoji="1" lang="ja-JP" altLang="en-US" sz="2000" dirty="0"/>
          </a:p>
        </p:txBody>
      </p:sp>
      <p:sp>
        <p:nvSpPr>
          <p:cNvPr id="13" name="テキスト ボックス 12">
            <a:extLst>
              <a:ext uri="{FF2B5EF4-FFF2-40B4-BE49-F238E27FC236}">
                <a16:creationId xmlns:a16="http://schemas.microsoft.com/office/drawing/2014/main" id="{16699ADD-4239-682E-8620-5AEDD150A352}"/>
              </a:ext>
            </a:extLst>
          </p:cNvPr>
          <p:cNvSpPr txBox="1"/>
          <p:nvPr/>
        </p:nvSpPr>
        <p:spPr>
          <a:xfrm>
            <a:off x="1644587" y="5463780"/>
            <a:ext cx="1282723" cy="400110"/>
          </a:xfrm>
          <a:prstGeom prst="rect">
            <a:avLst/>
          </a:prstGeom>
          <a:noFill/>
        </p:spPr>
        <p:txBody>
          <a:bodyPr wrap="none" rtlCol="0">
            <a:spAutoFit/>
          </a:bodyPr>
          <a:lstStyle/>
          <a:p>
            <a:r>
              <a:rPr kumimoji="1" lang="ja-JP" altLang="en-US" sz="2000" dirty="0"/>
              <a:t>予測分布</a:t>
            </a:r>
            <a:r>
              <a:rPr kumimoji="1" lang="en-US" altLang="ja-JP" sz="2000" dirty="0"/>
              <a:t>:</a:t>
            </a:r>
            <a:endParaRPr kumimoji="1" lang="ja-JP" altLang="en-US" sz="2000" dirty="0"/>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F4A67610-9087-312E-5A4E-C489C369036B}"/>
                  </a:ext>
                </a:extLst>
              </p:cNvPr>
              <p:cNvSpPr txBox="1"/>
              <p:nvPr/>
            </p:nvSpPr>
            <p:spPr>
              <a:xfrm>
                <a:off x="6597808" y="2283582"/>
                <a:ext cx="5330999" cy="307777"/>
              </a:xfrm>
              <a:prstGeom prst="rect">
                <a:avLst/>
              </a:prstGeom>
              <a:noFill/>
            </p:spPr>
            <p:txBody>
              <a:bodyPr wrap="square">
                <a:spAutoFit/>
              </a:bodyPr>
              <a:lstStyle/>
              <a:p>
                <a14:m>
                  <m:oMath xmlns:m="http://schemas.openxmlformats.org/officeDocument/2006/math">
                    <m:r>
                      <a:rPr kumimoji="1" lang="en-US" altLang="ja-JP" sz="1400" b="0" i="1" smtClean="0">
                        <a:latin typeface="Cambria Math" panose="02040503050406030204" pitchFamily="18" charset="0"/>
                      </a:rPr>
                      <m:t>𝑓</m:t>
                    </m:r>
                    <m:d>
                      <m:dPr>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𝑥</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e>
                    </m:d>
                  </m:oMath>
                </a14:m>
                <a:r>
                  <a:rPr lang="ja-JP" altLang="en-US" sz="1400" dirty="0"/>
                  <a:t>が</a:t>
                </a:r>
                <a:r>
                  <a:rPr lang="en-US" altLang="ja-JP" sz="1400" dirty="0"/>
                  <a:t>Neural Network</a:t>
                </a:r>
                <a:r>
                  <a:rPr lang="ja-JP" altLang="en-US" sz="1400" dirty="0"/>
                  <a:t>であれば、</a:t>
                </a:r>
                <a:r>
                  <a:rPr lang="en-US" altLang="ja-JP" sz="1400" dirty="0"/>
                  <a:t>Bayesian Neural Network</a:t>
                </a:r>
                <a:endParaRPr lang="ja-JP" altLang="en-US" sz="1400" dirty="0"/>
              </a:p>
            </p:txBody>
          </p:sp>
        </mc:Choice>
        <mc:Fallback xmlns="">
          <p:sp>
            <p:nvSpPr>
              <p:cNvPr id="15" name="テキスト ボックス 14">
                <a:extLst>
                  <a:ext uri="{FF2B5EF4-FFF2-40B4-BE49-F238E27FC236}">
                    <a16:creationId xmlns:a16="http://schemas.microsoft.com/office/drawing/2014/main" id="{F4A67610-9087-312E-5A4E-C489C369036B}"/>
                  </a:ext>
                </a:extLst>
              </p:cNvPr>
              <p:cNvSpPr txBox="1">
                <a:spLocks noRot="1" noChangeAspect="1" noMove="1" noResize="1" noEditPoints="1" noAdjustHandles="1" noChangeArrowheads="1" noChangeShapeType="1" noTextEdit="1"/>
              </p:cNvSpPr>
              <p:nvPr/>
            </p:nvSpPr>
            <p:spPr>
              <a:xfrm>
                <a:off x="6597808" y="2283582"/>
                <a:ext cx="5330999" cy="307777"/>
              </a:xfrm>
              <a:prstGeom prst="rect">
                <a:avLst/>
              </a:prstGeom>
              <a:blipFill>
                <a:blip r:embed="rId8"/>
                <a:stretch>
                  <a:fillRect t="-4000" b="-20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74095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5BF2AAB2-DDC4-6DEB-65B5-F664E84A01CB}"/>
                  </a:ext>
                </a:extLst>
              </p:cNvPr>
              <p:cNvSpPr txBox="1"/>
              <p:nvPr/>
            </p:nvSpPr>
            <p:spPr>
              <a:xfrm>
                <a:off x="1119883" y="616449"/>
                <a:ext cx="8393987" cy="729559"/>
              </a:xfrm>
              <a:prstGeom prst="rect">
                <a:avLst/>
              </a:prstGeom>
              <a:noFill/>
            </p:spPr>
            <p:txBody>
              <a:bodyPr wrap="square" rtlCol="0">
                <a:spAutoFit/>
              </a:bodyPr>
              <a:lstStyle/>
              <a:p>
                <a:r>
                  <a:rPr kumimoji="1" lang="ja-JP" altLang="en-US" sz="2000" dirty="0"/>
                  <a:t>ベイズ推論の問題点</a:t>
                </a:r>
                <a:r>
                  <a:rPr kumimoji="1" lang="en-US" altLang="ja-JP" sz="2000" dirty="0"/>
                  <a:t>:</a:t>
                </a:r>
              </a:p>
              <a:p>
                <a:r>
                  <a:rPr lang="ja-JP" altLang="en-US" dirty="0"/>
                  <a:t>事後分布を得ることが難しい</a:t>
                </a:r>
                <a:r>
                  <a:rPr lang="en-US" altLang="ja-JP" dirty="0"/>
                  <a:t>: </a:t>
                </a:r>
                <a14:m>
                  <m:oMath xmlns:m="http://schemas.openxmlformats.org/officeDocument/2006/math">
                    <m:r>
                      <m:rPr>
                        <m:sty m:val="p"/>
                      </m:rPr>
                      <a:rPr kumimoji="1" lang="en-US" altLang="ja-JP" b="0" i="0" smtClean="0">
                        <a:latin typeface="Cambria Math" panose="02040503050406030204" pitchFamily="18" charset="0"/>
                      </a:rPr>
                      <m:t>Z</m:t>
                    </m:r>
                    <m:r>
                      <a:rPr kumimoji="1" lang="en-US" altLang="ja-JP" b="0" i="0" smtClean="0">
                        <a:latin typeface="Cambria Math" panose="02040503050406030204" pitchFamily="18" charset="0"/>
                      </a:rPr>
                      <m:t>=</m:t>
                    </m:r>
                    <m:nary>
                      <m:naryPr>
                        <m:subHide m:val="on"/>
                        <m:supHide m:val="on"/>
                        <m:ctrlPr>
                          <a:rPr kumimoji="1" lang="en-US" altLang="ja-JP" b="0" i="1" smtClean="0">
                            <a:latin typeface="Cambria Math" panose="02040503050406030204" pitchFamily="18" charset="0"/>
                          </a:rPr>
                        </m:ctrlPr>
                      </m:naryPr>
                      <m:sub/>
                      <m:sup/>
                      <m:e>
                        <m:nary>
                          <m:naryPr>
                            <m:chr m:val="∏"/>
                            <m:ctrlPr>
                              <a:rPr lang="en-US" altLang="ja-JP" i="1">
                                <a:latin typeface="Cambria Math" panose="02040503050406030204" pitchFamily="18" charset="0"/>
                              </a:rPr>
                            </m:ctrlPr>
                          </m:naryPr>
                          <m:sub>
                            <m:r>
                              <m:rPr>
                                <m:brk m:alnAt="23"/>
                              </m:rPr>
                              <a:rPr lang="en-US" altLang="ja-JP" i="1">
                                <a:latin typeface="Cambria Math" panose="02040503050406030204" pitchFamily="18" charset="0"/>
                              </a:rPr>
                              <m:t>𝑖</m:t>
                            </m:r>
                            <m:r>
                              <a:rPr lang="en-US" altLang="ja-JP" i="1">
                                <a:latin typeface="Cambria Math" panose="02040503050406030204" pitchFamily="18" charset="0"/>
                              </a:rPr>
                              <m:t>=1</m:t>
                            </m:r>
                          </m:sub>
                          <m:sup>
                            <m:r>
                              <a:rPr lang="en-US" altLang="ja-JP" i="1">
                                <a:latin typeface="Cambria Math" panose="02040503050406030204" pitchFamily="18" charset="0"/>
                              </a:rPr>
                              <m:t>𝑁</m:t>
                            </m:r>
                          </m:sup>
                          <m:e>
                            <m:r>
                              <a:rPr lang="en-US" altLang="ja-JP" i="1">
                                <a:latin typeface="Cambria Math" panose="02040503050406030204" pitchFamily="18" charset="0"/>
                              </a:rPr>
                              <m:t>𝑝</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e>
                              <m:e>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i="1">
                                    <a:latin typeface="Cambria Math" panose="02040503050406030204" pitchFamily="18" charset="0"/>
                                  </a:rPr>
                                  <m:t>𝑤</m:t>
                                </m:r>
                              </m:e>
                            </m:d>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0</m:t>
                                </m:r>
                              </m:sub>
                            </m:sSub>
                            <m:r>
                              <a:rPr lang="en-US" altLang="ja-JP" i="1">
                                <a:latin typeface="Cambria Math" panose="02040503050406030204" pitchFamily="18" charset="0"/>
                              </a:rPr>
                              <m:t>(</m:t>
                            </m:r>
                            <m:r>
                              <a:rPr lang="en-US" altLang="ja-JP" i="1">
                                <a:latin typeface="Cambria Math" panose="02040503050406030204" pitchFamily="18" charset="0"/>
                              </a:rPr>
                              <m:t>𝑤</m:t>
                            </m:r>
                            <m:r>
                              <a:rPr lang="en-US" altLang="ja-JP" i="1">
                                <a:latin typeface="Cambria Math" panose="02040503050406030204" pitchFamily="18" charset="0"/>
                              </a:rPr>
                              <m:t>)</m:t>
                            </m:r>
                          </m:e>
                        </m:nary>
                        <m:r>
                          <a:rPr lang="en-US" altLang="ja-JP" b="0" i="1" smtClean="0">
                            <a:latin typeface="Cambria Math" panose="02040503050406030204" pitchFamily="18" charset="0"/>
                          </a:rPr>
                          <m:t>𝑑𝑤</m:t>
                        </m:r>
                      </m:e>
                    </m:nary>
                  </m:oMath>
                </a14:m>
                <a:r>
                  <a:rPr kumimoji="1" lang="ja-JP" altLang="en-US" dirty="0"/>
                  <a:t>の計算が難しい</a:t>
                </a:r>
              </a:p>
            </p:txBody>
          </p:sp>
        </mc:Choice>
        <mc:Fallback xmlns="">
          <p:sp>
            <p:nvSpPr>
              <p:cNvPr id="2" name="テキスト ボックス 1">
                <a:extLst>
                  <a:ext uri="{FF2B5EF4-FFF2-40B4-BE49-F238E27FC236}">
                    <a16:creationId xmlns:a16="http://schemas.microsoft.com/office/drawing/2014/main" id="{5BF2AAB2-DDC4-6DEB-65B5-F664E84A01CB}"/>
                  </a:ext>
                </a:extLst>
              </p:cNvPr>
              <p:cNvSpPr txBox="1">
                <a:spLocks noRot="1" noChangeAspect="1" noMove="1" noResize="1" noEditPoints="1" noAdjustHandles="1" noChangeArrowheads="1" noChangeShapeType="1" noTextEdit="1"/>
              </p:cNvSpPr>
              <p:nvPr/>
            </p:nvSpPr>
            <p:spPr>
              <a:xfrm>
                <a:off x="1119883" y="616449"/>
                <a:ext cx="8393987" cy="729559"/>
              </a:xfrm>
              <a:prstGeom prst="rect">
                <a:avLst/>
              </a:prstGeom>
              <a:blipFill>
                <a:blip r:embed="rId2"/>
                <a:stretch>
                  <a:fillRect l="-799" t="-31667" b="-10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4EA60F52-327F-09A1-FCA8-13F2F6EF7EC9}"/>
                  </a:ext>
                </a:extLst>
              </p:cNvPr>
              <p:cNvSpPr txBox="1"/>
              <p:nvPr/>
            </p:nvSpPr>
            <p:spPr>
              <a:xfrm>
                <a:off x="1017139" y="1743278"/>
                <a:ext cx="10157717" cy="3037626"/>
              </a:xfrm>
              <a:prstGeom prst="rect">
                <a:avLst/>
              </a:prstGeom>
              <a:noFill/>
            </p:spPr>
            <p:txBody>
              <a:bodyPr wrap="square" rtlCol="0">
                <a:spAutoFit/>
              </a:bodyPr>
              <a:lstStyle/>
              <a:p>
                <a:r>
                  <a:rPr lang="ja-JP" altLang="en-US" dirty="0"/>
                  <a:t>近似的に得る方法</a:t>
                </a:r>
                <a:r>
                  <a:rPr lang="en-US" altLang="ja-JP" dirty="0"/>
                  <a:t>: </a:t>
                </a:r>
                <a:r>
                  <a:rPr lang="ja-JP" altLang="en-US" dirty="0"/>
                  <a:t>代表的なものとして以下のものがある</a:t>
                </a:r>
                <a:endParaRPr lang="en-US" altLang="ja-JP" dirty="0"/>
              </a:p>
              <a:p>
                <a:r>
                  <a:rPr kumimoji="1" lang="en-US" altLang="ja-JP" dirty="0"/>
                  <a:t>1. </a:t>
                </a:r>
                <a:r>
                  <a:rPr kumimoji="1" lang="ja-JP" altLang="en-US" dirty="0"/>
                  <a:t>変分推論</a:t>
                </a:r>
                <a:r>
                  <a:rPr kumimoji="1" lang="en-US" altLang="ja-JP" dirty="0"/>
                  <a:t>(VI): </a:t>
                </a:r>
              </a:p>
              <a:p>
                <a:r>
                  <a:rPr lang="ja-JP" altLang="en-US" sz="1600" dirty="0"/>
                  <a:t>ベイズ事後分布に</a:t>
                </a:r>
                <a:r>
                  <a:rPr lang="en-US" altLang="ja-JP" sz="1600" dirty="0" err="1"/>
                  <a:t>Kullback</a:t>
                </a:r>
                <a:r>
                  <a:rPr lang="en-US" altLang="ja-JP" sz="1600" dirty="0"/>
                  <a:t> </a:t>
                </a:r>
                <a:r>
                  <a:rPr lang="en-US" altLang="ja-JP" sz="1600" dirty="0" err="1"/>
                  <a:t>Leibler</a:t>
                </a:r>
                <a:r>
                  <a:rPr lang="ja-JP" altLang="en-US" sz="1600" dirty="0"/>
                  <a:t>情報量の基で近い近似事後分布を見つける方法</a:t>
                </a:r>
                <a:r>
                  <a:rPr lang="en-US" altLang="ja-JP" sz="1600" dirty="0"/>
                  <a:t>(=</a:t>
                </a:r>
                <a:r>
                  <a:rPr lang="ja-JP" altLang="en-US" sz="1600" dirty="0"/>
                  <a:t>以下の</a:t>
                </a:r>
                <a:r>
                  <a:rPr lang="en-US" altLang="ja-JP" sz="1600" dirty="0"/>
                  <a:t>ELBO</a:t>
                </a:r>
                <a:r>
                  <a:rPr lang="ja-JP" altLang="en-US" sz="1600" dirty="0"/>
                  <a:t>を最大にする分布を見つける事</a:t>
                </a:r>
                <a:r>
                  <a:rPr lang="en-US" altLang="ja-JP" sz="1600" dirty="0"/>
                  <a:t>)</a:t>
                </a:r>
                <a:endParaRPr lang="en-US" altLang="ja-JP" dirty="0"/>
              </a:p>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𝐸𝐿𝐵𝑂</m:t>
                      </m:r>
                      <m:r>
                        <a:rPr kumimoji="1" lang="en-US" altLang="ja-JP" b="0" i="1" smtClean="0">
                          <a:latin typeface="Cambria Math" panose="02040503050406030204" pitchFamily="18" charset="0"/>
                        </a:rPr>
                        <m:t>=</m:t>
                      </m:r>
                      <m:sSub>
                        <m:sSubPr>
                          <m:ctrlPr>
                            <a:rPr lang="en-US" altLang="ja-JP" i="1" smtClean="0">
                              <a:latin typeface="Cambria Math" panose="02040503050406030204" pitchFamily="18" charset="0"/>
                              <a:ea typeface="Cambria Math" panose="02040503050406030204" pitchFamily="18" charset="0"/>
                            </a:rPr>
                          </m:ctrlPr>
                        </m:sSubPr>
                        <m:e>
                          <m:r>
                            <a:rPr lang="en-US" altLang="ja-JP" i="1">
                              <a:latin typeface="Cambria Math" panose="02040503050406030204" pitchFamily="18" charset="0"/>
                              <a:ea typeface="Cambria Math" panose="02040503050406030204" pitchFamily="18" charset="0"/>
                            </a:rPr>
                            <m:t>ℒ</m:t>
                          </m:r>
                        </m:e>
                        <m:sub>
                          <m:r>
                            <a:rPr lang="en-US" altLang="ja-JP" b="0" i="1" smtClean="0">
                              <a:latin typeface="Cambria Math" panose="02040503050406030204" pitchFamily="18" charset="0"/>
                              <a:ea typeface="Cambria Math" panose="02040503050406030204" pitchFamily="18" charset="0"/>
                            </a:rPr>
                            <m:t>𝑄</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𝐸</m:t>
                          </m:r>
                        </m:e>
                        <m:sub>
                          <m:r>
                            <a:rPr kumimoji="1" lang="en-US" altLang="ja-JP" b="0" i="1" smtClean="0">
                              <a:latin typeface="Cambria Math" panose="02040503050406030204" pitchFamily="18" charset="0"/>
                            </a:rPr>
                            <m:t>𝑞</m:t>
                          </m:r>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e>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e>
                          </m:func>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𝐾𝐿</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𝑞</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oMath>
                  </m:oMathPara>
                </a14:m>
                <a:endParaRPr kumimoji="1" lang="en-US" altLang="ja-JP" dirty="0"/>
              </a:p>
              <a:p>
                <a:r>
                  <a:rPr lang="ja-JP" altLang="en-US" dirty="0"/>
                  <a:t>　</a:t>
                </a:r>
                <a:r>
                  <a:rPr kumimoji="1" lang="ja-JP" altLang="en-US" dirty="0"/>
                  <a:t>特徴</a:t>
                </a:r>
                <a:r>
                  <a:rPr kumimoji="1" lang="en-US" altLang="ja-JP" dirty="0"/>
                  <a:t>: MCMC</a:t>
                </a:r>
                <a:r>
                  <a:rPr kumimoji="1" lang="ja-JP" altLang="en-US" dirty="0"/>
                  <a:t>に比べて早いが、</a:t>
                </a:r>
                <a:r>
                  <a:rPr lang="ja-JP" altLang="en-US" dirty="0"/>
                  <a:t>精度が悪い</a:t>
                </a:r>
                <a:endParaRPr kumimoji="1" lang="en-US" altLang="ja-JP" dirty="0"/>
              </a:p>
              <a:p>
                <a:endParaRPr lang="en-US" altLang="ja-JP" dirty="0"/>
              </a:p>
              <a:p>
                <a:endParaRPr kumimoji="1" lang="en-US" altLang="ja-JP" dirty="0"/>
              </a:p>
              <a:p>
                <a:r>
                  <a:rPr kumimoji="1" lang="en-US" altLang="ja-JP" dirty="0"/>
                  <a:t>2. </a:t>
                </a:r>
                <a:r>
                  <a:rPr kumimoji="1" lang="ja-JP" altLang="en-US" dirty="0"/>
                  <a:t>マルコフ連鎖モンテカルロ法</a:t>
                </a:r>
                <a:r>
                  <a:rPr kumimoji="1" lang="en-US" altLang="ja-JP" dirty="0"/>
                  <a:t>(MCMC): </a:t>
                </a:r>
              </a:p>
              <a:p>
                <a:r>
                  <a:rPr lang="ja-JP" altLang="en-US" sz="1600" dirty="0"/>
                  <a:t>事後分布を得ることを諦めて、</a:t>
                </a:r>
                <a:r>
                  <a:rPr lang="en-US" altLang="ja-JP" sz="1600" dirty="0"/>
                  <a:t>Z</a:t>
                </a:r>
                <a:r>
                  <a:rPr lang="ja-JP" altLang="en-US" sz="1600" dirty="0"/>
                  <a:t>の計算を回避する形で事後分布のサンプリングを行う方法</a:t>
                </a:r>
                <a:endParaRPr lang="en-US" altLang="ja-JP" sz="1600" dirty="0"/>
              </a:p>
              <a:p>
                <a:r>
                  <a:rPr kumimoji="1" lang="ja-JP" altLang="en-US" sz="1600" dirty="0"/>
                  <a:t>　特徴</a:t>
                </a:r>
                <a:r>
                  <a:rPr kumimoji="1" lang="en-US" altLang="ja-JP" sz="1600" dirty="0"/>
                  <a:t>: VI</a:t>
                </a:r>
                <a:r>
                  <a:rPr kumimoji="1" lang="ja-JP" altLang="en-US" sz="1600" dirty="0"/>
                  <a:t>に比べて精度が良いが、遅い</a:t>
                </a:r>
                <a:endParaRPr kumimoji="1" lang="ja-JP" altLang="en-US" dirty="0"/>
              </a:p>
            </p:txBody>
          </p:sp>
        </mc:Choice>
        <mc:Fallback xmlns="">
          <p:sp>
            <p:nvSpPr>
              <p:cNvPr id="3" name="テキスト ボックス 2">
                <a:extLst>
                  <a:ext uri="{FF2B5EF4-FFF2-40B4-BE49-F238E27FC236}">
                    <a16:creationId xmlns:a16="http://schemas.microsoft.com/office/drawing/2014/main" id="{4EA60F52-327F-09A1-FCA8-13F2F6EF7EC9}"/>
                  </a:ext>
                </a:extLst>
              </p:cNvPr>
              <p:cNvSpPr txBox="1">
                <a:spLocks noRot="1" noChangeAspect="1" noMove="1" noResize="1" noEditPoints="1" noAdjustHandles="1" noChangeArrowheads="1" noChangeShapeType="1" noTextEdit="1"/>
              </p:cNvSpPr>
              <p:nvPr/>
            </p:nvSpPr>
            <p:spPr>
              <a:xfrm>
                <a:off x="1017139" y="1743278"/>
                <a:ext cx="10157717" cy="3037626"/>
              </a:xfrm>
              <a:prstGeom prst="rect">
                <a:avLst/>
              </a:prstGeom>
              <a:blipFill>
                <a:blip r:embed="rId3"/>
                <a:stretch>
                  <a:fillRect l="-540" t="-1205" b="-1606"/>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47C6D552-9650-9EDD-D2B1-03D6E7BF8726}"/>
              </a:ext>
            </a:extLst>
          </p:cNvPr>
          <p:cNvSpPr txBox="1"/>
          <p:nvPr/>
        </p:nvSpPr>
        <p:spPr>
          <a:xfrm>
            <a:off x="2017158" y="5178175"/>
            <a:ext cx="8157681" cy="923330"/>
          </a:xfrm>
          <a:prstGeom prst="rect">
            <a:avLst/>
          </a:prstGeom>
          <a:noFill/>
        </p:spPr>
        <p:txBody>
          <a:bodyPr wrap="square" rtlCol="0">
            <a:spAutoFit/>
          </a:bodyPr>
          <a:lstStyle/>
          <a:p>
            <a:r>
              <a:rPr lang="ja-JP" altLang="en-US" dirty="0"/>
              <a:t>上記の２つの方法</a:t>
            </a:r>
            <a:r>
              <a:rPr lang="en-US" altLang="ja-JP" dirty="0"/>
              <a:t>: </a:t>
            </a:r>
            <a:r>
              <a:rPr lang="ja-JP" altLang="en-US" dirty="0"/>
              <a:t>パラメータ空間上の事後分布を求めているため、特に</a:t>
            </a:r>
            <a:r>
              <a:rPr lang="en-US" altLang="ja-JP" dirty="0"/>
              <a:t>Neural Network</a:t>
            </a:r>
            <a:r>
              <a:rPr lang="ja-JP" altLang="en-US" dirty="0"/>
              <a:t>のようなパラメータが大量にある場合は、事前分布による影響が大きくなるので、この論文では、関数空間上の事後分布を考える</a:t>
            </a:r>
            <a:endParaRPr kumimoji="1" lang="ja-JP" altLang="en-US" dirty="0"/>
          </a:p>
        </p:txBody>
      </p:sp>
    </p:spTree>
    <p:extLst>
      <p:ext uri="{BB962C8B-B14F-4D97-AF65-F5344CB8AC3E}">
        <p14:creationId xmlns:p14="http://schemas.microsoft.com/office/powerpoint/2010/main" val="3192670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3040E-D9A8-5970-0EB3-6B28931066F0}"/>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404AE8B-9ECA-D0FF-292B-2FAC195414D0}"/>
              </a:ext>
            </a:extLst>
          </p:cNvPr>
          <p:cNvSpPr txBox="1"/>
          <p:nvPr/>
        </p:nvSpPr>
        <p:spPr>
          <a:xfrm>
            <a:off x="342472" y="174661"/>
            <a:ext cx="10140593" cy="769441"/>
          </a:xfrm>
          <a:prstGeom prst="rect">
            <a:avLst/>
          </a:prstGeom>
          <a:noFill/>
        </p:spPr>
        <p:txBody>
          <a:bodyPr wrap="square" rtlCol="0">
            <a:spAutoFit/>
          </a:bodyPr>
          <a:lstStyle/>
          <a:p>
            <a:r>
              <a:rPr lang="ja-JP" altLang="en-US" sz="4400" dirty="0"/>
              <a:t>関数空間のベイズ推論について</a:t>
            </a:r>
            <a:endParaRPr kumimoji="1" lang="ja-JP" altLang="en-US" sz="4400" dirty="0"/>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F99222EA-52E8-C1D1-AA0F-B06E55CB907D}"/>
                  </a:ext>
                </a:extLst>
              </p:cNvPr>
              <p:cNvSpPr txBox="1"/>
              <p:nvPr/>
            </p:nvSpPr>
            <p:spPr>
              <a:xfrm>
                <a:off x="421250" y="2686692"/>
                <a:ext cx="5018425" cy="277576"/>
              </a:xfrm>
              <a:prstGeom prst="rect">
                <a:avLst/>
              </a:prstGeom>
              <a:noFill/>
            </p:spPr>
            <p:txBody>
              <a:bodyPr wrap="none" lIns="0" tIns="0" rIns="0" bIns="0" rtlCol="0">
                <a:spAutoFit/>
              </a:bodyPr>
              <a:lstStyle/>
              <a:p>
                <a:r>
                  <a:rPr lang="ja-JP" altLang="en-US" dirty="0"/>
                  <a:t>・</a:t>
                </a:r>
                <a14:m>
                  <m:oMath xmlns:m="http://schemas.openxmlformats.org/officeDocument/2006/math">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r>
                      <a:rPr lang="ja-JP" altLang="en-US" i="1">
                        <a:latin typeface="Cambria Math" panose="02040503050406030204" pitchFamily="18" charset="0"/>
                      </a:rPr>
                      <m:t>確率空間</m:t>
                    </m:r>
                    <m:d>
                      <m:dPr>
                        <m:ctrlPr>
                          <a:rPr kumimoji="1" lang="en-US" altLang="ja-JP" i="1" smtClean="0">
                            <a:latin typeface="Cambria Math" panose="02040503050406030204" pitchFamily="18" charset="0"/>
                          </a:rPr>
                        </m:ctrlPr>
                      </m:dPr>
                      <m:e>
                        <m:r>
                          <m:rPr>
                            <m:sty m:val="p"/>
                          </m:rPr>
                          <a:rPr kumimoji="1" lang="en-US" altLang="ja-JP" b="0" i="0" smtClean="0">
                            <a:latin typeface="Cambria Math" panose="02040503050406030204" pitchFamily="18" charset="0"/>
                          </a:rPr>
                          <m:t>Ω</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𝑃</m:t>
                        </m:r>
                      </m:e>
                    </m:d>
                  </m:oMath>
                </a14:m>
                <a:r>
                  <a:rPr kumimoji="1" lang="ja-JP" altLang="en-US" dirty="0"/>
                  <a:t>における</a:t>
                </a:r>
                <a:r>
                  <a:rPr lang="ja-JP" altLang="en-US" dirty="0"/>
                  <a:t>多変量の確率変数</a:t>
                </a:r>
                <a:endParaRPr kumimoji="1" lang="ja-JP" altLang="en-US" dirty="0"/>
              </a:p>
            </p:txBody>
          </p:sp>
        </mc:Choice>
        <mc:Fallback xmlns="">
          <p:sp>
            <p:nvSpPr>
              <p:cNvPr id="16" name="テキスト ボックス 15">
                <a:extLst>
                  <a:ext uri="{FF2B5EF4-FFF2-40B4-BE49-F238E27FC236}">
                    <a16:creationId xmlns:a16="http://schemas.microsoft.com/office/drawing/2014/main" id="{F99222EA-52E8-C1D1-AA0F-B06E55CB907D}"/>
                  </a:ext>
                </a:extLst>
              </p:cNvPr>
              <p:cNvSpPr txBox="1">
                <a:spLocks noRot="1" noChangeAspect="1" noMove="1" noResize="1" noEditPoints="1" noAdjustHandles="1" noChangeArrowheads="1" noChangeShapeType="1" noTextEdit="1"/>
              </p:cNvSpPr>
              <p:nvPr/>
            </p:nvSpPr>
            <p:spPr>
              <a:xfrm>
                <a:off x="421250" y="2686692"/>
                <a:ext cx="5018425" cy="277576"/>
              </a:xfrm>
              <a:prstGeom prst="rect">
                <a:avLst/>
              </a:prstGeom>
              <a:blipFill>
                <a:blip r:embed="rId2"/>
                <a:stretch>
                  <a:fillRect l="-2795" t="-26667" r="-2309" b="-5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FF4B9E6E-0942-2B50-2D1B-D695F80F072D}"/>
                  </a:ext>
                </a:extLst>
              </p:cNvPr>
              <p:cNvSpPr txBox="1"/>
              <p:nvPr/>
            </p:nvSpPr>
            <p:spPr>
              <a:xfrm>
                <a:off x="421250" y="3227954"/>
                <a:ext cx="11722568" cy="553998"/>
              </a:xfrm>
              <a:prstGeom prst="rect">
                <a:avLst/>
              </a:prstGeom>
              <a:noFill/>
            </p:spPr>
            <p:txBody>
              <a:bodyPr wrap="none" lIns="0" tIns="0" rIns="0" bIns="0" rtlCol="0">
                <a:spAutoFit/>
              </a:bodyPr>
              <a:lstStyle/>
              <a:p>
                <a:r>
                  <a:rPr kumimoji="1" lang="ja-JP" altLang="en-US" b="0" dirty="0"/>
                  <a:t>・</a:t>
                </a:r>
                <a14:m>
                  <m:oMath xmlns:m="http://schemas.openxmlformats.org/officeDocument/2006/math">
                    <m:r>
                      <a:rPr kumimoji="1" lang="en-US" altLang="ja-JP" b="0" i="1" smtClean="0">
                        <a:latin typeface="Cambria Math" panose="02040503050406030204" pitchFamily="18" charset="0"/>
                      </a:rPr>
                      <m:t>𝑓</m:t>
                    </m:r>
                    <m:r>
                      <a:rPr kumimoji="1" lang="en-US" altLang="ja-JP" b="0" i="1" smtClean="0">
                        <a:latin typeface="Cambria Math" panose="02040503050406030204" pitchFamily="18" charset="0"/>
                      </a:rPr>
                      <m:t>:</m:t>
                    </m:r>
                    <m:r>
                      <m:rPr>
                        <m:sty m:val="p"/>
                      </m:rPr>
                      <a:rPr kumimoji="1" lang="en-US" altLang="ja-JP" b="0" i="0" smtClean="0">
                        <a:latin typeface="Cambria Math" panose="02040503050406030204" pitchFamily="18" charset="0"/>
                      </a:rPr>
                      <m:t>Χ</m:t>
                    </m:r>
                    <m:r>
                      <a:rPr kumimoji="1" lang="en-US" altLang="ja-JP" b="0" i="1" smtClean="0">
                        <a:latin typeface="Cambria Math" panose="02040503050406030204" pitchFamily="18" charset="0"/>
                      </a:rPr>
                      <m:t>×</m:t>
                    </m:r>
                    <m:r>
                      <m:rPr>
                        <m:sty m:val="p"/>
                      </m:rPr>
                      <a:rPr kumimoji="1" lang="en-US" altLang="ja-JP" b="0" i="0" smtClean="0">
                        <a:latin typeface="Cambria Math" panose="02040503050406030204" pitchFamily="18" charset="0"/>
                      </a:rPr>
                      <m:t>Ω</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𝑌</m:t>
                    </m:r>
                  </m:oMath>
                </a14:m>
                <a:r>
                  <a:rPr kumimoji="1" lang="en-US" altLang="ja-JP" dirty="0"/>
                  <a:t>:</a:t>
                </a:r>
                <a:r>
                  <a:rPr kumimoji="1" lang="ja-JP" altLang="en-US" dirty="0"/>
                  <a:t>ポーランド空間</a:t>
                </a:r>
                <a14:m>
                  <m:oMath xmlns:m="http://schemas.openxmlformats.org/officeDocument/2006/math">
                    <m:r>
                      <a:rPr kumimoji="1" lang="en-US" altLang="ja-JP" b="0" i="1" smtClean="0">
                        <a:latin typeface="Cambria Math" panose="02040503050406030204" pitchFamily="18" charset="0"/>
                      </a:rPr>
                      <m:t>ℍ</m:t>
                    </m:r>
                  </m:oMath>
                </a14:m>
                <a:r>
                  <a:rPr kumimoji="1" lang="en-US" altLang="ja-JP" dirty="0"/>
                  <a:t>(</a:t>
                </a:r>
                <a:r>
                  <a:rPr kumimoji="1" lang="ja-JP" altLang="en-US" dirty="0"/>
                  <a:t>完備可分な</a:t>
                </a:r>
                <a:r>
                  <a:rPr lang="ja-JP" altLang="en-US" dirty="0"/>
                  <a:t>距離</a:t>
                </a:r>
                <a:r>
                  <a:rPr kumimoji="1" lang="ja-JP" altLang="en-US" dirty="0"/>
                  <a:t>空間</a:t>
                </a:r>
                <a:r>
                  <a:rPr kumimoji="1" lang="en-US" altLang="ja-JP" dirty="0"/>
                  <a:t>)</a:t>
                </a:r>
                <a:r>
                  <a:rPr lang="ja-JP" altLang="en-US" dirty="0"/>
                  <a:t>上の確率関数</a:t>
                </a:r>
                <a:r>
                  <a:rPr lang="en-US" altLang="ja-JP" dirty="0"/>
                  <a:t>(with </a:t>
                </a:r>
                <a:r>
                  <a:rPr lang="ja-JP" altLang="en-US" dirty="0"/>
                  <a:t>ボレル</a:t>
                </a:r>
                <a14:m>
                  <m:oMath xmlns:m="http://schemas.openxmlformats.org/officeDocument/2006/math">
                    <m:r>
                      <a:rPr lang="en-US" altLang="ja-JP" b="0" i="1" dirty="0" smtClean="0">
                        <a:latin typeface="Cambria Math" panose="02040503050406030204" pitchFamily="18" charset="0"/>
                      </a:rPr>
                      <m:t>𝜎</m:t>
                    </m:r>
                  </m:oMath>
                </a14:m>
                <a:r>
                  <a:rPr lang="ja-JP" altLang="en-US" dirty="0"/>
                  <a:t>代数</a:t>
                </a:r>
                <a14:m>
                  <m:oMath xmlns:m="http://schemas.openxmlformats.org/officeDocument/2006/math">
                    <m:r>
                      <m:rPr>
                        <m:sty m:val="p"/>
                      </m:rPr>
                      <a:rPr lang="en-US" altLang="ja-JP">
                        <a:latin typeface="Cambria Math" panose="02040503050406030204" pitchFamily="18" charset="0"/>
                      </a:rPr>
                      <m:t>B</m:t>
                    </m:r>
                    <m:r>
                      <a:rPr lang="en-US" altLang="ja-JP">
                        <a:latin typeface="Cambria Math" panose="02040503050406030204" pitchFamily="18" charset="0"/>
                      </a:rPr>
                      <m:t>(</m:t>
                    </m:r>
                    <m:r>
                      <a:rPr lang="en-US" altLang="ja-JP" i="1">
                        <a:latin typeface="Cambria Math" panose="02040503050406030204" pitchFamily="18" charset="0"/>
                      </a:rPr>
                      <m:t>ℍ</m:t>
                    </m:r>
                    <m:r>
                      <a:rPr lang="en-US" altLang="ja-JP" i="1">
                        <a:latin typeface="Cambria Math" panose="02040503050406030204" pitchFamily="18" charset="0"/>
                      </a:rPr>
                      <m:t>)</m:t>
                    </m:r>
                  </m:oMath>
                </a14:m>
                <a:r>
                  <a:rPr lang="en-US" altLang="ja-JP" dirty="0"/>
                  <a:t>)</a:t>
                </a:r>
              </a:p>
              <a:p>
                <a:r>
                  <a:rPr kumimoji="1" lang="ja-JP" altLang="en-US" dirty="0"/>
                  <a:t>　→ </a:t>
                </a:r>
                <a14:m>
                  <m:oMath xmlns:m="http://schemas.openxmlformats.org/officeDocument/2006/math">
                    <m:r>
                      <m:rPr>
                        <m:sty m:val="p"/>
                      </m:rPr>
                      <a:rPr kumimoji="1" lang="en-US" altLang="ja-JP" b="0" i="0" smtClean="0">
                        <a:latin typeface="Cambria Math" panose="02040503050406030204" pitchFamily="18" charset="0"/>
                      </a:rPr>
                      <m:t>Χ</m:t>
                    </m:r>
                  </m:oMath>
                </a14:m>
                <a:r>
                  <a:rPr kumimoji="1" lang="ja-JP" altLang="en-US" dirty="0"/>
                  <a:t>が</a:t>
                </a:r>
                <a:r>
                  <a:rPr kumimoji="1" lang="en-US" altLang="ja-JP" dirty="0"/>
                  <a:t>p</a:t>
                </a:r>
                <a:r>
                  <a:rPr kumimoji="1" lang="ja-JP" altLang="en-US" dirty="0"/>
                  <a:t>次元の実数の集合なので、ある</a:t>
                </a:r>
                <a14:m>
                  <m:oMath xmlns:m="http://schemas.openxmlformats.org/officeDocument/2006/math">
                    <m:r>
                      <a:rPr kumimoji="1" lang="en-US" altLang="ja-JP" b="0" i="1" smtClean="0">
                        <a:latin typeface="Cambria Math" panose="02040503050406030204" pitchFamily="18" charset="0"/>
                      </a:rPr>
                      <m:t>𝜔</m:t>
                    </m:r>
                    <m:r>
                      <a:rPr kumimoji="1" lang="en-US" altLang="ja-JP" b="0" i="1" smtClean="0">
                        <a:latin typeface="Cambria Math" panose="02040503050406030204" pitchFamily="18" charset="0"/>
                      </a:rPr>
                      <m:t>∈</m:t>
                    </m:r>
                    <m:r>
                      <m:rPr>
                        <m:sty m:val="p"/>
                      </m:rPr>
                      <a:rPr kumimoji="1" lang="en-US" altLang="ja-JP" b="0" i="0" smtClean="0">
                        <a:latin typeface="Cambria Math" panose="02040503050406030204" pitchFamily="18" charset="0"/>
                      </a:rPr>
                      <m:t>Ω</m:t>
                    </m:r>
                  </m:oMath>
                </a14:m>
                <a:r>
                  <a:rPr kumimoji="1" lang="ja-JP" altLang="en-US" dirty="0"/>
                  <a:t>に対して、</a:t>
                </a:r>
                <a14:m>
                  <m:oMath xmlns:m="http://schemas.openxmlformats.org/officeDocument/2006/math">
                    <m:r>
                      <a:rPr kumimoji="1" lang="en-US" altLang="ja-JP" b="0" i="1" smtClean="0">
                        <a:latin typeface="Cambria Math" panose="02040503050406030204" pitchFamily="18" charset="0"/>
                      </a:rPr>
                      <m:t>𝑓</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𝜔</m:t>
                    </m:r>
                    <m:r>
                      <a:rPr kumimoji="1" lang="en-US" altLang="ja-JP" b="0" i="1" smtClean="0">
                        <a:latin typeface="Cambria Math" panose="02040503050406030204" pitchFamily="18" charset="0"/>
                      </a:rPr>
                      <m:t>)</m:t>
                    </m:r>
                  </m:oMath>
                </a14:m>
                <a:r>
                  <a:rPr kumimoji="1" lang="ja-JP" altLang="en-US" dirty="0"/>
                  <a:t>は無限に要素があり</a:t>
                </a:r>
                <a14:m>
                  <m:oMath xmlns:m="http://schemas.openxmlformats.org/officeDocument/2006/math">
                    <m:r>
                      <a:rPr lang="en-US" altLang="ja-JP" i="1">
                        <a:latin typeface="Cambria Math" panose="02040503050406030204" pitchFamily="18" charset="0"/>
                      </a:rPr>
                      <m:t>𝑓</m:t>
                    </m:r>
                    <m:r>
                      <a:rPr lang="en-US" altLang="ja-JP" i="1">
                        <a:latin typeface="Cambria Math" panose="02040503050406030204" pitchFamily="18" charset="0"/>
                      </a:rPr>
                      <m:t>(⋅;</m:t>
                    </m:r>
                    <m:r>
                      <a:rPr lang="en-US" altLang="ja-JP" i="1">
                        <a:latin typeface="Cambria Math" panose="02040503050406030204" pitchFamily="18" charset="0"/>
                      </a:rPr>
                      <m:t>𝜔</m:t>
                    </m:r>
                    <m:r>
                      <a:rPr lang="en-US" altLang="ja-JP" i="1">
                        <a:latin typeface="Cambria Math" panose="02040503050406030204" pitchFamily="18" charset="0"/>
                      </a:rPr>
                      <m:t>)</m:t>
                    </m:r>
                  </m:oMath>
                </a14:m>
                <a:r>
                  <a:rPr kumimoji="1" lang="ja-JP" altLang="en-US" dirty="0"/>
                  <a:t>は無限次元なベクトル</a:t>
                </a:r>
              </a:p>
            </p:txBody>
          </p:sp>
        </mc:Choice>
        <mc:Fallback xmlns="">
          <p:sp>
            <p:nvSpPr>
              <p:cNvPr id="17" name="テキスト ボックス 16">
                <a:extLst>
                  <a:ext uri="{FF2B5EF4-FFF2-40B4-BE49-F238E27FC236}">
                    <a16:creationId xmlns:a16="http://schemas.microsoft.com/office/drawing/2014/main" id="{FF4B9E6E-0942-2B50-2D1B-D695F80F072D}"/>
                  </a:ext>
                </a:extLst>
              </p:cNvPr>
              <p:cNvSpPr txBox="1">
                <a:spLocks noRot="1" noChangeAspect="1" noMove="1" noResize="1" noEditPoints="1" noAdjustHandles="1" noChangeArrowheads="1" noChangeShapeType="1" noTextEdit="1"/>
              </p:cNvSpPr>
              <p:nvPr/>
            </p:nvSpPr>
            <p:spPr>
              <a:xfrm>
                <a:off x="421250" y="3227954"/>
                <a:ext cx="11722568" cy="553998"/>
              </a:xfrm>
              <a:prstGeom prst="rect">
                <a:avLst/>
              </a:prstGeom>
              <a:blipFill>
                <a:blip r:embed="rId3"/>
                <a:stretch>
                  <a:fillRect l="-1196" t="-13333" r="-468" b="-2666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79DE459C-31B5-C23A-F709-DBCDBC3E7F46}"/>
              </a:ext>
            </a:extLst>
          </p:cNvPr>
          <p:cNvSpPr txBox="1"/>
          <p:nvPr/>
        </p:nvSpPr>
        <p:spPr>
          <a:xfrm>
            <a:off x="626724" y="1890445"/>
            <a:ext cx="11106364" cy="646331"/>
          </a:xfrm>
          <a:prstGeom prst="rect">
            <a:avLst/>
          </a:prstGeom>
          <a:noFill/>
        </p:spPr>
        <p:txBody>
          <a:bodyPr wrap="square" rtlCol="0">
            <a:spAutoFit/>
          </a:bodyPr>
          <a:lstStyle/>
          <a:p>
            <a:r>
              <a:rPr lang="ja-JP" altLang="en-US" dirty="0"/>
              <a:t>以下で述べる定義は論文のアルゴリズムを実装したり、目的関数の形を事実として受け入れれば気にしなくてよいが、理論的な正しさのため必要なので記述</a:t>
            </a:r>
            <a:endParaRPr lang="en-US" altLang="ja-JP" dirty="0"/>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E0A5CA32-F558-D73C-11F6-73677E12326D}"/>
                  </a:ext>
                </a:extLst>
              </p:cNvPr>
              <p:cNvSpPr txBox="1"/>
              <p:nvPr/>
            </p:nvSpPr>
            <p:spPr>
              <a:xfrm>
                <a:off x="400696" y="3990651"/>
                <a:ext cx="5880841" cy="553998"/>
              </a:xfrm>
              <a:prstGeom prst="rect">
                <a:avLst/>
              </a:prstGeom>
              <a:noFill/>
            </p:spPr>
            <p:txBody>
              <a:bodyPr wrap="none" lIns="0" tIns="0" rIns="0" bIns="0" rtlCol="0">
                <a:spAutoFit/>
              </a:bodyPr>
              <a:lstStyle/>
              <a:p>
                <a:r>
                  <a:rPr lang="ja-JP" altLang="en-US" dirty="0"/>
                  <a:t>・</a:t>
                </a:r>
                <a14:m>
                  <m:oMath xmlns:m="http://schemas.openxmlformats.org/officeDocument/2006/math">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𝑌</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ℍ</m:t>
                    </m:r>
                    <m:r>
                      <a:rPr kumimoji="1" lang="en-US" altLang="ja-JP" b="0" i="1" smtClean="0">
                        <a:latin typeface="Cambria Math" panose="02040503050406030204" pitchFamily="18" charset="0"/>
                      </a:rPr>
                      <m:t>→</m:t>
                    </m:r>
                    <m:d>
                      <m:dPr>
                        <m:begChr m:val="["/>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0,∞</m:t>
                        </m:r>
                      </m:e>
                    </m:d>
                    <m:r>
                      <a:rPr kumimoji="1" lang="en-US" altLang="ja-JP" b="0" i="0" smtClean="0">
                        <a:latin typeface="Cambria Math" panose="02040503050406030204" pitchFamily="18" charset="0"/>
                      </a:rPr>
                      <m:t>, (</m:t>
                    </m:r>
                    <m:r>
                      <m:rPr>
                        <m:sty m:val="p"/>
                      </m:rPr>
                      <a:rPr kumimoji="1" lang="en-US" altLang="ja-JP" b="0" i="0" smtClean="0">
                        <a:latin typeface="Cambria Math" panose="02040503050406030204" pitchFamily="18" charset="0"/>
                      </a:rPr>
                      <m:t>Y</m:t>
                    </m:r>
                    <m:r>
                      <a:rPr kumimoji="1" lang="en-US" altLang="ja-JP" b="0" i="0" smtClean="0">
                        <a:latin typeface="Cambria Math" panose="02040503050406030204" pitchFamily="18" charset="0"/>
                      </a:rPr>
                      <m:t>, </m:t>
                    </m:r>
                    <m:r>
                      <m:rPr>
                        <m:sty m:val="p"/>
                      </m:rPr>
                      <a:rPr kumimoji="1" lang="en-US" altLang="ja-JP" b="0" i="0" smtClean="0">
                        <a:latin typeface="Cambria Math" panose="02040503050406030204" pitchFamily="18" charset="0"/>
                      </a:rPr>
                      <m:t>f</m:t>
                    </m:r>
                    <m:r>
                      <a:rPr kumimoji="1" lang="en-US" altLang="ja-JP" b="0" i="0" smtClean="0">
                        <a:latin typeface="Cambria Math" panose="02040503050406030204" pitchFamily="18" charset="0"/>
                      </a:rPr>
                      <m:t>(</m:t>
                    </m:r>
                    <m:r>
                      <m:rPr>
                        <m:sty m:val="p"/>
                      </m:rPr>
                      <a:rPr kumimoji="1" lang="en-US" altLang="ja-JP" b="0" i="0" smtClean="0">
                        <a:latin typeface="Cambria Math" panose="02040503050406030204" pitchFamily="18" charset="0"/>
                      </a:rPr>
                      <m:t>X</m:t>
                    </m:r>
                    <m:r>
                      <a:rPr kumimoji="1" lang="en-US" altLang="ja-JP" b="0" i="0" smtClean="0">
                        <a:latin typeface="Cambria Math" panose="02040503050406030204" pitchFamily="18" charset="0"/>
                      </a:rPr>
                      <m:t>,</m:t>
                    </m:r>
                    <m:r>
                      <m:rPr>
                        <m:sty m:val="p"/>
                      </m:rPr>
                      <a:rPr kumimoji="1" lang="en-US" altLang="ja-JP" b="0" i="0" smtClean="0">
                        <a:latin typeface="Cambria Math" panose="02040503050406030204" pitchFamily="18" charset="0"/>
                      </a:rPr>
                      <m:t>w</m:t>
                    </m:r>
                    <m:r>
                      <a:rPr kumimoji="1" lang="en-US" altLang="ja-JP" b="0" i="0" smtClean="0">
                        <a:latin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𝑝</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𝑌</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𝑓</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𝑋</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𝑤</m:t>
                    </m:r>
                    <m:r>
                      <a:rPr kumimoji="1" lang="en-US" altLang="ja-JP" b="0" i="1" smtClean="0">
                        <a:latin typeface="Cambria Math" panose="02040503050406030204" pitchFamily="18" charset="0"/>
                        <a:ea typeface="Cambria Math" panose="02040503050406030204" pitchFamily="18" charset="0"/>
                      </a:rPr>
                      <m:t>))</m:t>
                    </m:r>
                  </m:oMath>
                </a14:m>
                <a:r>
                  <a:rPr lang="en-US" altLang="ja-JP" dirty="0"/>
                  <a:t>: </a:t>
                </a:r>
                <a:r>
                  <a:rPr lang="ja-JP" altLang="en-US" dirty="0"/>
                  <a:t>尤度関数</a:t>
                </a:r>
                <a:endParaRPr lang="en-US" altLang="ja-JP" dirty="0"/>
              </a:p>
              <a:p>
                <a:r>
                  <a:rPr lang="ja-JP" altLang="en-US" dirty="0"/>
                  <a:t>　→ 学習データに対する尤度関数は</a:t>
                </a:r>
                <a14:m>
                  <m:oMath xmlns:m="http://schemas.openxmlformats.org/officeDocument/2006/math">
                    <m:r>
                      <a:rPr kumimoji="1" lang="en-US" altLang="ja-JP" b="0" i="1" smtClean="0">
                        <a:latin typeface="Cambria Math" panose="02040503050406030204" pitchFamily="18" charset="0"/>
                        <a:ea typeface="Cambria Math" panose="02040503050406030204" pitchFamily="18" charset="0"/>
                      </a:rPr>
                      <m:t>𝑝</m:t>
                    </m:r>
                    <m:r>
                      <a:rPr kumimoji="1" lang="en-US" altLang="ja-JP" b="0" i="1" smtClean="0">
                        <a:latin typeface="Cambria Math" panose="02040503050406030204" pitchFamily="18" charset="0"/>
                        <a:ea typeface="Cambria Math" panose="02040503050406030204" pitchFamily="18" charset="0"/>
                      </a:rPr>
                      <m:t>(</m:t>
                    </m:r>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𝑌</m:t>
                        </m:r>
                      </m:e>
                      <m:sub>
                        <m:r>
                          <a:rPr kumimoji="1" lang="en-US" altLang="ja-JP" b="0" i="1" smtClean="0">
                            <a:latin typeface="Cambria Math" panose="02040503050406030204" pitchFamily="18" charset="0"/>
                            <a:ea typeface="Cambria Math" panose="02040503050406030204" pitchFamily="18" charset="0"/>
                          </a:rPr>
                          <m:t>𝐷</m:t>
                        </m:r>
                      </m:sub>
                    </m:sSub>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𝑓</m:t>
                    </m:r>
                    <m:r>
                      <a:rPr kumimoji="1" lang="en-US" altLang="ja-JP" b="0" i="1" smtClean="0">
                        <a:latin typeface="Cambria Math" panose="02040503050406030204" pitchFamily="18" charset="0"/>
                        <a:ea typeface="Cambria Math" panose="02040503050406030204" pitchFamily="18" charset="0"/>
                      </a:rPr>
                      <m:t>(</m:t>
                    </m:r>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𝑋</m:t>
                        </m:r>
                      </m:e>
                      <m:sub>
                        <m:r>
                          <a:rPr kumimoji="1" lang="en-US" altLang="ja-JP" b="0" i="1" smtClean="0">
                            <a:latin typeface="Cambria Math" panose="02040503050406030204" pitchFamily="18" charset="0"/>
                            <a:ea typeface="Cambria Math" panose="02040503050406030204" pitchFamily="18" charset="0"/>
                          </a:rPr>
                          <m:t>𝐷</m:t>
                        </m:r>
                      </m:sub>
                    </m:sSub>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𝑤</m:t>
                    </m:r>
                    <m:r>
                      <a:rPr kumimoji="1" lang="en-US" altLang="ja-JP" b="0" i="1" smtClean="0">
                        <a:latin typeface="Cambria Math" panose="02040503050406030204" pitchFamily="18" charset="0"/>
                        <a:ea typeface="Cambria Math" panose="02040503050406030204" pitchFamily="18" charset="0"/>
                      </a:rPr>
                      <m:t>))</m:t>
                    </m:r>
                  </m:oMath>
                </a14:m>
                <a:endParaRPr lang="en-US" altLang="ja-JP" dirty="0"/>
              </a:p>
            </p:txBody>
          </p:sp>
        </mc:Choice>
        <mc:Fallback xmlns="">
          <p:sp>
            <p:nvSpPr>
              <p:cNvPr id="19" name="テキスト ボックス 18">
                <a:extLst>
                  <a:ext uri="{FF2B5EF4-FFF2-40B4-BE49-F238E27FC236}">
                    <a16:creationId xmlns:a16="http://schemas.microsoft.com/office/drawing/2014/main" id="{E0A5CA32-F558-D73C-11F6-73677E12326D}"/>
                  </a:ext>
                </a:extLst>
              </p:cNvPr>
              <p:cNvSpPr txBox="1">
                <a:spLocks noRot="1" noChangeAspect="1" noMove="1" noResize="1" noEditPoints="1" noAdjustHandles="1" noChangeArrowheads="1" noChangeShapeType="1" noTextEdit="1"/>
              </p:cNvSpPr>
              <p:nvPr/>
            </p:nvSpPr>
            <p:spPr>
              <a:xfrm>
                <a:off x="400696" y="3990651"/>
                <a:ext cx="5880841" cy="553998"/>
              </a:xfrm>
              <a:prstGeom prst="rect">
                <a:avLst/>
              </a:prstGeom>
              <a:blipFill>
                <a:blip r:embed="rId4"/>
                <a:stretch>
                  <a:fillRect l="-2490" t="-13187" r="-1763" b="-252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F6FD67CB-9B83-E1A2-E218-26C89A8EB25C}"/>
                  </a:ext>
                </a:extLst>
              </p:cNvPr>
              <p:cNvSpPr txBox="1"/>
              <p:nvPr/>
            </p:nvSpPr>
            <p:spPr>
              <a:xfrm>
                <a:off x="421250" y="4753348"/>
                <a:ext cx="10962520" cy="1016625"/>
              </a:xfrm>
              <a:prstGeom prst="rect">
                <a:avLst/>
              </a:prstGeom>
              <a:noFill/>
            </p:spPr>
            <p:txBody>
              <a:bodyPr wrap="square" lIns="0" tIns="0" rIns="0" bIns="0" rtlCol="0">
                <a:spAutoFit/>
              </a:bodyPr>
              <a:lstStyle/>
              <a:p>
                <a:r>
                  <a:rPr lang="ja-JP" altLang="en-US" dirty="0"/>
                  <a:t>・</a:t>
                </a:r>
                <a14:m>
                  <m:oMath xmlns:m="http://schemas.openxmlformats.org/officeDocument/2006/math">
                    <m:r>
                      <m:rPr>
                        <m:sty m:val="p"/>
                      </m:rPr>
                      <a:rPr kumimoji="1" lang="en-US" altLang="ja-JP" b="0" i="0" smtClean="0">
                        <a:latin typeface="Cambria Math" panose="02040503050406030204" pitchFamily="18" charset="0"/>
                      </a:rPr>
                      <m:t>P</m:t>
                    </m:r>
                    <m:r>
                      <a:rPr kumimoji="1" lang="en-US" altLang="ja-JP" b="0" i="0" smtClean="0">
                        <a:latin typeface="Cambria Math" panose="02040503050406030204" pitchFamily="18" charset="0"/>
                      </a:rPr>
                      <m:t>(</m:t>
                    </m:r>
                    <m:r>
                      <a:rPr kumimoji="1" lang="en-US" altLang="ja-JP" b="0" i="1" smtClean="0">
                        <a:latin typeface="Cambria Math" panose="02040503050406030204" pitchFamily="18" charset="0"/>
                      </a:rPr>
                      <m:t>ℍ</m:t>
                    </m:r>
                    <m:r>
                      <a:rPr kumimoji="1" lang="en-US" altLang="ja-JP" b="0" i="1" smtClean="0">
                        <a:latin typeface="Cambria Math" panose="02040503050406030204" pitchFamily="18" charset="0"/>
                      </a:rPr>
                      <m:t>)</m:t>
                    </m:r>
                  </m:oMath>
                </a14:m>
                <a:r>
                  <a:rPr lang="en-US" altLang="ja-JP" dirty="0"/>
                  <a:t>:</a:t>
                </a:r>
                <a14:m>
                  <m:oMath xmlns:m="http://schemas.openxmlformats.org/officeDocument/2006/math">
                    <m:r>
                      <m:rPr>
                        <m:sty m:val="p"/>
                      </m:rPr>
                      <a:rPr lang="en-US" altLang="ja-JP" smtClean="0">
                        <a:latin typeface="Cambria Math" panose="02040503050406030204" pitchFamily="18" charset="0"/>
                      </a:rPr>
                      <m:t>B</m:t>
                    </m:r>
                    <m:r>
                      <a:rPr lang="en-US" altLang="ja-JP" smtClean="0">
                        <a:latin typeface="Cambria Math" panose="02040503050406030204" pitchFamily="18" charset="0"/>
                      </a:rPr>
                      <m:t>(</m:t>
                    </m:r>
                    <m:r>
                      <a:rPr lang="en-US" altLang="ja-JP" i="1">
                        <a:latin typeface="Cambria Math" panose="02040503050406030204" pitchFamily="18" charset="0"/>
                      </a:rPr>
                      <m:t>ℍ</m:t>
                    </m:r>
                    <m:r>
                      <a:rPr lang="en-US" altLang="ja-JP" i="1">
                        <a:latin typeface="Cambria Math" panose="02040503050406030204" pitchFamily="18" charset="0"/>
                      </a:rPr>
                      <m:t>)</m:t>
                    </m:r>
                  </m:oMath>
                </a14:m>
                <a:r>
                  <a:rPr lang="ja-JP" altLang="en-US" dirty="0"/>
                  <a:t>を測るためのボレル確率測度の空間</a:t>
                </a:r>
                <a:r>
                  <a:rPr lang="en-US" altLang="ja-JP" dirty="0"/>
                  <a:t>(</a:t>
                </a:r>
                <a14:m>
                  <m:oMath xmlns:m="http://schemas.openxmlformats.org/officeDocument/2006/math">
                    <m:r>
                      <a:rPr lang="en-US" altLang="ja-JP" b="0" i="1" smtClean="0">
                        <a:latin typeface="Cambria Math" panose="02040503050406030204" pitchFamily="18" charset="0"/>
                      </a:rPr>
                      <m:t>≈</m:t>
                    </m:r>
                  </m:oMath>
                </a14:m>
                <a:r>
                  <a:rPr lang="ja-JP" altLang="en-US" dirty="0"/>
                  <a:t>確率密度関数の集合</a:t>
                </a:r>
                <a:r>
                  <a:rPr lang="en-US" altLang="ja-JP" dirty="0"/>
                  <a:t>)</a:t>
                </a:r>
              </a:p>
              <a:p>
                <a:r>
                  <a:rPr lang="ja-JP" altLang="en-US" sz="1600" dirty="0"/>
                  <a:t>　→ 今回考える関数空間上の事前分布や事後分布はこの空間の上のある元</a:t>
                </a:r>
                <a:endParaRPr lang="en-US" altLang="ja-JP" sz="1600" dirty="0"/>
              </a:p>
              <a:p>
                <a:r>
                  <a:rPr lang="ja-JP" altLang="en-US" sz="1600" dirty="0"/>
                  <a:t>　→ </a:t>
                </a:r>
                <a14:m>
                  <m:oMath xmlns:m="http://schemas.openxmlformats.org/officeDocument/2006/math">
                    <m:r>
                      <a:rPr kumimoji="1" lang="en-US" altLang="ja-JP" sz="1600" b="0" i="1" smtClean="0">
                        <a:latin typeface="Cambria Math" panose="02040503050406030204" pitchFamily="18" charset="0"/>
                      </a:rPr>
                      <m:t>𝑝</m:t>
                    </m:r>
                    <m:r>
                      <a:rPr kumimoji="1" lang="en-US" altLang="ja-JP" sz="1600" b="0" i="0" smtClean="0">
                        <a:latin typeface="Cambria Math" panose="02040503050406030204" pitchFamily="18" charset="0"/>
                      </a:rPr>
                      <m:t>′</m:t>
                    </m:r>
                    <m:r>
                      <a:rPr kumimoji="1" lang="en-US" altLang="ja-JP" sz="1600" b="0" i="1" smtClean="0">
                        <a:latin typeface="Cambria Math" panose="02040503050406030204" pitchFamily="18" charset="0"/>
                      </a:rPr>
                      <m:t>∈</m:t>
                    </m:r>
                    <m:r>
                      <m:rPr>
                        <m:sty m:val="p"/>
                      </m:rPr>
                      <a:rPr kumimoji="1" lang="en-US" altLang="ja-JP" sz="1600" b="0" i="0" smtClean="0">
                        <a:latin typeface="Cambria Math" panose="02040503050406030204" pitchFamily="18" charset="0"/>
                      </a:rPr>
                      <m:t>P</m:t>
                    </m:r>
                    <m:d>
                      <m:dPr>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ℍ</m:t>
                        </m:r>
                      </m:e>
                    </m:d>
                    <m:r>
                      <a:rPr kumimoji="1" lang="en-US" altLang="ja-JP" sz="1600" b="0" i="1" smtClean="0">
                        <a:latin typeface="Cambria Math" panose="02040503050406030204" pitchFamily="18" charset="0"/>
                        <a:ea typeface="Cambria Math" panose="02040503050406030204" pitchFamily="18" charset="0"/>
                      </a:rPr>
                      <m:t>⇒</m:t>
                    </m:r>
                    <m:r>
                      <a:rPr kumimoji="1" lang="en-US" altLang="ja-JP" sz="1600" b="0" i="1" smtClean="0">
                        <a:latin typeface="Cambria Math" panose="02040503050406030204" pitchFamily="18" charset="0"/>
                        <a:ea typeface="Cambria Math" panose="02040503050406030204" pitchFamily="18" charset="0"/>
                      </a:rPr>
                      <m:t>𝑝</m:t>
                    </m:r>
                    <m:r>
                      <a:rPr kumimoji="1" lang="en-US" altLang="ja-JP" sz="1600" b="0" i="1" smtClean="0">
                        <a:latin typeface="Cambria Math" panose="02040503050406030204" pitchFamily="18" charset="0"/>
                        <a:ea typeface="Cambria Math" panose="02040503050406030204" pitchFamily="18" charset="0"/>
                      </a:rPr>
                      <m:t>′</m:t>
                    </m:r>
                    <m:d>
                      <m:dPr>
                        <m:ctrlPr>
                          <a:rPr kumimoji="1" lang="en-US" altLang="ja-JP" sz="1600" b="0" i="1" smtClean="0">
                            <a:latin typeface="Cambria Math" panose="02040503050406030204" pitchFamily="18" charset="0"/>
                            <a:ea typeface="Cambria Math" panose="02040503050406030204" pitchFamily="18" charset="0"/>
                          </a:rPr>
                        </m:ctrlPr>
                      </m:dPr>
                      <m:e>
                        <m:sSub>
                          <m:sSubPr>
                            <m:ctrlPr>
                              <a:rPr kumimoji="1" lang="en-US" altLang="ja-JP" sz="1600" b="0" i="1" smtClean="0">
                                <a:latin typeface="Cambria Math" panose="02040503050406030204" pitchFamily="18" charset="0"/>
                                <a:ea typeface="Cambria Math" panose="02040503050406030204" pitchFamily="18" charset="0"/>
                              </a:rPr>
                            </m:ctrlPr>
                          </m:sSubPr>
                          <m:e>
                            <m:r>
                              <a:rPr kumimoji="1" lang="en-US" altLang="ja-JP" sz="1600" b="0" i="1" smtClean="0">
                                <a:latin typeface="Cambria Math" panose="02040503050406030204" pitchFamily="18" charset="0"/>
                                <a:ea typeface="Cambria Math" panose="02040503050406030204" pitchFamily="18" charset="0"/>
                              </a:rPr>
                              <m:t>𝐵</m:t>
                            </m:r>
                          </m:e>
                          <m:sub>
                            <m:r>
                              <a:rPr kumimoji="1" lang="en-US" altLang="ja-JP" sz="1600" b="0" i="1" smtClean="0">
                                <a:latin typeface="Cambria Math" panose="02040503050406030204" pitchFamily="18" charset="0"/>
                                <a:ea typeface="Cambria Math" panose="02040503050406030204" pitchFamily="18" charset="0"/>
                              </a:rPr>
                              <m:t>𝑟</m:t>
                            </m:r>
                          </m:sub>
                        </m:sSub>
                        <m:d>
                          <m:dPr>
                            <m:ctrlPr>
                              <a:rPr kumimoji="1" lang="en-US" altLang="ja-JP" sz="1600" b="0" i="1" smtClean="0">
                                <a:latin typeface="Cambria Math" panose="02040503050406030204" pitchFamily="18" charset="0"/>
                                <a:ea typeface="Cambria Math" panose="02040503050406030204" pitchFamily="18" charset="0"/>
                              </a:rPr>
                            </m:ctrlPr>
                          </m:dPr>
                          <m:e>
                            <m:r>
                              <a:rPr kumimoji="1" lang="en-US" altLang="ja-JP" sz="1600" b="0" i="1" smtClean="0">
                                <a:latin typeface="Cambria Math" panose="02040503050406030204" pitchFamily="18" charset="0"/>
                                <a:ea typeface="Cambria Math" panose="02040503050406030204" pitchFamily="18" charset="0"/>
                              </a:rPr>
                              <m:t>𝑓</m:t>
                            </m:r>
                          </m:e>
                        </m:d>
                      </m:e>
                    </m:d>
                    <m:r>
                      <a:rPr kumimoji="1" lang="en-US" altLang="ja-JP" sz="1600" b="0" i="1" smtClean="0">
                        <a:latin typeface="Cambria Math" panose="02040503050406030204" pitchFamily="18" charset="0"/>
                        <a:ea typeface="Cambria Math" panose="02040503050406030204" pitchFamily="18" charset="0"/>
                      </a:rPr>
                      <m:t>=0.1, </m:t>
                    </m:r>
                    <m:r>
                      <a:rPr kumimoji="1" lang="en-US" altLang="ja-JP" sz="1600" b="0" i="1" smtClean="0">
                        <a:latin typeface="Cambria Math" panose="02040503050406030204" pitchFamily="18" charset="0"/>
                        <a:ea typeface="Cambria Math" panose="02040503050406030204" pitchFamily="18" charset="0"/>
                      </a:rPr>
                      <m:t>𝑤h𝑒𝑟𝑒</m:t>
                    </m:r>
                    <m:r>
                      <a:rPr kumimoji="1" lang="en-US" altLang="ja-JP" sz="1600" b="0" i="1" smtClean="0">
                        <a:latin typeface="Cambria Math" panose="02040503050406030204" pitchFamily="18" charset="0"/>
                        <a:ea typeface="Cambria Math" panose="02040503050406030204" pitchFamily="18" charset="0"/>
                      </a:rPr>
                      <m:t> </m:t>
                    </m:r>
                    <m:sSub>
                      <m:sSubPr>
                        <m:ctrlPr>
                          <a:rPr kumimoji="1" lang="en-US" altLang="ja-JP" sz="1600" b="0" i="1" smtClean="0">
                            <a:latin typeface="Cambria Math" panose="02040503050406030204" pitchFamily="18" charset="0"/>
                            <a:ea typeface="Cambria Math" panose="02040503050406030204" pitchFamily="18" charset="0"/>
                          </a:rPr>
                        </m:ctrlPr>
                      </m:sSubPr>
                      <m:e>
                        <m:r>
                          <a:rPr kumimoji="1" lang="en-US" altLang="ja-JP" sz="1600" b="0" i="1" smtClean="0">
                            <a:latin typeface="Cambria Math" panose="02040503050406030204" pitchFamily="18" charset="0"/>
                            <a:ea typeface="Cambria Math" panose="02040503050406030204" pitchFamily="18" charset="0"/>
                          </a:rPr>
                          <m:t>𝐵</m:t>
                        </m:r>
                      </m:e>
                      <m:sub>
                        <m:r>
                          <a:rPr kumimoji="1" lang="en-US" altLang="ja-JP" sz="1600" b="0" i="1" smtClean="0">
                            <a:latin typeface="Cambria Math" panose="02040503050406030204" pitchFamily="18" charset="0"/>
                            <a:ea typeface="Cambria Math" panose="02040503050406030204" pitchFamily="18" charset="0"/>
                          </a:rPr>
                          <m:t>𝑟</m:t>
                        </m:r>
                      </m:sub>
                    </m:sSub>
                    <m:d>
                      <m:dPr>
                        <m:ctrlPr>
                          <a:rPr kumimoji="1" lang="en-US" altLang="ja-JP" sz="1600" b="0" i="1" smtClean="0">
                            <a:latin typeface="Cambria Math" panose="02040503050406030204" pitchFamily="18" charset="0"/>
                            <a:ea typeface="Cambria Math" panose="02040503050406030204" pitchFamily="18" charset="0"/>
                          </a:rPr>
                        </m:ctrlPr>
                      </m:dPr>
                      <m:e>
                        <m:r>
                          <a:rPr kumimoji="1" lang="en-US" altLang="ja-JP" sz="1600" b="0" i="1" smtClean="0">
                            <a:latin typeface="Cambria Math" panose="02040503050406030204" pitchFamily="18" charset="0"/>
                            <a:ea typeface="Cambria Math" panose="02040503050406030204" pitchFamily="18" charset="0"/>
                          </a:rPr>
                          <m:t>𝑓</m:t>
                        </m:r>
                      </m:e>
                    </m:d>
                    <m:r>
                      <a:rPr kumimoji="1" lang="en-US" altLang="ja-JP" sz="1600" b="0" i="1" smtClean="0">
                        <a:latin typeface="Cambria Math" panose="02040503050406030204" pitchFamily="18" charset="0"/>
                        <a:ea typeface="Cambria Math" panose="02040503050406030204" pitchFamily="18" charset="0"/>
                      </a:rPr>
                      <m:t>={</m:t>
                    </m:r>
                    <m:sSup>
                      <m:sSupPr>
                        <m:ctrlPr>
                          <a:rPr kumimoji="1" lang="en-US" altLang="ja-JP" sz="1600" b="0" i="1" smtClean="0">
                            <a:latin typeface="Cambria Math" panose="02040503050406030204" pitchFamily="18" charset="0"/>
                            <a:ea typeface="Cambria Math" panose="02040503050406030204" pitchFamily="18" charset="0"/>
                          </a:rPr>
                        </m:ctrlPr>
                      </m:sSupPr>
                      <m:e>
                        <m:r>
                          <a:rPr kumimoji="1" lang="en-US" altLang="ja-JP" sz="1600" b="0" i="1" smtClean="0">
                            <a:latin typeface="Cambria Math" panose="02040503050406030204" pitchFamily="18" charset="0"/>
                            <a:ea typeface="Cambria Math" panose="02040503050406030204" pitchFamily="18" charset="0"/>
                          </a:rPr>
                          <m:t>𝑓</m:t>
                        </m:r>
                      </m:e>
                      <m:sup>
                        <m:r>
                          <a:rPr kumimoji="1" lang="en-US" altLang="ja-JP" sz="1600" b="0" i="1" smtClean="0">
                            <a:latin typeface="Cambria Math" panose="02040503050406030204" pitchFamily="18" charset="0"/>
                            <a:ea typeface="Cambria Math" panose="02040503050406030204" pitchFamily="18" charset="0"/>
                          </a:rPr>
                          <m:t>′</m:t>
                        </m:r>
                      </m:sup>
                    </m:sSup>
                    <m:r>
                      <a:rPr kumimoji="1" lang="en-US" altLang="ja-JP" sz="1600" b="0" i="1" smtClean="0">
                        <a:latin typeface="Cambria Math" panose="02040503050406030204" pitchFamily="18" charset="0"/>
                        <a:ea typeface="Cambria Math" panose="02040503050406030204" pitchFamily="18" charset="0"/>
                      </a:rPr>
                      <m:t>∈</m:t>
                    </m:r>
                    <m:r>
                      <a:rPr kumimoji="1" lang="en-US" altLang="ja-JP" sz="1600" b="0" i="1" smtClean="0">
                        <a:latin typeface="Cambria Math" panose="02040503050406030204" pitchFamily="18" charset="0"/>
                        <a:ea typeface="Cambria Math" panose="02040503050406030204" pitchFamily="18" charset="0"/>
                      </a:rPr>
                      <m:t>ℍ</m:t>
                    </m:r>
                    <m:r>
                      <a:rPr kumimoji="1" lang="en-US" altLang="ja-JP" sz="1600" b="0" i="1" smtClean="0">
                        <a:latin typeface="Cambria Math" panose="02040503050406030204" pitchFamily="18" charset="0"/>
                        <a:ea typeface="Cambria Math" panose="02040503050406030204" pitchFamily="18" charset="0"/>
                      </a:rPr>
                      <m:t>|</m:t>
                    </m:r>
                    <m:r>
                      <a:rPr kumimoji="1" lang="en-US" altLang="ja-JP" sz="1600" b="0" i="1" smtClean="0">
                        <a:latin typeface="Cambria Math" panose="02040503050406030204" pitchFamily="18" charset="0"/>
                        <a:ea typeface="Cambria Math" panose="02040503050406030204" pitchFamily="18" charset="0"/>
                      </a:rPr>
                      <m:t>𝑑𝑖𝑠𝑡</m:t>
                    </m:r>
                    <m:d>
                      <m:dPr>
                        <m:ctrlPr>
                          <a:rPr kumimoji="1" lang="en-US" altLang="ja-JP" sz="1600" b="0" i="1" smtClean="0">
                            <a:latin typeface="Cambria Math" panose="02040503050406030204" pitchFamily="18" charset="0"/>
                            <a:ea typeface="Cambria Math" panose="02040503050406030204" pitchFamily="18" charset="0"/>
                          </a:rPr>
                        </m:ctrlPr>
                      </m:dPr>
                      <m:e>
                        <m:r>
                          <a:rPr kumimoji="1" lang="en-US" altLang="ja-JP" sz="1600" b="0" i="1" smtClean="0">
                            <a:latin typeface="Cambria Math" panose="02040503050406030204" pitchFamily="18" charset="0"/>
                            <a:ea typeface="Cambria Math" panose="02040503050406030204" pitchFamily="18" charset="0"/>
                          </a:rPr>
                          <m:t>𝑓</m:t>
                        </m:r>
                        <m:r>
                          <a:rPr kumimoji="1" lang="en-US" altLang="ja-JP" sz="1600" b="0" i="1" smtClean="0">
                            <a:latin typeface="Cambria Math" panose="02040503050406030204" pitchFamily="18" charset="0"/>
                            <a:ea typeface="Cambria Math" panose="02040503050406030204" pitchFamily="18" charset="0"/>
                          </a:rPr>
                          <m:t>,</m:t>
                        </m:r>
                        <m:sSup>
                          <m:sSupPr>
                            <m:ctrlPr>
                              <a:rPr kumimoji="1" lang="en-US" altLang="ja-JP" sz="1600" b="0" i="1" smtClean="0">
                                <a:latin typeface="Cambria Math" panose="02040503050406030204" pitchFamily="18" charset="0"/>
                                <a:ea typeface="Cambria Math" panose="02040503050406030204" pitchFamily="18" charset="0"/>
                              </a:rPr>
                            </m:ctrlPr>
                          </m:sSupPr>
                          <m:e>
                            <m:r>
                              <a:rPr kumimoji="1" lang="en-US" altLang="ja-JP" sz="1600" b="0" i="1" smtClean="0">
                                <a:latin typeface="Cambria Math" panose="02040503050406030204" pitchFamily="18" charset="0"/>
                                <a:ea typeface="Cambria Math" panose="02040503050406030204" pitchFamily="18" charset="0"/>
                              </a:rPr>
                              <m:t>𝑓</m:t>
                            </m:r>
                          </m:e>
                          <m:sup>
                            <m:r>
                              <a:rPr kumimoji="1" lang="en-US" altLang="ja-JP" sz="1600" b="0" i="1" smtClean="0">
                                <a:latin typeface="Cambria Math" panose="02040503050406030204" pitchFamily="18" charset="0"/>
                                <a:ea typeface="Cambria Math" panose="02040503050406030204" pitchFamily="18" charset="0"/>
                              </a:rPr>
                              <m:t>′</m:t>
                            </m:r>
                          </m:sup>
                        </m:sSup>
                      </m:e>
                    </m:d>
                    <m:r>
                      <a:rPr kumimoji="1" lang="en-US" altLang="ja-JP" sz="1600" b="0" i="1" smtClean="0">
                        <a:latin typeface="Cambria Math" panose="02040503050406030204" pitchFamily="18" charset="0"/>
                        <a:ea typeface="Cambria Math" panose="02040503050406030204" pitchFamily="18" charset="0"/>
                      </a:rPr>
                      <m:t>≤</m:t>
                    </m:r>
                    <m:r>
                      <a:rPr kumimoji="1" lang="en-US" altLang="ja-JP" sz="1600" b="0" i="1" smtClean="0">
                        <a:latin typeface="Cambria Math" panose="02040503050406030204" pitchFamily="18" charset="0"/>
                        <a:ea typeface="Cambria Math" panose="02040503050406030204" pitchFamily="18" charset="0"/>
                      </a:rPr>
                      <m:t>𝑟</m:t>
                    </m:r>
                    <m:r>
                      <a:rPr kumimoji="1" lang="en-US" altLang="ja-JP" sz="1600" b="0" i="1" smtClean="0">
                        <a:latin typeface="Cambria Math" panose="02040503050406030204" pitchFamily="18" charset="0"/>
                        <a:ea typeface="Cambria Math" panose="02040503050406030204" pitchFamily="18" charset="0"/>
                      </a:rPr>
                      <m:t>}</m:t>
                    </m:r>
                  </m:oMath>
                </a14:m>
                <a:r>
                  <a:rPr lang="ja-JP" altLang="en-US" sz="1600" dirty="0"/>
                  <a:t>のように</a:t>
                </a:r>
                <a14:m>
                  <m:oMath xmlns:m="http://schemas.openxmlformats.org/officeDocument/2006/math">
                    <m:r>
                      <a:rPr lang="en-US" altLang="ja-JP" sz="1600" i="1" dirty="0" smtClean="0">
                        <a:latin typeface="Cambria Math" panose="02040503050406030204" pitchFamily="18" charset="0"/>
                      </a:rPr>
                      <m:t>𝑝</m:t>
                    </m:r>
                    <m:r>
                      <a:rPr lang="en-US" altLang="ja-JP" sz="1600" b="0" i="1" dirty="0" smtClean="0">
                        <a:latin typeface="Cambria Math" panose="02040503050406030204" pitchFamily="18" charset="0"/>
                      </a:rPr>
                      <m:t>′</m:t>
                    </m:r>
                  </m:oMath>
                </a14:m>
                <a:r>
                  <a:rPr lang="ja-JP" altLang="en-US" sz="1600" dirty="0"/>
                  <a:t>は関数の集合の出現確率を測るもの</a:t>
                </a:r>
                <a:endParaRPr lang="en-US" altLang="ja-JP" sz="1600" dirty="0"/>
              </a:p>
              <a:p>
                <a:r>
                  <a:rPr lang="ja-JP" altLang="en-US" sz="1400" dirty="0"/>
                  <a:t>　　→ この例だと、関数</a:t>
                </a:r>
                <a:r>
                  <a:rPr lang="en-US" altLang="ja-JP" sz="1400" dirty="0"/>
                  <a:t>f</a:t>
                </a:r>
                <a:r>
                  <a:rPr lang="ja-JP" altLang="en-US" sz="1400" dirty="0"/>
                  <a:t>とポーランド空間上で定義される距離のもとで</a:t>
                </a:r>
                <a:r>
                  <a:rPr lang="en-US" altLang="ja-JP" sz="1400" dirty="0"/>
                  <a:t>r</a:t>
                </a:r>
                <a:r>
                  <a:rPr lang="ja-JP" altLang="en-US" sz="1400" dirty="0"/>
                  <a:t>以下の関数が選ばれる確率が</a:t>
                </a:r>
                <a:r>
                  <a:rPr lang="en-US" altLang="ja-JP" sz="1400" dirty="0"/>
                  <a:t>0.1</a:t>
                </a:r>
                <a:r>
                  <a:rPr lang="ja-JP" altLang="en-US" sz="1400" dirty="0"/>
                  <a:t>ということを表す</a:t>
                </a:r>
                <a:endParaRPr lang="en-US" altLang="ja-JP" sz="1400" dirty="0"/>
              </a:p>
            </p:txBody>
          </p:sp>
        </mc:Choice>
        <mc:Fallback xmlns="">
          <p:sp>
            <p:nvSpPr>
              <p:cNvPr id="21" name="テキスト ボックス 20">
                <a:extLst>
                  <a:ext uri="{FF2B5EF4-FFF2-40B4-BE49-F238E27FC236}">
                    <a16:creationId xmlns:a16="http://schemas.microsoft.com/office/drawing/2014/main" id="{F6FD67CB-9B83-E1A2-E218-26C89A8EB25C}"/>
                  </a:ext>
                </a:extLst>
              </p:cNvPr>
              <p:cNvSpPr txBox="1">
                <a:spLocks noRot="1" noChangeAspect="1" noMove="1" noResize="1" noEditPoints="1" noAdjustHandles="1" noChangeArrowheads="1" noChangeShapeType="1" noTextEdit="1"/>
              </p:cNvSpPr>
              <p:nvPr/>
            </p:nvSpPr>
            <p:spPr>
              <a:xfrm>
                <a:off x="421250" y="4753348"/>
                <a:ext cx="10962520" cy="1016625"/>
              </a:xfrm>
              <a:prstGeom prst="rect">
                <a:avLst/>
              </a:prstGeom>
              <a:blipFill>
                <a:blip r:embed="rId5"/>
                <a:stretch>
                  <a:fillRect l="-1279" t="-7186" b="-9581"/>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9AAF54F7-6A20-734F-6AF2-072B7A14E1AA}"/>
              </a:ext>
            </a:extLst>
          </p:cNvPr>
          <p:cNvSpPr txBox="1"/>
          <p:nvPr/>
        </p:nvSpPr>
        <p:spPr>
          <a:xfrm>
            <a:off x="342472" y="1171254"/>
            <a:ext cx="1784279" cy="523220"/>
          </a:xfrm>
          <a:prstGeom prst="rect">
            <a:avLst/>
          </a:prstGeom>
          <a:noFill/>
        </p:spPr>
        <p:txBody>
          <a:bodyPr wrap="square" rtlCol="0">
            <a:spAutoFit/>
          </a:bodyPr>
          <a:lstStyle/>
          <a:p>
            <a:r>
              <a:rPr kumimoji="1" lang="ja-JP" altLang="en-US" sz="2800" dirty="0"/>
              <a:t>色々定義</a:t>
            </a:r>
          </a:p>
        </p:txBody>
      </p:sp>
    </p:spTree>
    <p:extLst>
      <p:ext uri="{BB962C8B-B14F-4D97-AF65-F5344CB8AC3E}">
        <p14:creationId xmlns:p14="http://schemas.microsoft.com/office/powerpoint/2010/main" val="3867249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EF0F35E-74B0-2DBF-34F8-B55BF8652F35}"/>
              </a:ext>
            </a:extLst>
          </p:cNvPr>
          <p:cNvSpPr txBox="1"/>
          <p:nvPr/>
        </p:nvSpPr>
        <p:spPr>
          <a:xfrm>
            <a:off x="342471" y="441790"/>
            <a:ext cx="4691865" cy="523220"/>
          </a:xfrm>
          <a:prstGeom prst="rect">
            <a:avLst/>
          </a:prstGeom>
          <a:noFill/>
        </p:spPr>
        <p:txBody>
          <a:bodyPr wrap="square" rtlCol="0">
            <a:spAutoFit/>
          </a:bodyPr>
          <a:lstStyle/>
          <a:p>
            <a:r>
              <a:rPr kumimoji="1" lang="ja-JP" altLang="en-US" sz="2800" dirty="0"/>
              <a:t>関数空間上の変分推論</a:t>
            </a:r>
            <a:r>
              <a:rPr lang="en-US" altLang="ja-JP" sz="2800" dirty="0"/>
              <a:t>(</a:t>
            </a:r>
            <a:r>
              <a:rPr lang="en-US" altLang="ja-JP" sz="2800" dirty="0" err="1"/>
              <a:t>fVI</a:t>
            </a:r>
            <a:r>
              <a:rPr lang="en-US" altLang="ja-JP" sz="2800" dirty="0"/>
              <a:t>)</a:t>
            </a:r>
            <a:endParaRPr kumimoji="1" lang="ja-JP" altLang="en-US" sz="2800"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2824A70C-FF6C-A239-6813-4183C3CECC4A}"/>
                  </a:ext>
                </a:extLst>
              </p:cNvPr>
              <p:cNvSpPr txBox="1"/>
              <p:nvPr/>
            </p:nvSpPr>
            <p:spPr>
              <a:xfrm>
                <a:off x="542818" y="1171254"/>
                <a:ext cx="11106364" cy="1200329"/>
              </a:xfrm>
              <a:prstGeom prst="rect">
                <a:avLst/>
              </a:prstGeom>
              <a:noFill/>
            </p:spPr>
            <p:txBody>
              <a:bodyPr wrap="square" rtlCol="0">
                <a:spAutoFit/>
              </a:bodyPr>
              <a:lstStyle/>
              <a:p>
                <a:r>
                  <a:rPr lang="en-US" altLang="ja-JP" dirty="0"/>
                  <a:t>ELBO</a:t>
                </a:r>
                <a:r>
                  <a:rPr lang="ja-JP" altLang="en-US" dirty="0"/>
                  <a:t>の定義式で、関数空間でルベーグ測度</a:t>
                </a:r>
                <a:r>
                  <a:rPr lang="en-US" altLang="ja-JP" dirty="0"/>
                  <a:t>(</a:t>
                </a:r>
                <a14:m>
                  <m:oMath xmlns:m="http://schemas.openxmlformats.org/officeDocument/2006/math">
                    <m:r>
                      <a:rPr lang="ja-JP" altLang="en-US" b="0" i="1" dirty="0">
                        <a:latin typeface="Cambria Math" panose="02040503050406030204" pitchFamily="18" charset="0"/>
                      </a:rPr>
                      <m:t>≒</m:t>
                    </m:r>
                    <m:r>
                      <a:rPr lang="en-US" altLang="ja-JP" b="0" i="1" smtClean="0">
                        <a:latin typeface="Cambria Math" panose="02040503050406030204" pitchFamily="18" charset="0"/>
                      </a:rPr>
                      <m:t>𝑑</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𝑑</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𝑑</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𝑘</m:t>
                        </m:r>
                      </m:sub>
                    </m:sSub>
                  </m:oMath>
                </a14:m>
                <a:r>
                  <a:rPr lang="ja-JP" altLang="en-US" dirty="0"/>
                  <a:t>のようなもので積分ができない</a:t>
                </a:r>
                <a:r>
                  <a:rPr lang="en-US" altLang="ja-JP" dirty="0"/>
                  <a:t>)</a:t>
                </a:r>
                <a:r>
                  <a:rPr lang="ja-JP" altLang="en-US" dirty="0"/>
                  <a:t>が定義できないことにより、</a:t>
                </a:r>
                <a:r>
                  <a:rPr lang="en-US" altLang="ja-JP" dirty="0"/>
                  <a:t>KL</a:t>
                </a:r>
                <a:r>
                  <a:rPr lang="ja-JP" altLang="en-US" dirty="0"/>
                  <a:t>情報量を定義できない問題が知られている。</a:t>
                </a:r>
                <a:endParaRPr lang="en-US" altLang="ja-JP" dirty="0"/>
              </a:p>
              <a:p>
                <a:r>
                  <a:rPr lang="ja-JP" altLang="en-US" dirty="0"/>
                  <a:t>ただし、以下のような</a:t>
                </a:r>
                <a:r>
                  <a:rPr lang="en-US" altLang="ja-JP" dirty="0"/>
                  <a:t>ELBO</a:t>
                </a:r>
                <a:r>
                  <a:rPr lang="ja-JP" altLang="en-US" dirty="0"/>
                  <a:t>であれば定義することができることも知られている</a:t>
                </a:r>
                <a:r>
                  <a:rPr lang="en-US" altLang="ja-JP" dirty="0"/>
                  <a:t>(</a:t>
                </a:r>
                <a:r>
                  <a:rPr lang="en-US" altLang="ja-JP" sz="1800" dirty="0"/>
                  <a:t>Sun, S, et al., 2019.</a:t>
                </a:r>
                <a:r>
                  <a:rPr lang="en-US" altLang="ja-JP" dirty="0"/>
                  <a:t>)</a:t>
                </a:r>
                <a:r>
                  <a:rPr lang="ja-JP" altLang="en-US" dirty="0"/>
                  <a:t>ため、</a:t>
                </a:r>
                <a:r>
                  <a:rPr lang="en-US" altLang="ja-JP" dirty="0" err="1"/>
                  <a:t>fVI</a:t>
                </a:r>
                <a:r>
                  <a:rPr lang="ja-JP" altLang="en-US" dirty="0"/>
                  <a:t>では以下の</a:t>
                </a:r>
                <a:r>
                  <a:rPr lang="en-US" altLang="ja-JP" dirty="0"/>
                  <a:t>ELBO</a:t>
                </a:r>
                <a:r>
                  <a:rPr lang="ja-JP" altLang="en-US" dirty="0"/>
                  <a:t>を最大にするものを探す</a:t>
                </a:r>
                <a:r>
                  <a:rPr lang="en-US" altLang="ja-JP" dirty="0"/>
                  <a:t>:</a:t>
                </a:r>
              </a:p>
            </p:txBody>
          </p:sp>
        </mc:Choice>
        <mc:Fallback xmlns="">
          <p:sp>
            <p:nvSpPr>
              <p:cNvPr id="3" name="テキスト ボックス 2">
                <a:extLst>
                  <a:ext uri="{FF2B5EF4-FFF2-40B4-BE49-F238E27FC236}">
                    <a16:creationId xmlns:a16="http://schemas.microsoft.com/office/drawing/2014/main" id="{2824A70C-FF6C-A239-6813-4183C3CECC4A}"/>
                  </a:ext>
                </a:extLst>
              </p:cNvPr>
              <p:cNvSpPr txBox="1">
                <a:spLocks noRot="1" noChangeAspect="1" noMove="1" noResize="1" noEditPoints="1" noAdjustHandles="1" noChangeArrowheads="1" noChangeShapeType="1" noTextEdit="1"/>
              </p:cNvSpPr>
              <p:nvPr/>
            </p:nvSpPr>
            <p:spPr>
              <a:xfrm>
                <a:off x="542818" y="1171254"/>
                <a:ext cx="11106364" cy="1200329"/>
              </a:xfrm>
              <a:prstGeom prst="rect">
                <a:avLst/>
              </a:prstGeom>
              <a:blipFill>
                <a:blip r:embed="rId2"/>
                <a:stretch>
                  <a:fillRect l="-439" t="-2030" r="-1317" b="-710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11215C4-C145-81C8-DE5B-BCFA9DD6AECE}"/>
                  </a:ext>
                </a:extLst>
              </p:cNvPr>
              <p:cNvSpPr txBox="1"/>
              <p:nvPr/>
            </p:nvSpPr>
            <p:spPr>
              <a:xfrm>
                <a:off x="1604381" y="2743667"/>
                <a:ext cx="7543799" cy="5539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ℒ</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𝐸</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e>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e>
                              </m:d>
                            </m:e>
                          </m:func>
                        </m:e>
                      </m:d>
                      <m:r>
                        <a:rPr kumimoji="1" lang="en-US" altLang="ja-JP" b="0" i="1" smtClean="0">
                          <a:latin typeface="Cambria Math" panose="02040503050406030204" pitchFamily="18" charset="0"/>
                        </a:rPr>
                        <m:t>−</m:t>
                      </m:r>
                      <m:func>
                        <m:funcPr>
                          <m:ctrlPr>
                            <a:rPr kumimoji="1" lang="en-US" altLang="ja-JP" b="0" i="1" smtClean="0">
                              <a:latin typeface="Cambria Math" panose="02040503050406030204" pitchFamily="18" charset="0"/>
                            </a:rPr>
                          </m:ctrlPr>
                        </m:funcPr>
                        <m:fName>
                          <m:limLow>
                            <m:limLowPr>
                              <m:ctrlPr>
                                <a:rPr kumimoji="1" lang="en-US" altLang="ja-JP" b="0" i="1" smtClean="0">
                                  <a:latin typeface="Cambria Math" panose="02040503050406030204" pitchFamily="18" charset="0"/>
                                </a:rPr>
                              </m:ctrlPr>
                            </m:limLowPr>
                            <m:e>
                              <m:r>
                                <m:rPr>
                                  <m:sty m:val="p"/>
                                </m:rPr>
                                <a:rPr kumimoji="1" lang="en-US" altLang="ja-JP" b="0" i="0" smtClean="0">
                                  <a:latin typeface="Cambria Math" panose="02040503050406030204" pitchFamily="18" charset="0"/>
                                </a:rPr>
                                <m:t>sup</m:t>
                              </m:r>
                            </m:e>
                            <m:li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Χ</m:t>
                                  </m:r>
                                </m:e>
                                <m:sub>
                                  <m:r>
                                    <a:rPr kumimoji="1" lang="en-US" altLang="ja-JP" b="0" i="1" smtClean="0">
                                      <a:latin typeface="Cambria Math" panose="02040503050406030204" pitchFamily="18" charset="0"/>
                                    </a:rPr>
                                    <m:t>ℕ</m:t>
                                  </m:r>
                                </m:sub>
                              </m:sSub>
                            </m:lim>
                          </m:limLow>
                        </m:fName>
                        <m:e>
                          <m:r>
                            <a:rPr lang="en-US" altLang="ja-JP" i="1">
                              <a:latin typeface="Cambria Math" panose="02040503050406030204" pitchFamily="18" charset="0"/>
                            </a:rPr>
                            <m:t>𝐾𝐿</m:t>
                          </m:r>
                          <m:d>
                            <m:dPr>
                              <m:ctrlPr>
                                <a:rPr lang="en-US" altLang="ja-JP" i="1">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𝑄</m:t>
                                  </m:r>
                                </m:e>
                                <m:sub>
                                  <m:r>
                                    <a:rPr lang="en-US" altLang="ja-JP" b="0" i="1" smtClean="0">
                                      <a:latin typeface="Cambria Math" panose="02040503050406030204" pitchFamily="18" charset="0"/>
                                    </a:rPr>
                                    <m:t>𝑓</m:t>
                                  </m:r>
                                </m:sub>
                              </m:sSub>
                              <m:r>
                                <a:rPr lang="en-US" altLang="ja-JP" i="1">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0</m:t>
                                  </m:r>
                                </m:sub>
                              </m:sSub>
                              <m:r>
                                <a:rPr lang="en-US" altLang="ja-JP" i="1">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p>
                              <m:r>
                                <a:rPr lang="en-US" altLang="ja-JP" i="1">
                                  <a:latin typeface="Cambria Math" panose="02040503050406030204" pitchFamily="18" charset="0"/>
                                </a:rPr>
                                <m:t>)</m:t>
                              </m:r>
                            </m:e>
                          </m:d>
                        </m:e>
                      </m:func>
                      <m:r>
                        <a:rPr kumimoji="1" lang="en-US" altLang="ja-JP" b="0" i="1" smtClean="0">
                          <a:latin typeface="Cambria Math" panose="02040503050406030204" pitchFamily="18" charset="0"/>
                        </a:rPr>
                        <m:t>,</m:t>
                      </m:r>
                    </m:oMath>
                  </m:oMathPara>
                </a14:m>
                <a:endParaRPr kumimoji="1" lang="en-US" altLang="ja-JP" dirty="0"/>
              </a:p>
            </p:txBody>
          </p:sp>
        </mc:Choice>
        <mc:Fallback xmlns="">
          <p:sp>
            <p:nvSpPr>
              <p:cNvPr id="5" name="テキスト ボックス 4">
                <a:extLst>
                  <a:ext uri="{FF2B5EF4-FFF2-40B4-BE49-F238E27FC236}">
                    <a16:creationId xmlns:a16="http://schemas.microsoft.com/office/drawing/2014/main" id="{111215C4-C145-81C8-DE5B-BCFA9DD6AECE}"/>
                  </a:ext>
                </a:extLst>
              </p:cNvPr>
              <p:cNvSpPr txBox="1">
                <a:spLocks noRot="1" noChangeAspect="1" noMove="1" noResize="1" noEditPoints="1" noAdjustHandles="1" noChangeArrowheads="1" noChangeShapeType="1" noTextEdit="1"/>
              </p:cNvSpPr>
              <p:nvPr/>
            </p:nvSpPr>
            <p:spPr>
              <a:xfrm>
                <a:off x="1604381" y="2743667"/>
                <a:ext cx="7543799" cy="553934"/>
              </a:xfrm>
              <a:prstGeom prst="rect">
                <a:avLst/>
              </a:prstGeom>
              <a:blipFill>
                <a:blip r:embed="rId3"/>
                <a:stretch>
                  <a:fillRect b="-109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EF923690-6F36-2A37-63C1-E6692427A7C3}"/>
                  </a:ext>
                </a:extLst>
              </p:cNvPr>
              <p:cNvSpPr txBox="1"/>
              <p:nvPr/>
            </p:nvSpPr>
            <p:spPr>
              <a:xfrm>
                <a:off x="7692761" y="3423069"/>
                <a:ext cx="4159951" cy="576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𝑄</m:t>
                          </m:r>
                        </m:e>
                        <m:sub>
                          <m:r>
                            <a:rPr lang="en-US" altLang="ja-JP" sz="1200" b="0" i="1" smtClean="0">
                              <a:latin typeface="Cambria Math" panose="02040503050406030204" pitchFamily="18" charset="0"/>
                            </a:rPr>
                            <m:t>𝑓</m:t>
                          </m:r>
                        </m:sub>
                      </m:sSub>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𝑓</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e>
                      </m:d>
                      <m:r>
                        <a:rPr lang="en-US" altLang="ja-JP" sz="1200" b="0" i="1" smtClean="0">
                          <a:latin typeface="Cambria Math" panose="02040503050406030204" pitchFamily="18" charset="0"/>
                        </a:rPr>
                        <m:t>=</m:t>
                      </m:r>
                      <m:nary>
                        <m:naryPr>
                          <m:limLoc m:val="undOvr"/>
                          <m:subHide m:val="on"/>
                          <m:supHide m:val="on"/>
                          <m:ctrlPr>
                            <a:rPr lang="en-US" altLang="ja-JP" sz="1200" b="0" i="1" smtClean="0">
                              <a:latin typeface="Cambria Math" panose="02040503050406030204" pitchFamily="18" charset="0"/>
                            </a:rPr>
                          </m:ctrlPr>
                        </m:naryPr>
                        <m:sub/>
                        <m:sup/>
                        <m:e>
                          <m:r>
                            <a:rPr lang="en-US" altLang="ja-JP" sz="1200" b="0" i="1" smtClean="0">
                              <a:latin typeface="Cambria Math" panose="02040503050406030204" pitchFamily="18" charset="0"/>
                            </a:rPr>
                            <m:t>𝑞</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𝜃</m:t>
                              </m:r>
                            </m:e>
                          </m:d>
                          <m:r>
                            <a:rPr lang="en-US" altLang="ja-JP" sz="1200" b="0" i="1" smtClean="0">
                              <a:latin typeface="Cambria Math" panose="02040503050406030204" pitchFamily="18" charset="0"/>
                            </a:rPr>
                            <m:t>𝛿</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𝑓</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e>
                          </m:d>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𝑓</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𝑑𝑤</m:t>
                          </m:r>
                          <m:r>
                            <a:rPr lang="en-US" altLang="ja-JP" sz="1200" b="0" i="1" smtClean="0">
                              <a:latin typeface="Cambria Math" panose="02040503050406030204" pitchFamily="18" charset="0"/>
                            </a:rPr>
                            <m:t>′</m:t>
                          </m:r>
                        </m:e>
                      </m:nary>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𝑃</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ℍ</m:t>
                      </m:r>
                      <m:r>
                        <a:rPr lang="en-US" altLang="ja-JP" sz="1200" b="0" i="1" smtClean="0">
                          <a:latin typeface="Cambria Math" panose="02040503050406030204" pitchFamily="18" charset="0"/>
                        </a:rPr>
                        <m:t>)</m:t>
                      </m:r>
                    </m:oMath>
                  </m:oMathPara>
                </a14:m>
                <a:endParaRPr lang="en-US" altLang="ja-JP" sz="1200" dirty="0"/>
              </a:p>
            </p:txBody>
          </p:sp>
        </mc:Choice>
        <mc:Fallback xmlns="">
          <p:sp>
            <p:nvSpPr>
              <p:cNvPr id="11" name="テキスト ボックス 10">
                <a:extLst>
                  <a:ext uri="{FF2B5EF4-FFF2-40B4-BE49-F238E27FC236}">
                    <a16:creationId xmlns:a16="http://schemas.microsoft.com/office/drawing/2014/main" id="{EF923690-6F36-2A37-63C1-E6692427A7C3}"/>
                  </a:ext>
                </a:extLst>
              </p:cNvPr>
              <p:cNvSpPr txBox="1">
                <a:spLocks noRot="1" noChangeAspect="1" noMove="1" noResize="1" noEditPoints="1" noAdjustHandles="1" noChangeArrowheads="1" noChangeShapeType="1" noTextEdit="1"/>
              </p:cNvSpPr>
              <p:nvPr/>
            </p:nvSpPr>
            <p:spPr>
              <a:xfrm>
                <a:off x="7692761" y="3423069"/>
                <a:ext cx="4159951" cy="576761"/>
              </a:xfrm>
              <a:prstGeom prst="rect">
                <a:avLst/>
              </a:prstGeom>
              <a:blipFill>
                <a:blip r:embed="rId4"/>
                <a:stretch>
                  <a:fillRect t="-125532" b="-17766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43EBC286-F12C-BE80-0B71-CB623AE393A1}"/>
                  </a:ext>
                </a:extLst>
              </p:cNvPr>
              <p:cNvSpPr txBox="1"/>
              <p:nvPr/>
            </p:nvSpPr>
            <p:spPr>
              <a:xfrm>
                <a:off x="7768000" y="3860431"/>
                <a:ext cx="4009472" cy="576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𝑝</m:t>
                          </m:r>
                        </m:e>
                        <m:sub>
                          <m:r>
                            <a:rPr lang="en-US" altLang="ja-JP" sz="1200" b="0" i="1" smtClean="0">
                              <a:latin typeface="Cambria Math" panose="02040503050406030204" pitchFamily="18" charset="0"/>
                            </a:rPr>
                            <m:t>0</m:t>
                          </m:r>
                        </m:sub>
                      </m:sSub>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𝑓</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e>
                      </m:d>
                      <m:r>
                        <a:rPr lang="en-US" altLang="ja-JP" sz="1200" b="0" i="1" smtClean="0">
                          <a:latin typeface="Cambria Math" panose="02040503050406030204" pitchFamily="18" charset="0"/>
                        </a:rPr>
                        <m:t>=</m:t>
                      </m:r>
                      <m:nary>
                        <m:naryPr>
                          <m:limLoc m:val="undOvr"/>
                          <m:subHide m:val="on"/>
                          <m:supHide m:val="on"/>
                          <m:ctrlPr>
                            <a:rPr lang="en-US" altLang="ja-JP" sz="1200" b="0" i="1" smtClean="0">
                              <a:latin typeface="Cambria Math" panose="02040503050406030204" pitchFamily="18" charset="0"/>
                            </a:rPr>
                          </m:ctrlPr>
                        </m:naryPr>
                        <m:sub/>
                        <m:sup/>
                        <m:e>
                          <m:r>
                            <a:rPr lang="en-US" altLang="ja-JP" sz="1200" b="0" i="1" smtClean="0">
                              <a:latin typeface="Cambria Math" panose="02040503050406030204" pitchFamily="18" charset="0"/>
                            </a:rPr>
                            <m:t>𝑝</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𝜃</m:t>
                              </m:r>
                            </m:e>
                          </m:d>
                          <m:r>
                            <a:rPr lang="en-US" altLang="ja-JP" sz="1200" b="0" i="1" smtClean="0">
                              <a:latin typeface="Cambria Math" panose="02040503050406030204" pitchFamily="18" charset="0"/>
                            </a:rPr>
                            <m:t>𝛿</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𝑓</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e>
                          </m:d>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𝑓</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𝑑𝑤</m:t>
                          </m:r>
                          <m:r>
                            <a:rPr lang="en-US" altLang="ja-JP" sz="1200" b="0" i="1" smtClean="0">
                              <a:latin typeface="Cambria Math" panose="02040503050406030204" pitchFamily="18" charset="0"/>
                            </a:rPr>
                            <m:t>′</m:t>
                          </m:r>
                        </m:e>
                      </m:nary>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𝑃</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ℍ</m:t>
                      </m:r>
                      <m:r>
                        <a:rPr lang="en-US" altLang="ja-JP" sz="1200" b="0" i="1" smtClean="0">
                          <a:latin typeface="Cambria Math" panose="02040503050406030204" pitchFamily="18" charset="0"/>
                        </a:rPr>
                        <m:t>)</m:t>
                      </m:r>
                    </m:oMath>
                  </m:oMathPara>
                </a14:m>
                <a:endParaRPr lang="ja-JP" altLang="en-US" sz="1200" dirty="0"/>
              </a:p>
            </p:txBody>
          </p:sp>
        </mc:Choice>
        <mc:Fallback xmlns="">
          <p:sp>
            <p:nvSpPr>
              <p:cNvPr id="13" name="テキスト ボックス 12">
                <a:extLst>
                  <a:ext uri="{FF2B5EF4-FFF2-40B4-BE49-F238E27FC236}">
                    <a16:creationId xmlns:a16="http://schemas.microsoft.com/office/drawing/2014/main" id="{43EBC286-F12C-BE80-0B71-CB623AE393A1}"/>
                  </a:ext>
                </a:extLst>
              </p:cNvPr>
              <p:cNvSpPr txBox="1">
                <a:spLocks noRot="1" noChangeAspect="1" noMove="1" noResize="1" noEditPoints="1" noAdjustHandles="1" noChangeArrowheads="1" noChangeShapeType="1" noTextEdit="1"/>
              </p:cNvSpPr>
              <p:nvPr/>
            </p:nvSpPr>
            <p:spPr>
              <a:xfrm>
                <a:off x="7768000" y="3860431"/>
                <a:ext cx="4009472" cy="576761"/>
              </a:xfrm>
              <a:prstGeom prst="rect">
                <a:avLst/>
              </a:prstGeom>
              <a:blipFill>
                <a:blip r:embed="rId5"/>
                <a:stretch>
                  <a:fillRect t="-124211" b="-1747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66D35083-8712-5B2A-9B9D-BFA74ECED9E9}"/>
                  </a:ext>
                </a:extLst>
              </p:cNvPr>
              <p:cNvSpPr txBox="1"/>
              <p:nvPr/>
            </p:nvSpPr>
            <p:spPr>
              <a:xfrm>
                <a:off x="2208274" y="3624523"/>
                <a:ext cx="2777687" cy="618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400" b="0" i="1" smtClean="0">
                              <a:latin typeface="Cambria Math" panose="02040503050406030204" pitchFamily="18" charset="0"/>
                            </a:rPr>
                          </m:ctrlPr>
                        </m:sSubPr>
                        <m:e>
                          <m:r>
                            <m:rPr>
                              <m:sty m:val="p"/>
                            </m:rPr>
                            <a:rPr kumimoji="1" lang="en-US" altLang="ja-JP" sz="1400" b="0" i="0" smtClean="0">
                              <a:latin typeface="Cambria Math" panose="02040503050406030204" pitchFamily="18" charset="0"/>
                            </a:rPr>
                            <m:t>Χ</m:t>
                          </m:r>
                        </m:e>
                        <m:sub>
                          <m:r>
                            <a:rPr kumimoji="1" lang="en-US" altLang="ja-JP" sz="1400" b="0" i="1" smtClean="0">
                              <a:latin typeface="Cambria Math" panose="02040503050406030204" pitchFamily="18" charset="0"/>
                            </a:rPr>
                            <m:t>ℕ</m:t>
                          </m:r>
                        </m:sub>
                      </m:sSub>
                      <m:r>
                        <a:rPr kumimoji="1" lang="en-US" altLang="ja-JP" sz="1400" b="0" i="1" smtClean="0">
                          <a:latin typeface="Cambria Math" panose="02040503050406030204" pitchFamily="18" charset="0"/>
                        </a:rPr>
                        <m:t>≔</m:t>
                      </m:r>
                      <m:nary>
                        <m:naryPr>
                          <m:chr m:val="⋃"/>
                          <m:supHide m:val="on"/>
                          <m:ctrlPr>
                            <a:rPr kumimoji="1" lang="en-US" altLang="ja-JP" sz="1400" b="0" i="1" smtClean="0">
                              <a:latin typeface="Cambria Math" panose="02040503050406030204" pitchFamily="18" charset="0"/>
                            </a:rPr>
                          </m:ctrlPr>
                        </m:naryPr>
                        <m:sub>
                          <m:r>
                            <m:rPr>
                              <m:brk m:alnAt="7"/>
                            </m:rPr>
                            <a:rPr kumimoji="1" lang="en-US" altLang="ja-JP" sz="1400" b="0" i="1" smtClean="0">
                              <a:latin typeface="Cambria Math" panose="02040503050406030204" pitchFamily="18" charset="0"/>
                            </a:rPr>
                            <m:t>𝑛</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ℕ</m:t>
                          </m:r>
                        </m:sub>
                        <m:sup/>
                        <m:e>
                          <m:d>
                            <m:dPr>
                              <m:begChr m:val="{"/>
                              <m:endChr m:val="}"/>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𝑋</m:t>
                              </m:r>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m:rPr>
                                      <m:sty m:val="p"/>
                                    </m:rPr>
                                    <a:rPr kumimoji="1" lang="en-US" altLang="ja-JP" sz="1400" b="0" i="0" smtClean="0">
                                      <a:latin typeface="Cambria Math" panose="02040503050406030204" pitchFamily="18" charset="0"/>
                                    </a:rPr>
                                    <m:t>Χ</m:t>
                                  </m:r>
                                </m:e>
                                <m:sub>
                                  <m:r>
                                    <a:rPr kumimoji="1" lang="en-US" altLang="ja-JP" sz="1400" b="0" i="1" smtClean="0">
                                      <a:latin typeface="Cambria Math" panose="02040503050406030204" pitchFamily="18" charset="0"/>
                                    </a:rPr>
                                    <m:t>𝑛</m:t>
                                  </m:r>
                                </m:sub>
                              </m:sSub>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𝑋</m:t>
                                  </m:r>
                                </m:e>
                                <m:sub>
                                  <m:r>
                                    <a:rPr kumimoji="1" lang="en-US" altLang="ja-JP" sz="1400" b="0" i="1" smtClean="0">
                                      <a:latin typeface="Cambria Math" panose="02040503050406030204" pitchFamily="18" charset="0"/>
                                    </a:rPr>
                                    <m:t>𝑛</m:t>
                                  </m:r>
                                </m:sub>
                              </m:sSub>
                              <m:r>
                                <a:rPr kumimoji="1" lang="en-US" altLang="ja-JP" sz="1400" b="0" i="1" smtClean="0">
                                  <a:latin typeface="Cambria Math" panose="02040503050406030204" pitchFamily="18" charset="0"/>
                                  <a:ea typeface="Cambria Math" panose="02040503050406030204" pitchFamily="18" charset="0"/>
                                </a:rPr>
                                <m:t>⊆</m:t>
                              </m:r>
                              <m:sSup>
                                <m:sSupPr>
                                  <m:ctrlPr>
                                    <a:rPr kumimoji="1" lang="en-US" altLang="ja-JP" sz="1400" b="0" i="1" smtClean="0">
                                      <a:latin typeface="Cambria Math" panose="02040503050406030204" pitchFamily="18" charset="0"/>
                                      <a:ea typeface="Cambria Math" panose="02040503050406030204" pitchFamily="18" charset="0"/>
                                    </a:rPr>
                                  </m:ctrlPr>
                                </m:sSupPr>
                                <m:e>
                                  <m:r>
                                    <a:rPr kumimoji="1" lang="en-US" altLang="ja-JP" sz="1400" b="0" i="1" smtClean="0">
                                      <a:latin typeface="Cambria Math" panose="02040503050406030204" pitchFamily="18" charset="0"/>
                                      <a:ea typeface="Cambria Math" panose="02040503050406030204" pitchFamily="18" charset="0"/>
                                    </a:rPr>
                                    <m:t>ℝ</m:t>
                                  </m:r>
                                </m:e>
                                <m:sup>
                                  <m:r>
                                    <a:rPr kumimoji="1" lang="en-US" altLang="ja-JP" sz="1400" b="0" i="1" smtClean="0">
                                      <a:latin typeface="Cambria Math" panose="02040503050406030204" pitchFamily="18" charset="0"/>
                                      <a:ea typeface="Cambria Math" panose="02040503050406030204" pitchFamily="18" charset="0"/>
                                    </a:rPr>
                                    <m:t>𝑛</m:t>
                                  </m:r>
                                  <m:r>
                                    <a:rPr kumimoji="1" lang="en-US" altLang="ja-JP" sz="1400" b="0" i="1" smtClean="0">
                                      <a:latin typeface="Cambria Math" panose="02040503050406030204" pitchFamily="18" charset="0"/>
                                      <a:ea typeface="Cambria Math" panose="02040503050406030204" pitchFamily="18" charset="0"/>
                                    </a:rPr>
                                    <m:t>×</m:t>
                                  </m:r>
                                  <m:r>
                                    <a:rPr kumimoji="1" lang="en-US" altLang="ja-JP" sz="1400" b="0" i="1" smtClean="0">
                                      <a:latin typeface="Cambria Math" panose="02040503050406030204" pitchFamily="18" charset="0"/>
                                      <a:ea typeface="Cambria Math" panose="02040503050406030204" pitchFamily="18" charset="0"/>
                                    </a:rPr>
                                    <m:t>𝑝</m:t>
                                  </m:r>
                                </m:sup>
                              </m:sSup>
                            </m:e>
                          </m:d>
                        </m:e>
                      </m:nary>
                    </m:oMath>
                  </m:oMathPara>
                </a14:m>
                <a:endParaRPr lang="ja-JP" altLang="en-US" sz="1400" dirty="0"/>
              </a:p>
            </p:txBody>
          </p:sp>
        </mc:Choice>
        <mc:Fallback xmlns="">
          <p:sp>
            <p:nvSpPr>
              <p:cNvPr id="15" name="テキスト ボックス 14">
                <a:extLst>
                  <a:ext uri="{FF2B5EF4-FFF2-40B4-BE49-F238E27FC236}">
                    <a16:creationId xmlns:a16="http://schemas.microsoft.com/office/drawing/2014/main" id="{66D35083-8712-5B2A-9B9D-BFA74ECED9E9}"/>
                  </a:ext>
                </a:extLst>
              </p:cNvPr>
              <p:cNvSpPr txBox="1">
                <a:spLocks noRot="1" noChangeAspect="1" noMove="1" noResize="1" noEditPoints="1" noAdjustHandles="1" noChangeArrowheads="1" noChangeShapeType="1" noTextEdit="1"/>
              </p:cNvSpPr>
              <p:nvPr/>
            </p:nvSpPr>
            <p:spPr>
              <a:xfrm>
                <a:off x="2208274" y="3624523"/>
                <a:ext cx="2777687" cy="618567"/>
              </a:xfrm>
              <a:prstGeom prst="rect">
                <a:avLst/>
              </a:prstGeom>
              <a:blipFill>
                <a:blip r:embed="rId6"/>
                <a:stretch>
                  <a:fillRect t="-119802" b="-169307"/>
                </a:stretch>
              </a:blipFill>
            </p:spPr>
            <p:txBody>
              <a:bodyPr/>
              <a:lstStyle/>
              <a:p>
                <a:r>
                  <a:rPr lang="ja-JP" altLang="en-US">
                    <a:noFill/>
                  </a:rPr>
                  <a:t> </a:t>
                </a:r>
              </a:p>
            </p:txBody>
          </p:sp>
        </mc:Fallback>
      </mc:AlternateContent>
      <p:sp>
        <p:nvSpPr>
          <p:cNvPr id="16" name="テキスト ボックス 15">
            <a:extLst>
              <a:ext uri="{FF2B5EF4-FFF2-40B4-BE49-F238E27FC236}">
                <a16:creationId xmlns:a16="http://schemas.microsoft.com/office/drawing/2014/main" id="{3DF8AF6B-A498-B8E3-18DC-26804D274CB0}"/>
              </a:ext>
            </a:extLst>
          </p:cNvPr>
          <p:cNvSpPr txBox="1"/>
          <p:nvPr/>
        </p:nvSpPr>
        <p:spPr>
          <a:xfrm>
            <a:off x="1949761" y="3278006"/>
            <a:ext cx="912311" cy="369332"/>
          </a:xfrm>
          <a:prstGeom prst="rect">
            <a:avLst/>
          </a:prstGeom>
          <a:noFill/>
        </p:spPr>
        <p:txBody>
          <a:bodyPr wrap="square" rtlCol="0">
            <a:spAutoFit/>
          </a:bodyPr>
          <a:lstStyle/>
          <a:p>
            <a:r>
              <a:rPr lang="ja-JP" altLang="en-US" dirty="0"/>
              <a:t>ここで</a:t>
            </a:r>
            <a:endParaRPr kumimoji="1" lang="ja-JP" altLang="en-US" dirty="0"/>
          </a:p>
        </p:txBody>
      </p:sp>
      <p:cxnSp>
        <p:nvCxnSpPr>
          <p:cNvPr id="19" name="直線コネクタ 18">
            <a:extLst>
              <a:ext uri="{FF2B5EF4-FFF2-40B4-BE49-F238E27FC236}">
                <a16:creationId xmlns:a16="http://schemas.microsoft.com/office/drawing/2014/main" id="{640E1A40-A21A-0B85-187C-C73B8A194217}"/>
              </a:ext>
            </a:extLst>
          </p:cNvPr>
          <p:cNvCxnSpPr>
            <a:cxnSpLocks/>
          </p:cNvCxnSpPr>
          <p:nvPr/>
        </p:nvCxnSpPr>
        <p:spPr>
          <a:xfrm>
            <a:off x="5568872" y="3357835"/>
            <a:ext cx="2871216" cy="654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5A317A76-1BF4-AC0F-DBD5-AED92FEEE8FF}"/>
              </a:ext>
            </a:extLst>
          </p:cNvPr>
          <p:cNvSpPr txBox="1"/>
          <p:nvPr/>
        </p:nvSpPr>
        <p:spPr>
          <a:xfrm>
            <a:off x="3657427" y="4441131"/>
            <a:ext cx="5760720" cy="646331"/>
          </a:xfrm>
          <a:prstGeom prst="rect">
            <a:avLst/>
          </a:prstGeom>
          <a:noFill/>
        </p:spPr>
        <p:txBody>
          <a:bodyPr wrap="square" rtlCol="0">
            <a:spAutoFit/>
          </a:bodyPr>
          <a:lstStyle/>
          <a:p>
            <a:r>
              <a:rPr kumimoji="1" lang="ja-JP" altLang="en-US" dirty="0"/>
              <a:t>近似事後分布で事前分布を上手く表現できていない入力で最悪評価する形の罰則項</a:t>
            </a:r>
            <a:endParaRPr kumimoji="1" lang="en-US" altLang="ja-JP" dirty="0"/>
          </a:p>
        </p:txBody>
      </p:sp>
      <p:cxnSp>
        <p:nvCxnSpPr>
          <p:cNvPr id="23" name="直線矢印コネクタ 22">
            <a:extLst>
              <a:ext uri="{FF2B5EF4-FFF2-40B4-BE49-F238E27FC236}">
                <a16:creationId xmlns:a16="http://schemas.microsoft.com/office/drawing/2014/main" id="{53298695-E044-C3A7-F588-70006F04642D}"/>
              </a:ext>
            </a:extLst>
          </p:cNvPr>
          <p:cNvCxnSpPr>
            <a:stCxn id="21" idx="0"/>
          </p:cNvCxnSpPr>
          <p:nvPr/>
        </p:nvCxnSpPr>
        <p:spPr>
          <a:xfrm flipV="1">
            <a:off x="6537787" y="3364377"/>
            <a:ext cx="548813" cy="10767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F4736D2D-5884-10FE-0307-37C997477E86}"/>
                  </a:ext>
                </a:extLst>
              </p:cNvPr>
              <p:cNvSpPr txBox="1"/>
              <p:nvPr/>
            </p:nvSpPr>
            <p:spPr>
              <a:xfrm>
                <a:off x="1516979" y="5492617"/>
                <a:ext cx="9702400" cy="830997"/>
              </a:xfrm>
              <a:prstGeom prst="rect">
                <a:avLst/>
              </a:prstGeom>
              <a:noFill/>
            </p:spPr>
            <p:txBody>
              <a:bodyPr wrap="square">
                <a:spAutoFit/>
              </a:bodyPr>
              <a:lstStyle/>
              <a:p>
                <a:r>
                  <a:rPr lang="en-US" altLang="ja-JP" dirty="0"/>
                  <a:t>fVI</a:t>
                </a:r>
                <a:r>
                  <a:rPr lang="ja-JP" altLang="en-US" dirty="0"/>
                  <a:t>の目的関数の概念</a:t>
                </a:r>
                <a:r>
                  <a:rPr lang="en-US" altLang="ja-JP" dirty="0"/>
                  <a:t>:</a:t>
                </a:r>
              </a:p>
              <a:p>
                <a:r>
                  <a:rPr lang="ja-JP" altLang="en-US" sz="1600" dirty="0"/>
                  <a:t>関数的に事前分布に近いものを選びつつ、それっぽい期待値の関数を選ぶような最適化が行われる</a:t>
                </a:r>
                <a:endParaRPr lang="en-US" altLang="ja-JP" sz="1600" dirty="0"/>
              </a:p>
              <a:p>
                <a:r>
                  <a:rPr lang="en-US" altLang="ja-JP" sz="1400" dirty="0"/>
                  <a:t>※ </a:t>
                </a:r>
                <a:r>
                  <a:rPr lang="ja-JP" altLang="en-US" sz="1400" dirty="0"/>
                  <a:t>通常のガウス過程と違って、関数は</a:t>
                </a:r>
                <a14:m>
                  <m:oMath xmlns:m="http://schemas.openxmlformats.org/officeDocument/2006/math">
                    <m:r>
                      <a:rPr lang="en-US" altLang="ja-JP" sz="1400" b="0" i="1" smtClean="0">
                        <a:latin typeface="Cambria Math" panose="02040503050406030204" pitchFamily="18" charset="0"/>
                      </a:rPr>
                      <m:t>𝑓</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𝑤</m:t>
                    </m:r>
                    <m:r>
                      <a:rPr lang="en-US" altLang="ja-JP" sz="1400" b="0" i="1" smtClean="0">
                        <a:latin typeface="Cambria Math" panose="02040503050406030204" pitchFamily="18" charset="0"/>
                      </a:rPr>
                      <m:t>)</m:t>
                    </m:r>
                  </m:oMath>
                </a14:m>
                <a:r>
                  <a:rPr lang="ja-JP" altLang="en-US" sz="1400" dirty="0"/>
                  <a:t>の形で明示的に与えているので微分すると、パラメータの微分も出てくる</a:t>
                </a:r>
                <a:endParaRPr lang="en-US" altLang="ja-JP" sz="1400" dirty="0"/>
              </a:p>
            </p:txBody>
          </p:sp>
        </mc:Choice>
        <mc:Fallback xmlns="">
          <p:sp>
            <p:nvSpPr>
              <p:cNvPr id="25" name="テキスト ボックス 24">
                <a:extLst>
                  <a:ext uri="{FF2B5EF4-FFF2-40B4-BE49-F238E27FC236}">
                    <a16:creationId xmlns:a16="http://schemas.microsoft.com/office/drawing/2014/main" id="{F4736D2D-5884-10FE-0307-37C997477E86}"/>
                  </a:ext>
                </a:extLst>
              </p:cNvPr>
              <p:cNvSpPr txBox="1">
                <a:spLocks noRot="1" noChangeAspect="1" noMove="1" noResize="1" noEditPoints="1" noAdjustHandles="1" noChangeArrowheads="1" noChangeShapeType="1" noTextEdit="1"/>
              </p:cNvSpPr>
              <p:nvPr/>
            </p:nvSpPr>
            <p:spPr>
              <a:xfrm>
                <a:off x="1516979" y="5492617"/>
                <a:ext cx="9702400" cy="830997"/>
              </a:xfrm>
              <a:prstGeom prst="rect">
                <a:avLst/>
              </a:prstGeom>
              <a:blipFill>
                <a:blip r:embed="rId7"/>
                <a:stretch>
                  <a:fillRect l="-566" t="-3676" b="-7353"/>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6451BD96-FCC8-5D4B-EF84-3536689F0139}"/>
              </a:ext>
            </a:extLst>
          </p:cNvPr>
          <p:cNvSpPr txBox="1"/>
          <p:nvPr/>
        </p:nvSpPr>
        <p:spPr>
          <a:xfrm>
            <a:off x="5306469" y="494610"/>
            <a:ext cx="6267237" cy="523220"/>
          </a:xfrm>
          <a:prstGeom prst="rect">
            <a:avLst/>
          </a:prstGeom>
          <a:noFill/>
        </p:spPr>
        <p:txBody>
          <a:bodyPr wrap="square">
            <a:spAutoFit/>
          </a:bodyPr>
          <a:lstStyle/>
          <a:p>
            <a:r>
              <a:rPr lang="en-US" altLang="ja-JP" sz="1400" b="0" i="0" dirty="0" err="1">
                <a:solidFill>
                  <a:srgbClr val="222222"/>
                </a:solidFill>
                <a:effectLst/>
                <a:latin typeface="Arial" panose="020B0604020202020204" pitchFamily="34" charset="0"/>
              </a:rPr>
              <a:t>fVI</a:t>
            </a:r>
            <a:r>
              <a:rPr lang="ja-JP" altLang="en-US" sz="1400" b="0" i="0" dirty="0">
                <a:solidFill>
                  <a:srgbClr val="222222"/>
                </a:solidFill>
                <a:effectLst/>
                <a:latin typeface="Arial" panose="020B0604020202020204" pitchFamily="34" charset="0"/>
              </a:rPr>
              <a:t>のベース論文</a:t>
            </a:r>
            <a:r>
              <a:rPr lang="en-US" altLang="ja-JP" sz="1400" b="0" i="0" dirty="0">
                <a:solidFill>
                  <a:srgbClr val="222222"/>
                </a:solidFill>
                <a:effectLst/>
                <a:latin typeface="Arial" panose="020B0604020202020204" pitchFamily="34" charset="0"/>
              </a:rPr>
              <a:t>: Rudner, Tim GJ, et al. "Tractable function-space variational inference in </a:t>
            </a:r>
            <a:r>
              <a:rPr lang="en-US" altLang="ja-JP" sz="1400" b="0" i="0" dirty="0" err="1">
                <a:solidFill>
                  <a:srgbClr val="222222"/>
                </a:solidFill>
                <a:effectLst/>
                <a:latin typeface="Arial" panose="020B0604020202020204" pitchFamily="34" charset="0"/>
              </a:rPr>
              <a:t>bayesian</a:t>
            </a:r>
            <a:r>
              <a:rPr lang="en-US" altLang="ja-JP" sz="1400" b="0" i="0" dirty="0">
                <a:solidFill>
                  <a:srgbClr val="222222"/>
                </a:solidFill>
                <a:effectLst/>
                <a:latin typeface="Arial" panose="020B0604020202020204" pitchFamily="34" charset="0"/>
              </a:rPr>
              <a:t> neural networks.“, 2022</a:t>
            </a:r>
            <a:endParaRPr lang="ja-JP" altLang="en-US" sz="1400" dirty="0"/>
          </a:p>
        </p:txBody>
      </p:sp>
    </p:spTree>
    <p:extLst>
      <p:ext uri="{BB962C8B-B14F-4D97-AF65-F5344CB8AC3E}">
        <p14:creationId xmlns:p14="http://schemas.microsoft.com/office/powerpoint/2010/main" val="2539400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82C5A1-F121-C27C-1E6C-C3F7E4976D5E}"/>
              </a:ext>
            </a:extLst>
          </p:cNvPr>
          <p:cNvSpPr txBox="1"/>
          <p:nvPr/>
        </p:nvSpPr>
        <p:spPr>
          <a:xfrm>
            <a:off x="351616" y="421446"/>
            <a:ext cx="2464736" cy="523220"/>
          </a:xfrm>
          <a:prstGeom prst="rect">
            <a:avLst/>
          </a:prstGeom>
          <a:noFill/>
        </p:spPr>
        <p:txBody>
          <a:bodyPr wrap="square" rtlCol="0">
            <a:spAutoFit/>
          </a:bodyPr>
          <a:lstStyle/>
          <a:p>
            <a:r>
              <a:rPr lang="en-US" altLang="ja-JP" sz="2800" dirty="0" err="1"/>
              <a:t>fVI</a:t>
            </a:r>
            <a:r>
              <a:rPr lang="ja-JP" altLang="en-US" sz="2800" dirty="0"/>
              <a:t>の実装方法</a:t>
            </a:r>
            <a:endParaRPr kumimoji="1" lang="ja-JP" altLang="en-US" sz="2800" dirty="0"/>
          </a:p>
        </p:txBody>
      </p:sp>
      <p:sp>
        <p:nvSpPr>
          <p:cNvPr id="4" name="テキスト ボックス 3">
            <a:extLst>
              <a:ext uri="{FF2B5EF4-FFF2-40B4-BE49-F238E27FC236}">
                <a16:creationId xmlns:a16="http://schemas.microsoft.com/office/drawing/2014/main" id="{B9246C09-F7E9-15A5-496B-32D03B192494}"/>
              </a:ext>
            </a:extLst>
          </p:cNvPr>
          <p:cNvSpPr txBox="1"/>
          <p:nvPr/>
        </p:nvSpPr>
        <p:spPr>
          <a:xfrm>
            <a:off x="542818" y="1171254"/>
            <a:ext cx="6033526" cy="338554"/>
          </a:xfrm>
          <a:prstGeom prst="rect">
            <a:avLst/>
          </a:prstGeom>
          <a:noFill/>
        </p:spPr>
        <p:txBody>
          <a:bodyPr wrap="square" rtlCol="0">
            <a:spAutoFit/>
          </a:bodyPr>
          <a:lstStyle/>
          <a:p>
            <a:r>
              <a:rPr lang="ja-JP" altLang="en-US" sz="1600" dirty="0"/>
              <a:t>この論文で実装されている方法を簡単に紹介</a:t>
            </a:r>
            <a:r>
              <a:rPr lang="en-US" altLang="ja-JP" sz="1600" dirty="0"/>
              <a:t>: Tractable</a:t>
            </a:r>
            <a:r>
              <a:rPr lang="ja-JP" altLang="en-US" sz="1600" dirty="0"/>
              <a:t>の論文</a:t>
            </a:r>
            <a:endParaRPr lang="en-US" altLang="ja-JP" sz="1600"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58B5634-D71D-0BE5-7886-EFD3AE5C15CD}"/>
                  </a:ext>
                </a:extLst>
              </p:cNvPr>
              <p:cNvSpPr txBox="1"/>
              <p:nvPr/>
            </p:nvSpPr>
            <p:spPr>
              <a:xfrm>
                <a:off x="694944" y="1714768"/>
                <a:ext cx="11292840" cy="1933927"/>
              </a:xfrm>
              <a:prstGeom prst="rect">
                <a:avLst/>
              </a:prstGeom>
              <a:noFill/>
            </p:spPr>
            <p:txBody>
              <a:bodyPr wrap="square" rtlCol="0">
                <a:spAutoFit/>
              </a:bodyPr>
              <a:lstStyle/>
              <a:p>
                <a:r>
                  <a:rPr kumimoji="1" lang="ja-JP" altLang="en-US" sz="1400" dirty="0"/>
                  <a:t>・</a:t>
                </a:r>
                <a:r>
                  <a:rPr lang="ja-JP" altLang="en-US" sz="1400" dirty="0"/>
                  <a:t>一項目の計算</a:t>
                </a:r>
                <a:r>
                  <a:rPr lang="en-US" altLang="ja-JP" sz="1400" dirty="0"/>
                  <a:t>: </a:t>
                </a:r>
                <a:r>
                  <a:rPr kumimoji="1" lang="ja-JP" altLang="en-US" sz="1400" dirty="0"/>
                  <a:t>適当な確率論</a:t>
                </a:r>
                <a:r>
                  <a:rPr kumimoji="1" lang="en-US" altLang="ja-JP" sz="1400" dirty="0"/>
                  <a:t>(e.g. </a:t>
                </a:r>
                <a:r>
                  <a:rPr kumimoji="1" lang="ja-JP" altLang="en-US" sz="1400" dirty="0"/>
                  <a:t>渡辺</a:t>
                </a:r>
                <a:r>
                  <a:rPr kumimoji="1" lang="en-US" altLang="ja-JP" sz="1400" dirty="0"/>
                  <a:t>, </a:t>
                </a:r>
                <a:r>
                  <a:rPr kumimoji="1" lang="ja-JP" altLang="en-US" sz="1400" dirty="0"/>
                  <a:t>村田</a:t>
                </a:r>
                <a:r>
                  <a:rPr kumimoji="1" lang="en-US" altLang="ja-JP" sz="1400" dirty="0"/>
                  <a:t>, “</a:t>
                </a:r>
                <a:r>
                  <a:rPr lang="ja-JP" altLang="en-US" sz="1400" dirty="0"/>
                  <a:t>確率と統計</a:t>
                </a:r>
                <a:r>
                  <a:rPr kumimoji="1" lang="en-US" altLang="ja-JP" sz="1400" dirty="0"/>
                  <a:t>”, 2005, </a:t>
                </a:r>
                <a:r>
                  <a:rPr kumimoji="1" lang="ja-JP" altLang="en-US" sz="1400" dirty="0"/>
                  <a:t>定理</a:t>
                </a:r>
                <a:r>
                  <a:rPr kumimoji="1" lang="en-US" altLang="ja-JP" sz="1400" dirty="0"/>
                  <a:t>2.1)</a:t>
                </a:r>
                <a:r>
                  <a:rPr kumimoji="1" lang="ja-JP" altLang="en-US" sz="1400" dirty="0"/>
                  <a:t>の本を読むと、</a:t>
                </a:r>
                <a:endParaRPr kumimoji="1" lang="en-US" altLang="ja-JP" sz="1400" dirty="0"/>
              </a:p>
              <a:p>
                <a:pPr/>
                <a14:m>
                  <m:oMathPara xmlns:m="http://schemas.openxmlformats.org/officeDocument/2006/math">
                    <m:oMathParaPr>
                      <m:jc m:val="centerGroup"/>
                    </m:oMathParaPr>
                    <m:oMath xmlns:m="http://schemas.openxmlformats.org/officeDocument/2006/math">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𝑄</m:t>
                          </m:r>
                        </m:e>
                        <m:sub>
                          <m:r>
                            <a:rPr lang="en-US" altLang="ja-JP" sz="1400" b="0" i="1" smtClean="0">
                              <a:latin typeface="Cambria Math" panose="02040503050406030204" pitchFamily="18" charset="0"/>
                            </a:rPr>
                            <m:t>𝑓</m:t>
                          </m:r>
                        </m:sub>
                      </m:sSub>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𝑓</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𝑤</m:t>
                          </m:r>
                          <m:r>
                            <a:rPr lang="en-US" altLang="ja-JP" sz="1400" b="0" i="1" smtClean="0">
                              <a:latin typeface="Cambria Math" panose="02040503050406030204" pitchFamily="18" charset="0"/>
                            </a:rPr>
                            <m:t>)</m:t>
                          </m:r>
                        </m:e>
                      </m:d>
                      <m:r>
                        <a:rPr lang="en-US" altLang="ja-JP" sz="1400" b="0" i="1" smtClean="0">
                          <a:latin typeface="Cambria Math" panose="02040503050406030204" pitchFamily="18" charset="0"/>
                        </a:rPr>
                        <m:t>=</m:t>
                      </m:r>
                      <m:nary>
                        <m:naryPr>
                          <m:limLoc m:val="undOvr"/>
                          <m:subHide m:val="on"/>
                          <m:supHide m:val="on"/>
                          <m:ctrlPr>
                            <a:rPr lang="en-US" altLang="ja-JP" sz="1400" b="0" i="1" smtClean="0">
                              <a:latin typeface="Cambria Math" panose="02040503050406030204" pitchFamily="18" charset="0"/>
                            </a:rPr>
                          </m:ctrlPr>
                        </m:naryPr>
                        <m:sub/>
                        <m:sup/>
                        <m:e>
                          <m:r>
                            <a:rPr lang="en-US" altLang="ja-JP" sz="1400" b="0" i="1" smtClean="0">
                              <a:latin typeface="Cambria Math" panose="02040503050406030204" pitchFamily="18" charset="0"/>
                            </a:rPr>
                            <m:t>𝑞</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𝑤</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𝜃</m:t>
                              </m:r>
                            </m:e>
                          </m:d>
                          <m:r>
                            <a:rPr lang="en-US" altLang="ja-JP" sz="1400" b="0" i="1" smtClean="0">
                              <a:latin typeface="Cambria Math" panose="02040503050406030204" pitchFamily="18" charset="0"/>
                            </a:rPr>
                            <m:t>𝛿</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𝑓</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𝑤</m:t>
                              </m:r>
                            </m:e>
                          </m:d>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𝑓</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𝑤</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𝑑𝑤</m:t>
                          </m:r>
                          <m:r>
                            <a:rPr lang="en-US" altLang="ja-JP" sz="1400" b="0" i="1" smtClean="0">
                              <a:latin typeface="Cambria Math" panose="02040503050406030204" pitchFamily="18" charset="0"/>
                            </a:rPr>
                            <m:t>′</m:t>
                          </m:r>
                        </m:e>
                      </m:nary>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𝑃</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ℍ</m:t>
                      </m:r>
                      <m:r>
                        <a:rPr lang="en-US" altLang="ja-JP" sz="1400" b="0" i="1" smtClean="0">
                          <a:latin typeface="Cambria Math" panose="02040503050406030204" pitchFamily="18" charset="0"/>
                        </a:rPr>
                        <m:t>)</m:t>
                      </m:r>
                    </m:oMath>
                  </m:oMathPara>
                </a14:m>
                <a:endParaRPr kumimoji="1" lang="en-US" altLang="ja-JP" sz="1400" dirty="0"/>
              </a:p>
              <a:p>
                <a:r>
                  <a:rPr kumimoji="1" lang="ja-JP" altLang="en-US" sz="1400" dirty="0"/>
                  <a:t>は、</a:t>
                </a:r>
                <a14:m>
                  <m:oMath xmlns:m="http://schemas.openxmlformats.org/officeDocument/2006/math">
                    <m:r>
                      <a:rPr kumimoji="1" lang="en-US" altLang="ja-JP" sz="1400" b="0" i="1" smtClean="0">
                        <a:latin typeface="Cambria Math" panose="02040503050406030204" pitchFamily="18" charset="0"/>
                      </a:rPr>
                      <m:t>𝑤</m:t>
                    </m:r>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𝑤</m:t>
                        </m:r>
                      </m:sub>
                    </m:sSub>
                  </m:oMath>
                </a14:m>
                <a:r>
                  <a:rPr kumimoji="1" lang="ja-JP" altLang="en-US" sz="1400" dirty="0"/>
                  <a:t>に</a:t>
                </a:r>
                <a14:m>
                  <m:oMath xmlns:m="http://schemas.openxmlformats.org/officeDocument/2006/math">
                    <m:r>
                      <a:rPr kumimoji="1" lang="en-US" altLang="ja-JP" sz="1400" b="0" i="1" smtClean="0">
                        <a:latin typeface="Cambria Math" panose="02040503050406030204" pitchFamily="18" charset="0"/>
                      </a:rPr>
                      <m:t>𝑓</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r>
                      <a:rPr kumimoji="1" lang="en-US" altLang="ja-JP" sz="1400" b="0" i="1" smtClean="0">
                        <a:latin typeface="Cambria Math" panose="02040503050406030204" pitchFamily="18" charset="0"/>
                      </a:rPr>
                      <m:t>)</m:t>
                    </m:r>
                  </m:oMath>
                </a14:m>
                <a:r>
                  <a:rPr kumimoji="1" lang="ja-JP" altLang="en-US" sz="1400" dirty="0"/>
                  <a:t>を適用した時の</a:t>
                </a:r>
                <a14:m>
                  <m:oMath xmlns:m="http://schemas.openxmlformats.org/officeDocument/2006/math">
                    <m:r>
                      <a:rPr lang="en-US" altLang="ja-JP" sz="1400" b="0" i="1" smtClean="0">
                        <a:latin typeface="Cambria Math" panose="02040503050406030204" pitchFamily="18" charset="0"/>
                      </a:rPr>
                      <m:t>𝑓</m:t>
                    </m:r>
                  </m:oMath>
                </a14:m>
                <a:r>
                  <a:rPr kumimoji="1" lang="ja-JP" altLang="en-US" sz="1400" dirty="0"/>
                  <a:t>が従う確率測度であることが分かるので、</a:t>
                </a:r>
                <a14:m>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𝑤</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𝑁</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𝑚</m:t>
                    </m:r>
                    <m:r>
                      <a:rPr kumimoji="1" lang="en-US" altLang="ja-JP" sz="1400" b="0" i="1" smtClean="0">
                        <a:latin typeface="Cambria Math" panose="02040503050406030204" pitchFamily="18" charset="0"/>
                      </a:rPr>
                      <m:t>,</m:t>
                    </m:r>
                    <m:r>
                      <m:rPr>
                        <m:sty m:val="p"/>
                      </m:rPr>
                      <a:rPr kumimoji="1" lang="en-US" altLang="ja-JP" sz="1400" b="0" i="0" smtClean="0">
                        <a:latin typeface="Cambria Math" panose="02040503050406030204" pitchFamily="18" charset="0"/>
                      </a:rPr>
                      <m:t>Σ</m:t>
                    </m:r>
                    <m:r>
                      <a:rPr kumimoji="1" lang="en-US" altLang="ja-JP" sz="1400" b="0" i="1" smtClean="0">
                        <a:latin typeface="Cambria Math" panose="02040503050406030204" pitchFamily="18" charset="0"/>
                      </a:rPr>
                      <m:t>)</m:t>
                    </m:r>
                  </m:oMath>
                </a14:m>
                <a:r>
                  <a:rPr kumimoji="1" lang="ja-JP" altLang="en-US" sz="1400" dirty="0"/>
                  <a:t>として</a:t>
                </a:r>
                <a:endParaRPr kumimoji="1" lang="en-US" altLang="ja-JP" sz="1400" dirty="0"/>
              </a:p>
              <a:p>
                <a:pPr/>
                <a14:m>
                  <m:oMathPara xmlns:m="http://schemas.openxmlformats.org/officeDocument/2006/math">
                    <m:oMathParaPr>
                      <m:jc m:val="centerGroup"/>
                    </m:oMathParaPr>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𝐸</m:t>
                          </m:r>
                        </m:e>
                        <m:sub>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𝑓</m:t>
                              </m:r>
                            </m:sub>
                          </m:sSub>
                        </m:sub>
                      </m:sSub>
                      <m:d>
                        <m:dPr>
                          <m:begChr m:val="["/>
                          <m:endChr m:val="]"/>
                          <m:ctrlPr>
                            <a:rPr kumimoji="1" lang="en-US" altLang="ja-JP" sz="1400" b="0" i="1" smtClean="0">
                              <a:latin typeface="Cambria Math" panose="02040503050406030204" pitchFamily="18" charset="0"/>
                            </a:rPr>
                          </m:ctrlPr>
                        </m:dPr>
                        <m:e>
                          <m:func>
                            <m:funcPr>
                              <m:ctrlPr>
                                <a:rPr kumimoji="1" lang="en-US" altLang="ja-JP" sz="1400" b="0" i="1" smtClean="0">
                                  <a:latin typeface="Cambria Math" panose="02040503050406030204" pitchFamily="18" charset="0"/>
                                </a:rPr>
                              </m:ctrlPr>
                            </m:funcPr>
                            <m:fName>
                              <m:r>
                                <m:rPr>
                                  <m:sty m:val="p"/>
                                </m:rPr>
                                <a:rPr kumimoji="1" lang="en-US" altLang="ja-JP" sz="1400" b="0" i="0" smtClean="0">
                                  <a:latin typeface="Cambria Math" panose="02040503050406030204" pitchFamily="18" charset="0"/>
                                </a:rPr>
                                <m:t>log</m:t>
                              </m:r>
                            </m:fName>
                            <m:e>
                              <m:r>
                                <a:rPr kumimoji="1" lang="en-US" altLang="ja-JP" sz="1400" b="0" i="1" smtClean="0">
                                  <a:latin typeface="Cambria Math" panose="02040503050406030204" pitchFamily="18" charset="0"/>
                                </a:rPr>
                                <m:t>𝑝</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𝑌</m:t>
                                      </m:r>
                                    </m:e>
                                    <m:sub>
                                      <m:r>
                                        <a:rPr kumimoji="1" lang="en-US" altLang="ja-JP" sz="1400" b="0" i="1" smtClean="0">
                                          <a:latin typeface="Cambria Math" panose="02040503050406030204" pitchFamily="18" charset="0"/>
                                        </a:rPr>
                                        <m:t>𝐷</m:t>
                                      </m:r>
                                    </m:sub>
                                  </m:sSub>
                                </m:e>
                                <m:e>
                                  <m:r>
                                    <a:rPr kumimoji="1" lang="en-US" altLang="ja-JP" sz="1400" b="0" i="1" smtClean="0">
                                      <a:latin typeface="Cambria Math" panose="02040503050406030204" pitchFamily="18" charset="0"/>
                                    </a:rPr>
                                    <m:t>𝑓</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𝑋</m:t>
                                          </m:r>
                                        </m:e>
                                        <m:sub>
                                          <m:r>
                                            <a:rPr kumimoji="1" lang="en-US" altLang="ja-JP" sz="1400" b="0" i="1" smtClean="0">
                                              <a:latin typeface="Cambria Math" panose="02040503050406030204" pitchFamily="18" charset="0"/>
                                            </a:rPr>
                                            <m:t>𝐷</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e>
                                  </m:d>
                                </m:e>
                              </m:d>
                            </m:e>
                          </m:func>
                        </m:e>
                      </m:d>
                      <m:r>
                        <a:rPr kumimoji="1" lang="en-US" altLang="ja-JP" sz="1400" b="0" i="1" smtClean="0">
                          <a:latin typeface="Cambria Math" panose="02040503050406030204" pitchFamily="18" charset="0"/>
                        </a:rPr>
                        <m:t>=</m:t>
                      </m:r>
                      <m:f>
                        <m:fPr>
                          <m:ctrlPr>
                            <a:rPr kumimoji="1" lang="en-US" altLang="ja-JP" sz="1400" b="0" i="1" smtClean="0">
                              <a:latin typeface="Cambria Math" panose="02040503050406030204" pitchFamily="18" charset="0"/>
                            </a:rPr>
                          </m:ctrlPr>
                        </m:fPr>
                        <m:num>
                          <m:r>
                            <a:rPr kumimoji="1" lang="en-US" altLang="ja-JP" sz="1400" b="0" i="1" smtClean="0">
                              <a:latin typeface="Cambria Math" panose="02040503050406030204" pitchFamily="18" charset="0"/>
                            </a:rPr>
                            <m:t>1</m:t>
                          </m:r>
                        </m:num>
                        <m:den>
                          <m:r>
                            <a:rPr kumimoji="1" lang="en-US" altLang="ja-JP" sz="1400" b="0" i="1" smtClean="0">
                              <a:latin typeface="Cambria Math" panose="02040503050406030204" pitchFamily="18" charset="0"/>
                            </a:rPr>
                            <m:t>𝐿</m:t>
                          </m:r>
                        </m:den>
                      </m:f>
                      <m:nary>
                        <m:naryPr>
                          <m:chr m:val="∑"/>
                          <m:ctrlPr>
                            <a:rPr kumimoji="1" lang="en-US" altLang="ja-JP" sz="1400" b="0" i="1" smtClean="0">
                              <a:latin typeface="Cambria Math" panose="02040503050406030204" pitchFamily="18" charset="0"/>
                            </a:rPr>
                          </m:ctrlPr>
                        </m:naryPr>
                        <m:sub>
                          <m:r>
                            <m:rPr>
                              <m:brk m:alnAt="23"/>
                            </m:rPr>
                            <a:rPr kumimoji="1" lang="en-US" altLang="ja-JP" sz="1400" b="0" i="1" smtClean="0">
                              <a:latin typeface="Cambria Math" panose="02040503050406030204" pitchFamily="18" charset="0"/>
                            </a:rPr>
                            <m:t>𝑗</m:t>
                          </m:r>
                          <m:r>
                            <a:rPr kumimoji="1" lang="en-US" altLang="ja-JP" sz="1400" b="0" i="1" smtClean="0">
                              <a:latin typeface="Cambria Math" panose="02040503050406030204" pitchFamily="18" charset="0"/>
                            </a:rPr>
                            <m:t>=1</m:t>
                          </m:r>
                        </m:sub>
                        <m:sup>
                          <m:r>
                            <a:rPr kumimoji="1" lang="en-US" altLang="ja-JP" sz="1400" b="0" i="1" smtClean="0">
                              <a:latin typeface="Cambria Math" panose="02040503050406030204" pitchFamily="18" charset="0"/>
                            </a:rPr>
                            <m:t>𝐿</m:t>
                          </m:r>
                        </m:sup>
                        <m:e>
                          <m:func>
                            <m:funcPr>
                              <m:ctrlPr>
                                <a:rPr lang="en-US" altLang="ja-JP" sz="1400" i="1">
                                  <a:latin typeface="Cambria Math" panose="02040503050406030204" pitchFamily="18" charset="0"/>
                                </a:rPr>
                              </m:ctrlPr>
                            </m:funcPr>
                            <m:fName>
                              <m:r>
                                <m:rPr>
                                  <m:sty m:val="p"/>
                                </m:rPr>
                                <a:rPr lang="en-US" altLang="ja-JP" sz="1400">
                                  <a:latin typeface="Cambria Math" panose="02040503050406030204" pitchFamily="18" charset="0"/>
                                </a:rPr>
                                <m:t>log</m:t>
                              </m:r>
                            </m:fName>
                            <m:e>
                              <m:r>
                                <a:rPr lang="en-US" altLang="ja-JP" sz="1400" i="1">
                                  <a:latin typeface="Cambria Math" panose="02040503050406030204" pitchFamily="18" charset="0"/>
                                </a:rPr>
                                <m:t>𝑝</m:t>
                              </m:r>
                              <m:d>
                                <m:dPr>
                                  <m:ctrlPr>
                                    <a:rPr lang="en-US" altLang="ja-JP" sz="1400" i="1">
                                      <a:latin typeface="Cambria Math" panose="02040503050406030204" pitchFamily="18" charset="0"/>
                                    </a:rPr>
                                  </m:ctrlPr>
                                </m:dPr>
                                <m:e>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𝑌</m:t>
                                      </m:r>
                                    </m:e>
                                    <m:sub>
                                      <m:r>
                                        <a:rPr lang="en-US" altLang="ja-JP" sz="1400" i="1">
                                          <a:latin typeface="Cambria Math" panose="02040503050406030204" pitchFamily="18" charset="0"/>
                                        </a:rPr>
                                        <m:t>𝐷</m:t>
                                      </m:r>
                                    </m:sub>
                                  </m:sSub>
                                </m:e>
                                <m:e>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𝑋</m:t>
                                          </m:r>
                                        </m:e>
                                        <m:sub>
                                          <m:r>
                                            <a:rPr lang="en-US" altLang="ja-JP" sz="1400" i="1">
                                              <a:latin typeface="Cambria Math" panose="02040503050406030204" pitchFamily="18" charset="0"/>
                                            </a:rPr>
                                            <m:t>𝐷</m:t>
                                          </m:r>
                                        </m:sub>
                                      </m:sSub>
                                      <m:r>
                                        <a:rPr lang="en-US" altLang="ja-JP" sz="1400" i="1">
                                          <a:latin typeface="Cambria Math" panose="02040503050406030204" pitchFamily="18" charset="0"/>
                                        </a:rPr>
                                        <m:t>;</m:t>
                                      </m:r>
                                      <m:sSub>
                                        <m:sSubPr>
                                          <m:ctrlPr>
                                            <a:rPr lang="en-US" altLang="ja-JP" sz="1400" b="0" i="1" smtClean="0">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b="0" i="1" smtClean="0">
                                              <a:latin typeface="Cambria Math" panose="02040503050406030204" pitchFamily="18" charset="0"/>
                                            </a:rPr>
                                            <m:t>𝑗</m:t>
                                          </m:r>
                                        </m:sub>
                                      </m:sSub>
                                    </m:e>
                                  </m:d>
                                </m:e>
                              </m:d>
                            </m:e>
                          </m:func>
                        </m:e>
                      </m:nary>
                      <m:r>
                        <a:rPr kumimoji="1" lang="en-US" altLang="ja-JP" sz="1400" b="0" i="1" smtClean="0">
                          <a:latin typeface="Cambria Math" panose="02040503050406030204" pitchFamily="18" charset="0"/>
                        </a:rPr>
                        <m:t>,   </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𝑤</m:t>
                          </m:r>
                        </m:e>
                        <m:sub>
                          <m:r>
                            <a:rPr kumimoji="1" lang="en-US" altLang="ja-JP" sz="1400" b="0" i="1" smtClean="0">
                              <a:latin typeface="Cambria Math" panose="02040503050406030204" pitchFamily="18" charset="0"/>
                            </a:rPr>
                            <m:t>𝑗</m:t>
                          </m:r>
                        </m:sub>
                      </m:sSub>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𝑤</m:t>
                          </m:r>
                        </m:sub>
                      </m:sSub>
                    </m:oMath>
                  </m:oMathPara>
                </a14:m>
                <a:endParaRPr kumimoji="1" lang="en-US" altLang="ja-JP" sz="1400" dirty="0"/>
              </a:p>
              <a:p>
                <a:r>
                  <a:rPr lang="ja-JP" altLang="en-US" sz="1400" dirty="0"/>
                  <a:t>　→ ここはパラメータ空間上の最適化と同じことをすればよい</a:t>
                </a:r>
                <a:endParaRPr kumimoji="1" lang="ja-JP" altLang="en-US" sz="1400" dirty="0"/>
              </a:p>
            </p:txBody>
          </p:sp>
        </mc:Choice>
        <mc:Fallback xmlns="">
          <p:sp>
            <p:nvSpPr>
              <p:cNvPr id="6" name="テキスト ボックス 5">
                <a:extLst>
                  <a:ext uri="{FF2B5EF4-FFF2-40B4-BE49-F238E27FC236}">
                    <a16:creationId xmlns:a16="http://schemas.microsoft.com/office/drawing/2014/main" id="{658B5634-D71D-0BE5-7886-EFD3AE5C15CD}"/>
                  </a:ext>
                </a:extLst>
              </p:cNvPr>
              <p:cNvSpPr txBox="1">
                <a:spLocks noRot="1" noChangeAspect="1" noMove="1" noResize="1" noEditPoints="1" noAdjustHandles="1" noChangeArrowheads="1" noChangeShapeType="1" noTextEdit="1"/>
              </p:cNvSpPr>
              <p:nvPr/>
            </p:nvSpPr>
            <p:spPr>
              <a:xfrm>
                <a:off x="694944" y="1714768"/>
                <a:ext cx="11292840" cy="1933927"/>
              </a:xfrm>
              <a:prstGeom prst="rect">
                <a:avLst/>
              </a:prstGeom>
              <a:blipFill>
                <a:blip r:embed="rId2"/>
                <a:stretch>
                  <a:fillRect l="-162" t="-314" b="-220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5DB91F8-F258-ABB1-A5AB-A71B6E8A31A7}"/>
                  </a:ext>
                </a:extLst>
              </p:cNvPr>
              <p:cNvSpPr txBox="1"/>
              <p:nvPr/>
            </p:nvSpPr>
            <p:spPr>
              <a:xfrm>
                <a:off x="2999233" y="504026"/>
                <a:ext cx="7543799" cy="5539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ℒ</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𝐸</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e>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e>
                              </m:d>
                            </m:e>
                          </m:func>
                        </m:e>
                      </m:d>
                      <m:r>
                        <a:rPr kumimoji="1" lang="en-US" altLang="ja-JP" b="0" i="1" smtClean="0">
                          <a:latin typeface="Cambria Math" panose="02040503050406030204" pitchFamily="18" charset="0"/>
                        </a:rPr>
                        <m:t>−</m:t>
                      </m:r>
                      <m:func>
                        <m:funcPr>
                          <m:ctrlPr>
                            <a:rPr kumimoji="1" lang="en-US" altLang="ja-JP" b="0" i="1" smtClean="0">
                              <a:latin typeface="Cambria Math" panose="02040503050406030204" pitchFamily="18" charset="0"/>
                            </a:rPr>
                          </m:ctrlPr>
                        </m:funcPr>
                        <m:fName>
                          <m:limLow>
                            <m:limLowPr>
                              <m:ctrlPr>
                                <a:rPr kumimoji="1" lang="en-US" altLang="ja-JP" b="0" i="1" smtClean="0">
                                  <a:latin typeface="Cambria Math" panose="02040503050406030204" pitchFamily="18" charset="0"/>
                                </a:rPr>
                              </m:ctrlPr>
                            </m:limLowPr>
                            <m:e>
                              <m:r>
                                <m:rPr>
                                  <m:sty m:val="p"/>
                                </m:rPr>
                                <a:rPr kumimoji="1" lang="en-US" altLang="ja-JP" b="0" i="0" smtClean="0">
                                  <a:latin typeface="Cambria Math" panose="02040503050406030204" pitchFamily="18" charset="0"/>
                                </a:rPr>
                                <m:t>sup</m:t>
                              </m:r>
                            </m:e>
                            <m:li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Χ</m:t>
                                  </m:r>
                                </m:e>
                                <m:sub>
                                  <m:r>
                                    <a:rPr kumimoji="1" lang="en-US" altLang="ja-JP" b="0" i="1" smtClean="0">
                                      <a:latin typeface="Cambria Math" panose="02040503050406030204" pitchFamily="18" charset="0"/>
                                    </a:rPr>
                                    <m:t>ℕ</m:t>
                                  </m:r>
                                </m:sub>
                              </m:sSub>
                            </m:lim>
                          </m:limLow>
                        </m:fName>
                        <m:e>
                          <m:r>
                            <a:rPr lang="en-US" altLang="ja-JP" i="1">
                              <a:latin typeface="Cambria Math" panose="02040503050406030204" pitchFamily="18" charset="0"/>
                            </a:rPr>
                            <m:t>𝐾𝐿</m:t>
                          </m:r>
                          <m:d>
                            <m:dPr>
                              <m:ctrlPr>
                                <a:rPr lang="en-US" altLang="ja-JP" i="1">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𝑄</m:t>
                                  </m:r>
                                </m:e>
                                <m:sub>
                                  <m:r>
                                    <a:rPr lang="en-US" altLang="ja-JP" b="0" i="1" smtClean="0">
                                      <a:latin typeface="Cambria Math" panose="02040503050406030204" pitchFamily="18" charset="0"/>
                                    </a:rPr>
                                    <m:t>𝑓</m:t>
                                  </m:r>
                                </m:sub>
                              </m:sSub>
                              <m:r>
                                <a:rPr lang="en-US" altLang="ja-JP" i="1">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0</m:t>
                                  </m:r>
                                </m:sub>
                              </m:sSub>
                              <m:r>
                                <a:rPr lang="en-US" altLang="ja-JP" i="1">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p>
                              <m:r>
                                <a:rPr lang="en-US" altLang="ja-JP" i="1">
                                  <a:latin typeface="Cambria Math" panose="02040503050406030204" pitchFamily="18" charset="0"/>
                                </a:rPr>
                                <m:t>)</m:t>
                              </m:r>
                            </m:e>
                          </m:d>
                        </m:e>
                      </m:func>
                    </m:oMath>
                  </m:oMathPara>
                </a14:m>
                <a:endParaRPr kumimoji="1" lang="en-US" altLang="ja-JP" dirty="0"/>
              </a:p>
            </p:txBody>
          </p:sp>
        </mc:Choice>
        <mc:Fallback xmlns="">
          <p:sp>
            <p:nvSpPr>
              <p:cNvPr id="7" name="テキスト ボックス 6">
                <a:extLst>
                  <a:ext uri="{FF2B5EF4-FFF2-40B4-BE49-F238E27FC236}">
                    <a16:creationId xmlns:a16="http://schemas.microsoft.com/office/drawing/2014/main" id="{85DB91F8-F258-ABB1-A5AB-A71B6E8A31A7}"/>
                  </a:ext>
                </a:extLst>
              </p:cNvPr>
              <p:cNvSpPr txBox="1">
                <a:spLocks noRot="1" noChangeAspect="1" noMove="1" noResize="1" noEditPoints="1" noAdjustHandles="1" noChangeArrowheads="1" noChangeShapeType="1" noTextEdit="1"/>
              </p:cNvSpPr>
              <p:nvPr/>
            </p:nvSpPr>
            <p:spPr>
              <a:xfrm>
                <a:off x="2999233" y="504026"/>
                <a:ext cx="7543799" cy="55393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68E297A7-BB5D-7B9C-CA6B-DD9BB7372D1B}"/>
                  </a:ext>
                </a:extLst>
              </p:cNvPr>
              <p:cNvSpPr txBox="1"/>
              <p:nvPr/>
            </p:nvSpPr>
            <p:spPr>
              <a:xfrm>
                <a:off x="694944" y="3741996"/>
                <a:ext cx="10942604" cy="1814664"/>
              </a:xfrm>
              <a:prstGeom prst="rect">
                <a:avLst/>
              </a:prstGeom>
              <a:noFill/>
            </p:spPr>
            <p:txBody>
              <a:bodyPr wrap="square" rtlCol="0">
                <a:spAutoFit/>
              </a:bodyPr>
              <a:lstStyle/>
              <a:p>
                <a:r>
                  <a:rPr kumimoji="1" lang="ja-JP" altLang="en-US" sz="1400" dirty="0"/>
                  <a:t>・</a:t>
                </a:r>
                <a:r>
                  <a:rPr lang="ja-JP" altLang="en-US" sz="1400" dirty="0"/>
                  <a:t>二項目の計算</a:t>
                </a:r>
                <a:r>
                  <a:rPr lang="en-US" altLang="ja-JP" sz="1400" dirty="0"/>
                  <a:t>: 3</a:t>
                </a:r>
                <a:r>
                  <a:rPr lang="ja-JP" altLang="en-US" sz="1400" dirty="0"/>
                  <a:t>つの工夫をする</a:t>
                </a:r>
                <a:endParaRPr lang="en-US" altLang="ja-JP" sz="1400" dirty="0"/>
              </a:p>
              <a:p>
                <a:r>
                  <a:rPr lang="ja-JP" altLang="en-US" sz="1200" b="0" dirty="0"/>
                  <a:t>　</a:t>
                </a:r>
                <a:r>
                  <a:rPr lang="ja-JP" altLang="en-US" sz="1200" dirty="0"/>
                  <a:t>①</a:t>
                </a:r>
                <a14:m>
                  <m:oMath xmlns:m="http://schemas.openxmlformats.org/officeDocument/2006/math">
                    <m:r>
                      <a:rPr lang="en-US" altLang="ja-JP" sz="1200" b="0" i="0" smtClean="0">
                        <a:latin typeface="Cambria Math" panose="02040503050406030204" pitchFamily="18" charset="0"/>
                      </a:rPr>
                      <m:t> </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𝑝</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𝑚</m:t>
                    </m:r>
                    <m:r>
                      <a:rPr lang="en-US" altLang="ja-JP" sz="1200" b="0" i="1" smtClean="0">
                        <a:latin typeface="Cambria Math" panose="02040503050406030204" pitchFamily="18" charset="0"/>
                      </a:rPr>
                      <m:t>,</m:t>
                    </m:r>
                    <m:r>
                      <m:rPr>
                        <m:sty m:val="p"/>
                      </m:rPr>
                      <a:rPr lang="en-US" altLang="ja-JP" sz="1200" b="0" i="0" smtClean="0">
                        <a:latin typeface="Cambria Math" panose="02040503050406030204" pitchFamily="18" charset="0"/>
                      </a:rPr>
                      <m:t>Σ</m:t>
                    </m:r>
                    <m:r>
                      <a:rPr lang="en-US" altLang="ja-JP" sz="1200" b="0" i="1" smtClean="0">
                        <a:latin typeface="Cambria Math" panose="02040503050406030204" pitchFamily="18" charset="0"/>
                      </a:rPr>
                      <m:t>)</m:t>
                    </m:r>
                  </m:oMath>
                </a14:m>
                <a:r>
                  <a:rPr lang="ja-JP" altLang="en-US" sz="1200" dirty="0"/>
                  <a:t>として、</a:t>
                </a:r>
                <a14:m>
                  <m:oMath xmlns:m="http://schemas.openxmlformats.org/officeDocument/2006/math">
                    <m:r>
                      <a:rPr lang="en-US" altLang="ja-JP" sz="1200" i="1">
                        <a:latin typeface="Cambria Math" panose="02040503050406030204" pitchFamily="18" charset="0"/>
                      </a:rPr>
                      <m:t>𝑓</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e>
                    </m:d>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𝑓</m:t>
                    </m:r>
                    <m:d>
                      <m:dPr>
                        <m:ctrlPr>
                          <a:rPr lang="en-US" altLang="ja-JP" sz="1200" b="0" i="1" smtClean="0">
                            <a:latin typeface="Cambria Math" panose="02040503050406030204" pitchFamily="18" charset="0"/>
                          </a:rPr>
                        </m:ctrlPr>
                      </m:dPr>
                      <m:e>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𝑚</m:t>
                        </m:r>
                      </m:e>
                    </m:d>
                    <m:r>
                      <a:rPr lang="en-US" altLang="ja-JP" sz="1200" b="0" i="1" smtClean="0">
                        <a:latin typeface="Cambria Math" panose="02040503050406030204" pitchFamily="18" charset="0"/>
                      </a:rPr>
                      <m:t>+</m:t>
                    </m:r>
                    <m:f>
                      <m:fPr>
                        <m:ctrlPr>
                          <a:rPr lang="en-US" altLang="ja-JP" sz="1200" b="0" i="1" smtClean="0">
                            <a:latin typeface="Cambria Math" panose="02040503050406030204" pitchFamily="18" charset="0"/>
                          </a:rPr>
                        </m:ctrlPr>
                      </m:fPr>
                      <m:num>
                        <m:r>
                          <a:rPr lang="en-US" altLang="ja-JP" sz="1200" b="0" i="1" smtClean="0">
                            <a:latin typeface="Cambria Math" panose="02040503050406030204" pitchFamily="18" charset="0"/>
                          </a:rPr>
                          <m:t>𝜕</m:t>
                        </m:r>
                      </m:num>
                      <m:den>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den>
                    </m:f>
                    <m:r>
                      <a:rPr lang="en-US" altLang="ja-JP" sz="1200" b="0" i="1" smtClean="0">
                        <a:latin typeface="Cambria Math" panose="02040503050406030204" pitchFamily="18" charset="0"/>
                      </a:rPr>
                      <m:t>𝑓</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𝑚</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𝑚</m:t>
                    </m:r>
                    <m:r>
                      <a:rPr lang="en-US" altLang="ja-JP" sz="1200" b="0" i="1" smtClean="0">
                        <a:latin typeface="Cambria Math" panose="02040503050406030204" pitchFamily="18" charset="0"/>
                      </a:rPr>
                      <m:t>)</m:t>
                    </m:r>
                  </m:oMath>
                </a14:m>
                <a:r>
                  <a:rPr lang="ja-JP" altLang="en-US" sz="1200" dirty="0"/>
                  <a:t>という近似を</a:t>
                </a:r>
                <a14:m>
                  <m:oMath xmlns:m="http://schemas.openxmlformats.org/officeDocument/2006/math">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𝑄</m:t>
                        </m:r>
                      </m:e>
                      <m:sub>
                        <m:r>
                          <a:rPr lang="en-US" altLang="ja-JP" sz="1200" b="0" i="1" smtClean="0">
                            <a:latin typeface="Cambria Math" panose="02040503050406030204" pitchFamily="18" charset="0"/>
                          </a:rPr>
                          <m:t>𝑓</m:t>
                        </m:r>
                      </m:sub>
                    </m:sSub>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𝑝</m:t>
                        </m:r>
                      </m:e>
                      <m:sub>
                        <m:r>
                          <a:rPr lang="en-US" altLang="ja-JP" sz="1200" b="0" i="1" smtClean="0">
                            <a:latin typeface="Cambria Math" panose="02040503050406030204" pitchFamily="18" charset="0"/>
                          </a:rPr>
                          <m:t>0</m:t>
                        </m:r>
                      </m:sub>
                    </m:sSub>
                  </m:oMath>
                </a14:m>
                <a:r>
                  <a:rPr kumimoji="1" lang="ja-JP" altLang="en-US" sz="1200" dirty="0"/>
                  <a:t>のそれぞれで近似して、それぞれ多変量正規分布で表す</a:t>
                </a:r>
                <a:r>
                  <a:rPr kumimoji="1" lang="en-US" altLang="ja-JP" sz="1200" dirty="0"/>
                  <a:t>, </a:t>
                </a:r>
              </a:p>
              <a:p>
                <a:endParaRPr lang="en-US" altLang="ja-JP" sz="1200" b="0" dirty="0"/>
              </a:p>
              <a:p>
                <a:r>
                  <a:rPr lang="ja-JP" altLang="en-US" sz="1200" dirty="0"/>
                  <a:t>　</a:t>
                </a:r>
                <a:r>
                  <a:rPr lang="ja-JP" altLang="en-US" sz="1200" b="0" dirty="0"/>
                  <a:t>② </a:t>
                </a:r>
                <a14:m>
                  <m:oMath xmlns:m="http://schemas.openxmlformats.org/officeDocument/2006/math">
                    <m:r>
                      <a:rPr lang="en-US" altLang="ja-JP" sz="1200" b="0" i="1" smtClean="0">
                        <a:latin typeface="Cambria Math" panose="02040503050406030204" pitchFamily="18" charset="0"/>
                      </a:rPr>
                      <m:t>𝑤</m:t>
                    </m:r>
                    <m:r>
                      <a:rPr lang="en-US" altLang="ja-JP" sz="1200" b="0" i="1" smtClean="0">
                        <a:latin typeface="Cambria Math" panose="02040503050406030204" pitchFamily="18" charset="0"/>
                      </a:rPr>
                      <m:t>=</m:t>
                    </m:r>
                    <m:d>
                      <m:dPr>
                        <m:ctrlPr>
                          <a:rPr lang="en-US" altLang="ja-JP" sz="1200" b="0" i="1" smtClean="0">
                            <a:latin typeface="Cambria Math" panose="02040503050406030204" pitchFamily="18" charset="0"/>
                          </a:rPr>
                        </m:ctrlPr>
                      </m:dPr>
                      <m:e>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𝑤</m:t>
                            </m:r>
                          </m:e>
                          <m:sub>
                            <m:r>
                              <a:rPr lang="en-US" altLang="ja-JP" sz="1200" b="0" i="1" smtClean="0">
                                <a:latin typeface="Cambria Math" panose="02040503050406030204" pitchFamily="18" charset="0"/>
                              </a:rPr>
                              <m:t>𝑎</m:t>
                            </m:r>
                          </m:sub>
                        </m:sSub>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𝑤</m:t>
                            </m:r>
                          </m:e>
                          <m:sub>
                            <m:r>
                              <a:rPr lang="en-US" altLang="ja-JP" sz="1200" b="0" i="1" smtClean="0">
                                <a:latin typeface="Cambria Math" panose="02040503050406030204" pitchFamily="18" charset="0"/>
                              </a:rPr>
                              <m:t>𝑏</m:t>
                            </m:r>
                          </m:sub>
                        </m:sSub>
                      </m:e>
                    </m:d>
                    <m:r>
                      <a:rPr lang="en-US" altLang="ja-JP" sz="1200" b="0" i="1" smtClean="0">
                        <a:latin typeface="Cambria Math" panose="02040503050406030204" pitchFamily="18" charset="0"/>
                      </a:rPr>
                      <m:t>, </m:t>
                    </m:r>
                  </m:oMath>
                </a14:m>
                <a:r>
                  <a:rPr kumimoji="1" lang="en-US" altLang="ja-JP" sz="1200" dirty="0"/>
                  <a:t>  </a:t>
                </a:r>
                <a14:m>
                  <m:oMath xmlns:m="http://schemas.openxmlformats.org/officeDocument/2006/math">
                    <m:d>
                      <m:dPr>
                        <m:ctrlPr>
                          <a:rPr kumimoji="1" lang="en-US" altLang="ja-JP" sz="1200" b="0" i="1" dirty="0" smtClean="0">
                            <a:latin typeface="Cambria Math" panose="02040503050406030204" pitchFamily="18" charset="0"/>
                          </a:rPr>
                        </m:ctrlPr>
                      </m:dPr>
                      <m:e>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𝑤</m:t>
                            </m:r>
                          </m:e>
                          <m:sub>
                            <m:r>
                              <a:rPr kumimoji="1" lang="en-US" altLang="ja-JP" sz="1200" b="0" i="1" dirty="0" smtClean="0">
                                <a:latin typeface="Cambria Math" panose="02040503050406030204" pitchFamily="18" charset="0"/>
                              </a:rPr>
                              <m:t>𝑏</m:t>
                            </m:r>
                          </m:sub>
                        </m:sSub>
                        <m:r>
                          <a:rPr kumimoji="1" lang="ja-JP" altLang="en-US" sz="1200" i="1" dirty="0" smtClean="0">
                            <a:latin typeface="Cambria Math" panose="02040503050406030204" pitchFamily="18" charset="0"/>
                          </a:rPr>
                          <m:t>の次元</m:t>
                        </m:r>
                      </m:e>
                    </m:d>
                    <m:r>
                      <a:rPr kumimoji="1" lang="en-US" altLang="ja-JP" sz="1200" i="1" dirty="0" smtClean="0">
                        <a:latin typeface="Cambria Math" panose="02040503050406030204" pitchFamily="18" charset="0"/>
                      </a:rPr>
                      <m:t>&lt;&lt;</m:t>
                    </m:r>
                    <m:d>
                      <m:dPr>
                        <m:ctrlPr>
                          <a:rPr kumimoji="1" lang="en-US" altLang="ja-JP" sz="1200" i="1" dirty="0" smtClean="0">
                            <a:latin typeface="Cambria Math" panose="02040503050406030204" pitchFamily="18" charset="0"/>
                          </a:rPr>
                        </m:ctrlPr>
                      </m:dPr>
                      <m:e>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𝑤</m:t>
                            </m:r>
                          </m:e>
                          <m:sub>
                            <m:r>
                              <a:rPr kumimoji="1" lang="en-US" altLang="ja-JP" sz="1200" b="0" i="1" dirty="0" smtClean="0">
                                <a:latin typeface="Cambria Math" panose="02040503050406030204" pitchFamily="18" charset="0"/>
                              </a:rPr>
                              <m:t>𝑎</m:t>
                            </m:r>
                          </m:sub>
                        </m:sSub>
                        <m:r>
                          <a:rPr kumimoji="1" lang="ja-JP" altLang="en-US" sz="1200" i="1" dirty="0" smtClean="0">
                            <a:latin typeface="Cambria Math" panose="02040503050406030204" pitchFamily="18" charset="0"/>
                          </a:rPr>
                          <m:t>の次元</m:t>
                        </m:r>
                      </m:e>
                    </m:d>
                    <m:r>
                      <a:rPr kumimoji="1" lang="en-US" altLang="ja-JP" sz="1200" b="0" i="0" dirty="0" smtClean="0">
                        <a:latin typeface="Cambria Math" panose="02040503050406030204" pitchFamily="18" charset="0"/>
                      </a:rPr>
                      <m:t>,  </m:t>
                    </m:r>
                    <m:sSub>
                      <m:sSubPr>
                        <m:ctrlPr>
                          <a:rPr kumimoji="1" lang="en-US" altLang="ja-JP" sz="1200" b="0" i="1" dirty="0" smtClean="0">
                            <a:latin typeface="Cambria Math" panose="02040503050406030204" pitchFamily="18" charset="0"/>
                          </a:rPr>
                        </m:ctrlPr>
                      </m:sSubPr>
                      <m:e>
                        <m:r>
                          <m:rPr>
                            <m:sty m:val="p"/>
                          </m:rPr>
                          <a:rPr kumimoji="1" lang="en-US" altLang="ja-JP" sz="1200" b="0" i="0" dirty="0" smtClean="0">
                            <a:latin typeface="Cambria Math" panose="02040503050406030204" pitchFamily="18" charset="0"/>
                          </a:rPr>
                          <m:t>w</m:t>
                        </m:r>
                      </m:e>
                      <m:sub>
                        <m:r>
                          <m:rPr>
                            <m:sty m:val="p"/>
                          </m:rPr>
                          <a:rPr kumimoji="1" lang="en-US" altLang="ja-JP" sz="1200" b="0" i="0" dirty="0" smtClean="0">
                            <a:latin typeface="Cambria Math" panose="02040503050406030204" pitchFamily="18" charset="0"/>
                          </a:rPr>
                          <m:t>a</m:t>
                        </m:r>
                      </m:sub>
                    </m:sSub>
                    <m:r>
                      <a:rPr lang="en-US" altLang="ja-JP" sz="1200" dirty="0">
                        <a:latin typeface="Cambria Math" panose="02040503050406030204" pitchFamily="18" charset="0"/>
                        <a:ea typeface="Cambria Math" panose="02040503050406030204" pitchFamily="18" charset="0"/>
                      </a:rPr>
                      <m:t>⊥</m:t>
                    </m:r>
                    <m:sSub>
                      <m:sSubPr>
                        <m:ctrlPr>
                          <a:rPr lang="en-US" altLang="ja-JP" sz="1200" b="0" i="1" dirty="0" smtClean="0">
                            <a:latin typeface="Cambria Math" panose="02040503050406030204" pitchFamily="18" charset="0"/>
                            <a:ea typeface="Cambria Math" panose="02040503050406030204" pitchFamily="18" charset="0"/>
                          </a:rPr>
                        </m:ctrlPr>
                      </m:sSubPr>
                      <m:e>
                        <m:r>
                          <m:rPr>
                            <m:sty m:val="p"/>
                          </m:rPr>
                          <a:rPr lang="en-US" altLang="ja-JP" sz="1200" b="0" i="0" dirty="0" smtClean="0">
                            <a:latin typeface="Cambria Math" panose="02040503050406030204" pitchFamily="18" charset="0"/>
                            <a:ea typeface="Cambria Math" panose="02040503050406030204" pitchFamily="18" charset="0"/>
                          </a:rPr>
                          <m:t>w</m:t>
                        </m:r>
                      </m:e>
                      <m:sub>
                        <m:r>
                          <m:rPr>
                            <m:sty m:val="p"/>
                          </m:rPr>
                          <a:rPr lang="en-US" altLang="ja-JP" sz="1200" b="0" i="0" dirty="0" smtClean="0">
                            <a:latin typeface="Cambria Math" panose="02040503050406030204" pitchFamily="18" charset="0"/>
                            <a:ea typeface="Cambria Math" panose="02040503050406030204" pitchFamily="18" charset="0"/>
                          </a:rPr>
                          <m:t>b</m:t>
                        </m:r>
                      </m:sub>
                    </m:sSub>
                  </m:oMath>
                </a14:m>
                <a:r>
                  <a:rPr kumimoji="1" lang="en-US" altLang="ja-JP" sz="1200" dirty="0"/>
                  <a:t>, </a:t>
                </a:r>
                <a:r>
                  <a:rPr lang="ja-JP" altLang="en-US" sz="1200" dirty="0"/>
                  <a:t>という仮定の中で</a:t>
                </a:r>
                <a14:m>
                  <m:oMath xmlns:m="http://schemas.openxmlformats.org/officeDocument/2006/math">
                    <m:sSub>
                      <m:sSubPr>
                        <m:ctrlPr>
                          <a:rPr lang="en-US" altLang="ja-JP" sz="1200" i="1">
                            <a:latin typeface="Cambria Math" panose="02040503050406030204" pitchFamily="18" charset="0"/>
                          </a:rPr>
                        </m:ctrlPr>
                      </m:sSubPr>
                      <m:e>
                        <m:r>
                          <a:rPr lang="en-US" altLang="ja-JP" sz="1200" i="1">
                            <a:latin typeface="Cambria Math" panose="02040503050406030204" pitchFamily="18" charset="0"/>
                          </a:rPr>
                          <m:t>𝑄</m:t>
                        </m:r>
                      </m:e>
                      <m:sub>
                        <m:r>
                          <a:rPr lang="en-US" altLang="ja-JP" sz="1200" i="1">
                            <a:latin typeface="Cambria Math" panose="02040503050406030204" pitchFamily="18" charset="0"/>
                          </a:rPr>
                          <m:t>𝑤</m:t>
                        </m:r>
                      </m:sub>
                    </m:sSub>
                    <m:r>
                      <a:rPr lang="en-US" altLang="ja-JP" sz="1200" b="0" i="1" smtClean="0">
                        <a:latin typeface="Cambria Math" panose="02040503050406030204" pitchFamily="18" charset="0"/>
                      </a:rPr>
                      <m:t>,</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𝑝</m:t>
                        </m:r>
                      </m:e>
                      <m:sub>
                        <m:r>
                          <a:rPr lang="en-US" altLang="ja-JP" sz="1200" b="0" i="1" smtClean="0">
                            <a:latin typeface="Cambria Math" panose="02040503050406030204" pitchFamily="18" charset="0"/>
                          </a:rPr>
                          <m:t>0</m:t>
                        </m:r>
                      </m:sub>
                    </m:sSub>
                  </m:oMath>
                </a14:m>
                <a:r>
                  <a:rPr kumimoji="1" lang="ja-JP" altLang="en-US" sz="1200" dirty="0"/>
                  <a:t>のそれぞれを考えて、多変量正規分布の分散共分散行列の計算量を減らす</a:t>
                </a:r>
                <a:endParaRPr kumimoji="1" lang="en-US" altLang="ja-JP" sz="1200" dirty="0"/>
              </a:p>
              <a:p>
                <a:r>
                  <a:rPr kumimoji="1" lang="ja-JP" altLang="en-US" sz="1200" dirty="0"/>
                  <a:t>　　→ 正規分布の和の分布の公式を使って、和の公式の積分をサンプル数</a:t>
                </a:r>
                <a:r>
                  <a:rPr kumimoji="1" lang="en-US" altLang="ja-JP" sz="1200" dirty="0"/>
                  <a:t>1</a:t>
                </a:r>
                <a:r>
                  <a:rPr kumimoji="1" lang="ja-JP" altLang="en-US" sz="1200" dirty="0"/>
                  <a:t>でモンテカルロ推定する</a:t>
                </a:r>
                <a:endParaRPr kumimoji="1" lang="en-US" altLang="ja-JP" sz="1200" dirty="0"/>
              </a:p>
              <a:p>
                <a:endParaRPr kumimoji="1" lang="en-US" altLang="ja-JP" sz="1200" dirty="0"/>
              </a:p>
              <a:p>
                <a:r>
                  <a:rPr lang="ja-JP" altLang="en-US" sz="1200" dirty="0"/>
                  <a:t>　</a:t>
                </a:r>
                <a:r>
                  <a:rPr kumimoji="1" lang="ja-JP" altLang="en-US" sz="1200" dirty="0"/>
                  <a:t>③ あらゆる</a:t>
                </a:r>
                <a14:m>
                  <m:oMath xmlns:m="http://schemas.openxmlformats.org/officeDocument/2006/math">
                    <m:sSub>
                      <m:sSubPr>
                        <m:ctrlPr>
                          <a:rPr kumimoji="1" lang="en-US" altLang="ja-JP" sz="1200" b="0" i="1" smtClean="0">
                            <a:latin typeface="Cambria Math" panose="02040503050406030204" pitchFamily="18" charset="0"/>
                          </a:rPr>
                        </m:ctrlPr>
                      </m:sSubPr>
                      <m:e>
                        <m:r>
                          <a:rPr kumimoji="1" lang="en-US" altLang="ja-JP" sz="1200" b="0" i="1" smtClean="0">
                            <a:latin typeface="Cambria Math" panose="02040503050406030204" pitchFamily="18" charset="0"/>
                          </a:rPr>
                          <m:t>𝑋</m:t>
                        </m:r>
                      </m:e>
                      <m:sub>
                        <m:r>
                          <a:rPr kumimoji="1" lang="en-US" altLang="ja-JP" sz="1200" b="0" i="1" smtClean="0">
                            <a:latin typeface="Cambria Math" panose="02040503050406030204" pitchFamily="18" charset="0"/>
                          </a:rPr>
                          <m:t>𝑀</m:t>
                        </m:r>
                      </m:sub>
                    </m:sSub>
                  </m:oMath>
                </a14:m>
                <a:r>
                  <a:rPr kumimoji="1" lang="ja-JP" altLang="en-US" sz="1200" dirty="0"/>
                  <a:t>を考えずに、入力空間から</a:t>
                </a:r>
                <a14:m>
                  <m:oMath xmlns:m="http://schemas.openxmlformats.org/officeDocument/2006/math">
                    <m:r>
                      <a:rPr kumimoji="1" lang="en-US" altLang="ja-JP" sz="1200" i="1" dirty="0" smtClean="0">
                        <a:latin typeface="Cambria Math" panose="02040503050406030204" pitchFamily="18" charset="0"/>
                      </a:rPr>
                      <m:t>𝑆</m:t>
                    </m:r>
                  </m:oMath>
                </a14:m>
                <a:r>
                  <a:rPr kumimoji="1" lang="ja-JP" altLang="en-US" sz="1200" dirty="0"/>
                  <a:t>個サンプリング</a:t>
                </a:r>
                <a:r>
                  <a:rPr kumimoji="1" lang="en-US" altLang="ja-JP" sz="1200" dirty="0"/>
                  <a:t>(</a:t>
                </a:r>
                <a14:m>
                  <m:oMath xmlns:m="http://schemas.openxmlformats.org/officeDocument/2006/math">
                    <m:r>
                      <m:rPr>
                        <m:sty m:val="p"/>
                      </m:rPr>
                      <a:rPr kumimoji="1" lang="en-US" altLang="ja-JP" sz="1200" b="0" i="0" smtClean="0">
                        <a:latin typeface="Cambria Math" panose="02040503050406030204" pitchFamily="18" charset="0"/>
                      </a:rPr>
                      <m:t>X</m:t>
                    </m:r>
                    <m:r>
                      <a:rPr kumimoji="1" lang="en-US" altLang="ja-JP" sz="1200" b="0" i="0" smtClean="0">
                        <a:latin typeface="Cambria Math" panose="02040503050406030204" pitchFamily="18" charset="0"/>
                      </a:rPr>
                      <m:t>=</m:t>
                    </m:r>
                    <m:d>
                      <m:dPr>
                        <m:begChr m:val="{"/>
                        <m:endChr m:val="}"/>
                        <m:ctrlPr>
                          <a:rPr kumimoji="1" lang="en-US" altLang="ja-JP" sz="1200" b="0" i="1" smtClean="0">
                            <a:latin typeface="Cambria Math" panose="02040503050406030204" pitchFamily="18" charset="0"/>
                          </a:rPr>
                        </m:ctrlPr>
                      </m:dPr>
                      <m:e>
                        <m:sSub>
                          <m:sSubPr>
                            <m:ctrlPr>
                              <a:rPr lang="en-US" altLang="ja-JP" sz="1200" i="1">
                                <a:latin typeface="Cambria Math" panose="02040503050406030204" pitchFamily="18" charset="0"/>
                              </a:rPr>
                            </m:ctrlPr>
                          </m:sSubPr>
                          <m:e>
                            <m:r>
                              <a:rPr lang="en-US" altLang="ja-JP" sz="1200" i="1">
                                <a:latin typeface="Cambria Math" panose="02040503050406030204" pitchFamily="18" charset="0"/>
                              </a:rPr>
                              <m:t>𝑋</m:t>
                            </m:r>
                          </m:e>
                          <m:sub>
                            <m:r>
                              <a:rPr lang="en-US" altLang="ja-JP" sz="1200" i="1">
                                <a:latin typeface="Cambria Math" panose="02040503050406030204" pitchFamily="18" charset="0"/>
                              </a:rPr>
                              <m:t>1</m:t>
                            </m:r>
                          </m:sub>
                        </m:sSub>
                        <m:r>
                          <a:rPr lang="en-US" altLang="ja-JP" sz="1200" i="1">
                            <a:latin typeface="Cambria Math" panose="02040503050406030204" pitchFamily="18" charset="0"/>
                          </a:rPr>
                          <m:t>,…,</m:t>
                        </m:r>
                        <m:sSub>
                          <m:sSubPr>
                            <m:ctrlPr>
                              <a:rPr lang="en-US" altLang="ja-JP" sz="1200" i="1">
                                <a:latin typeface="Cambria Math" panose="02040503050406030204" pitchFamily="18" charset="0"/>
                              </a:rPr>
                            </m:ctrlPr>
                          </m:sSubPr>
                          <m:e>
                            <m:r>
                              <a:rPr lang="en-US" altLang="ja-JP" sz="1200" i="1">
                                <a:latin typeface="Cambria Math" panose="02040503050406030204" pitchFamily="18" charset="0"/>
                              </a:rPr>
                              <m:t>𝑋</m:t>
                            </m:r>
                          </m:e>
                          <m:sub>
                            <m:r>
                              <a:rPr lang="en-US" altLang="ja-JP" sz="1200" i="1">
                                <a:latin typeface="Cambria Math" panose="02040503050406030204" pitchFamily="18" charset="0"/>
                              </a:rPr>
                              <m:t>𝑆</m:t>
                            </m:r>
                          </m:sub>
                        </m:sSub>
                      </m:e>
                    </m:d>
                    <m:r>
                      <a:rPr lang="en-US" altLang="ja-JP" sz="1200" b="0" i="1" smtClean="0">
                        <a:latin typeface="Cambria Math" panose="02040503050406030204" pitchFamily="18" charset="0"/>
                      </a:rPr>
                      <m:t>, </m:t>
                    </m:r>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𝑋</m:t>
                        </m:r>
                      </m:e>
                      <m:sub>
                        <m:r>
                          <a:rPr lang="en-US" altLang="ja-JP" sz="1200" b="0" i="1" smtClean="0">
                            <a:latin typeface="Cambria Math" panose="02040503050406030204" pitchFamily="18" charset="0"/>
                          </a:rPr>
                          <m:t>𝑖</m:t>
                        </m:r>
                      </m:sub>
                    </m:sSub>
                    <m:r>
                      <a:rPr lang="en-US" altLang="ja-JP" sz="1200" b="0" i="1" smtClean="0">
                        <a:latin typeface="Cambria Math" panose="02040503050406030204" pitchFamily="18" charset="0"/>
                      </a:rPr>
                      <m:t>∈</m:t>
                    </m:r>
                    <m:sSup>
                      <m:sSupPr>
                        <m:ctrlPr>
                          <a:rPr lang="en-US" altLang="ja-JP" sz="1200" b="0" i="1" smtClean="0">
                            <a:latin typeface="Cambria Math" panose="02040503050406030204" pitchFamily="18" charset="0"/>
                          </a:rPr>
                        </m:ctrlPr>
                      </m:sSupPr>
                      <m:e>
                        <m:r>
                          <a:rPr lang="en-US" altLang="ja-JP" sz="1200" b="0" i="1" smtClean="0">
                            <a:latin typeface="Cambria Math" panose="02040503050406030204" pitchFamily="18" charset="0"/>
                          </a:rPr>
                          <m:t>ℝ</m:t>
                        </m:r>
                      </m:e>
                      <m:sup>
                        <m:r>
                          <a:rPr lang="en-US" altLang="ja-JP" sz="1200" b="0" i="1" smtClean="0">
                            <a:latin typeface="Cambria Math" panose="02040503050406030204" pitchFamily="18" charset="0"/>
                          </a:rPr>
                          <m:t>𝑐</m:t>
                        </m:r>
                        <m:r>
                          <a:rPr lang="en-US" altLang="ja-JP" sz="1200" b="0" i="1" smtClean="0">
                            <a:latin typeface="Cambria Math" panose="02040503050406030204" pitchFamily="18" charset="0"/>
                          </a:rPr>
                          <m:t>×</m:t>
                        </m:r>
                        <m:r>
                          <a:rPr lang="en-US" altLang="ja-JP" sz="1200" b="0" i="1" smtClean="0">
                            <a:latin typeface="Cambria Math" panose="02040503050406030204" pitchFamily="18" charset="0"/>
                          </a:rPr>
                          <m:t>𝑝</m:t>
                        </m:r>
                      </m:sup>
                    </m:sSup>
                  </m:oMath>
                </a14:m>
                <a:r>
                  <a:rPr kumimoji="1" lang="en-US" altLang="ja-JP" sz="1200" dirty="0"/>
                  <a:t>)</a:t>
                </a:r>
                <a:r>
                  <a:rPr kumimoji="1" lang="ja-JP" altLang="en-US" sz="1200" dirty="0"/>
                  <a:t>して</a:t>
                </a:r>
                <a:r>
                  <a:rPr lang="ja-JP" altLang="en-US" sz="1200" dirty="0"/>
                  <a:t>、</a:t>
                </a:r>
                <a14:m>
                  <m:oMath xmlns:m="http://schemas.openxmlformats.org/officeDocument/2006/math">
                    <m:func>
                      <m:funcPr>
                        <m:ctrlPr>
                          <a:rPr lang="en-US" altLang="ja-JP" sz="1200" i="1">
                            <a:latin typeface="Cambria Math" panose="02040503050406030204" pitchFamily="18" charset="0"/>
                          </a:rPr>
                        </m:ctrlPr>
                      </m:funcPr>
                      <m:fName>
                        <m:limLow>
                          <m:limLowPr>
                            <m:ctrlPr>
                              <a:rPr lang="en-US" altLang="ja-JP" sz="1200" i="1">
                                <a:latin typeface="Cambria Math" panose="02040503050406030204" pitchFamily="18" charset="0"/>
                              </a:rPr>
                            </m:ctrlPr>
                          </m:limLowPr>
                          <m:e>
                            <m:r>
                              <m:rPr>
                                <m:sty m:val="p"/>
                              </m:rPr>
                              <a:rPr lang="en-US" altLang="ja-JP" sz="1200" b="0" i="0" smtClean="0">
                                <a:latin typeface="Cambria Math" panose="02040503050406030204" pitchFamily="18" charset="0"/>
                              </a:rPr>
                              <m:t>max</m:t>
                            </m:r>
                          </m:e>
                          <m:lim>
                            <m:sSub>
                              <m:sSubPr>
                                <m:ctrlPr>
                                  <a:rPr lang="en-US" altLang="ja-JP" sz="1200" i="1">
                                    <a:latin typeface="Cambria Math" panose="02040503050406030204" pitchFamily="18" charset="0"/>
                                  </a:rPr>
                                </m:ctrlPr>
                              </m:sSubPr>
                              <m:e>
                                <m:r>
                                  <a:rPr lang="en-US" altLang="ja-JP" sz="1200" i="1">
                                    <a:latin typeface="Cambria Math" panose="02040503050406030204" pitchFamily="18" charset="0"/>
                                  </a:rPr>
                                  <m:t>𝑋</m:t>
                                </m:r>
                              </m:e>
                              <m:sub>
                                <m:r>
                                  <a:rPr lang="en-US" altLang="ja-JP" sz="1200" i="1">
                                    <a:latin typeface="Cambria Math" panose="02040503050406030204" pitchFamily="18" charset="0"/>
                                  </a:rPr>
                                  <m:t>𝑀</m:t>
                                </m:r>
                              </m:sub>
                            </m:sSub>
                            <m:r>
                              <a:rPr lang="en-US" altLang="ja-JP" sz="1200" i="1">
                                <a:latin typeface="Cambria Math" panose="02040503050406030204" pitchFamily="18" charset="0"/>
                              </a:rPr>
                              <m:t>∈</m:t>
                            </m:r>
                            <m:r>
                              <a:rPr lang="en-US" altLang="ja-JP" sz="1200" b="0" i="1" smtClean="0">
                                <a:latin typeface="Cambria Math" panose="02040503050406030204" pitchFamily="18" charset="0"/>
                              </a:rPr>
                              <m:t>𝑋</m:t>
                            </m:r>
                          </m:lim>
                        </m:limLow>
                      </m:fName>
                      <m:e>
                        <m:r>
                          <a:rPr lang="en-US" altLang="ja-JP" sz="1200" i="1">
                            <a:latin typeface="Cambria Math" panose="02040503050406030204" pitchFamily="18" charset="0"/>
                          </a:rPr>
                          <m:t>𝐾𝐿</m:t>
                        </m:r>
                        <m:d>
                          <m:dPr>
                            <m:ctrlPr>
                              <a:rPr lang="en-US" altLang="ja-JP" sz="1200" i="1">
                                <a:latin typeface="Cambria Math" panose="02040503050406030204" pitchFamily="18" charset="0"/>
                              </a:rPr>
                            </m:ctrlPr>
                          </m:dPr>
                          <m:e>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𝑄</m:t>
                                </m:r>
                              </m:e>
                              <m:sub>
                                <m:r>
                                  <a:rPr lang="en-US" altLang="ja-JP" sz="1200" b="0" i="1" smtClean="0">
                                    <a:latin typeface="Cambria Math" panose="02040503050406030204" pitchFamily="18" charset="0"/>
                                  </a:rPr>
                                  <m:t>𝑓</m:t>
                                </m:r>
                              </m:sub>
                            </m:sSub>
                            <m:r>
                              <a:rPr lang="en-US" altLang="ja-JP" sz="1200" i="1">
                                <a:latin typeface="Cambria Math" panose="02040503050406030204" pitchFamily="18" charset="0"/>
                              </a:rPr>
                              <m:t>(</m:t>
                            </m:r>
                            <m:sSup>
                              <m:sSupPr>
                                <m:ctrlPr>
                                  <a:rPr lang="en-US" altLang="ja-JP" sz="1200" b="0" i="1" smtClean="0">
                                    <a:latin typeface="Cambria Math" panose="02040503050406030204" pitchFamily="18" charset="0"/>
                                  </a:rPr>
                                </m:ctrlPr>
                              </m:sSupPr>
                              <m:e>
                                <m:r>
                                  <a:rPr lang="en-US" altLang="ja-JP" sz="1200" i="1">
                                    <a:latin typeface="Cambria Math" panose="02040503050406030204" pitchFamily="18" charset="0"/>
                                  </a:rPr>
                                  <m:t>𝑓</m:t>
                                </m:r>
                              </m:e>
                              <m:sup>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𝑋</m:t>
                                    </m:r>
                                  </m:e>
                                  <m:sub>
                                    <m:r>
                                      <a:rPr lang="en-US" altLang="ja-JP" sz="1200" b="0" i="1" smtClean="0">
                                        <a:latin typeface="Cambria Math" panose="02040503050406030204" pitchFamily="18" charset="0"/>
                                      </a:rPr>
                                      <m:t>𝑀</m:t>
                                    </m:r>
                                  </m:sub>
                                </m:sSub>
                              </m:sup>
                            </m:sSup>
                            <m:r>
                              <a:rPr lang="en-US" altLang="ja-JP" sz="1200" i="1">
                                <a:latin typeface="Cambria Math" panose="02040503050406030204" pitchFamily="18" charset="0"/>
                              </a:rPr>
                              <m:t>)||</m:t>
                            </m:r>
                            <m:sSub>
                              <m:sSubPr>
                                <m:ctrlPr>
                                  <a:rPr lang="en-US" altLang="ja-JP" sz="1200" i="1">
                                    <a:latin typeface="Cambria Math" panose="02040503050406030204" pitchFamily="18" charset="0"/>
                                  </a:rPr>
                                </m:ctrlPr>
                              </m:sSubPr>
                              <m:e>
                                <m:r>
                                  <a:rPr lang="en-US" altLang="ja-JP" sz="1200" i="1">
                                    <a:latin typeface="Cambria Math" panose="02040503050406030204" pitchFamily="18" charset="0"/>
                                  </a:rPr>
                                  <m:t>𝑝</m:t>
                                </m:r>
                              </m:e>
                              <m:sub>
                                <m:r>
                                  <a:rPr lang="en-US" altLang="ja-JP" sz="1200" i="1">
                                    <a:latin typeface="Cambria Math" panose="02040503050406030204" pitchFamily="18" charset="0"/>
                                  </a:rPr>
                                  <m:t>0</m:t>
                                </m:r>
                              </m:sub>
                            </m:sSub>
                            <m:r>
                              <a:rPr lang="en-US" altLang="ja-JP" sz="1200" i="1">
                                <a:latin typeface="Cambria Math" panose="02040503050406030204" pitchFamily="18" charset="0"/>
                              </a:rPr>
                              <m:t>(</m:t>
                            </m:r>
                            <m:sSup>
                              <m:sSupPr>
                                <m:ctrlPr>
                                  <a:rPr lang="en-US" altLang="ja-JP" sz="1200" b="0" i="1" smtClean="0">
                                    <a:latin typeface="Cambria Math" panose="02040503050406030204" pitchFamily="18" charset="0"/>
                                  </a:rPr>
                                </m:ctrlPr>
                              </m:sSupPr>
                              <m:e>
                                <m:r>
                                  <a:rPr lang="en-US" altLang="ja-JP" sz="1200" i="1">
                                    <a:latin typeface="Cambria Math" panose="02040503050406030204" pitchFamily="18" charset="0"/>
                                  </a:rPr>
                                  <m:t>𝑓</m:t>
                                </m:r>
                              </m:e>
                              <m:sup>
                                <m:sSub>
                                  <m:sSubPr>
                                    <m:ctrlPr>
                                      <a:rPr lang="en-US" altLang="ja-JP" sz="1200" b="0" i="1" smtClean="0">
                                        <a:latin typeface="Cambria Math" panose="02040503050406030204" pitchFamily="18" charset="0"/>
                                      </a:rPr>
                                    </m:ctrlPr>
                                  </m:sSubPr>
                                  <m:e>
                                    <m:r>
                                      <a:rPr lang="en-US" altLang="ja-JP" sz="1200" b="0" i="1" smtClean="0">
                                        <a:latin typeface="Cambria Math" panose="02040503050406030204" pitchFamily="18" charset="0"/>
                                      </a:rPr>
                                      <m:t>𝑋</m:t>
                                    </m:r>
                                  </m:e>
                                  <m:sub>
                                    <m:r>
                                      <a:rPr lang="en-US" altLang="ja-JP" sz="1200" b="0" i="1" smtClean="0">
                                        <a:latin typeface="Cambria Math" panose="02040503050406030204" pitchFamily="18" charset="0"/>
                                      </a:rPr>
                                      <m:t>𝑀</m:t>
                                    </m:r>
                                  </m:sub>
                                </m:sSub>
                              </m:sup>
                            </m:sSup>
                            <m:r>
                              <a:rPr lang="en-US" altLang="ja-JP" sz="1200" i="1">
                                <a:latin typeface="Cambria Math" panose="02040503050406030204" pitchFamily="18" charset="0"/>
                              </a:rPr>
                              <m:t>)</m:t>
                            </m:r>
                          </m:e>
                        </m:d>
                      </m:e>
                    </m:func>
                  </m:oMath>
                </a14:m>
                <a:r>
                  <a:rPr kumimoji="1" lang="ja-JP" altLang="en-US" sz="1200" dirty="0"/>
                  <a:t>で近似する</a:t>
                </a:r>
                <a:endParaRPr kumimoji="1" lang="en-US" altLang="ja-JP" sz="1200" dirty="0"/>
              </a:p>
              <a:p>
                <a:r>
                  <a:rPr lang="ja-JP" altLang="en-US" sz="1200" dirty="0"/>
                  <a:t>　　→ いい感じのサンプルを選ぶことで精度は変わる</a:t>
                </a:r>
                <a:endParaRPr kumimoji="1" lang="en-US" altLang="ja-JP" sz="1200" dirty="0"/>
              </a:p>
            </p:txBody>
          </p:sp>
        </mc:Choice>
        <mc:Fallback xmlns="">
          <p:sp>
            <p:nvSpPr>
              <p:cNvPr id="8" name="テキスト ボックス 7">
                <a:extLst>
                  <a:ext uri="{FF2B5EF4-FFF2-40B4-BE49-F238E27FC236}">
                    <a16:creationId xmlns:a16="http://schemas.microsoft.com/office/drawing/2014/main" id="{68E297A7-BB5D-7B9C-CA6B-DD9BB7372D1B}"/>
                  </a:ext>
                </a:extLst>
              </p:cNvPr>
              <p:cNvSpPr txBox="1">
                <a:spLocks noRot="1" noChangeAspect="1" noMove="1" noResize="1" noEditPoints="1" noAdjustHandles="1" noChangeArrowheads="1" noChangeShapeType="1" noTextEdit="1"/>
              </p:cNvSpPr>
              <p:nvPr/>
            </p:nvSpPr>
            <p:spPr>
              <a:xfrm>
                <a:off x="694944" y="3741996"/>
                <a:ext cx="10942604" cy="1814664"/>
              </a:xfrm>
              <a:prstGeom prst="rect">
                <a:avLst/>
              </a:prstGeom>
              <a:blipFill>
                <a:blip r:embed="rId4"/>
                <a:stretch>
                  <a:fillRect l="-167" t="-6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8416FBF0-B8B4-FA1B-AA10-9A52E78103F1}"/>
                  </a:ext>
                </a:extLst>
              </p:cNvPr>
              <p:cNvSpPr txBox="1"/>
              <p:nvPr/>
            </p:nvSpPr>
            <p:spPr>
              <a:xfrm>
                <a:off x="2691134" y="5826160"/>
                <a:ext cx="6568369"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acc>
                            <m:accPr>
                              <m:chr m:val="̃"/>
                              <m:ctrlPr>
                                <a:rPr kumimoji="1" lang="en-US" altLang="ja-JP" b="0" i="1" smtClean="0">
                                  <a:latin typeface="Cambria Math" panose="02040503050406030204" pitchFamily="18" charset="0"/>
                                  <a:ea typeface="Cambria Math" panose="02040503050406030204" pitchFamily="18" charset="0"/>
                                </a:rPr>
                              </m:ctrlPr>
                            </m:accPr>
                            <m:e>
                              <m:r>
                                <a:rPr kumimoji="1" lang="en-US" altLang="ja-JP" b="0" i="1" smtClean="0">
                                  <a:latin typeface="Cambria Math" panose="02040503050406030204" pitchFamily="18" charset="0"/>
                                  <a:ea typeface="Cambria Math" panose="02040503050406030204" pitchFamily="18" charset="0"/>
                                </a:rPr>
                                <m:t>ℒ</m:t>
                              </m:r>
                            </m:e>
                          </m:acc>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sub>
                      </m:sSub>
                      <m:r>
                        <a:rPr lang="en-US" altLang="ja-JP" b="0" i="1" smtClean="0">
                          <a:latin typeface="Cambria Math" panose="02040503050406030204" pitchFamily="18" charset="0"/>
                        </a:rPr>
                        <m:t>=</m:t>
                      </m:r>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i="1">
                              <a:latin typeface="Cambria Math" panose="02040503050406030204" pitchFamily="18" charset="0"/>
                            </a:rPr>
                            <m:t>𝐿</m:t>
                          </m:r>
                        </m:den>
                      </m:f>
                      <m:nary>
                        <m:naryPr>
                          <m:chr m:val="∑"/>
                          <m:ctrlPr>
                            <a:rPr lang="en-US" altLang="ja-JP" i="1">
                              <a:latin typeface="Cambria Math" panose="02040503050406030204" pitchFamily="18" charset="0"/>
                            </a:rPr>
                          </m:ctrlPr>
                        </m:naryPr>
                        <m:sub>
                          <m:r>
                            <m:rPr>
                              <m:brk m:alnAt="23"/>
                            </m:rPr>
                            <a:rPr lang="en-US" altLang="ja-JP" i="1">
                              <a:latin typeface="Cambria Math" panose="02040503050406030204" pitchFamily="18" charset="0"/>
                            </a:rPr>
                            <m:t>𝑗</m:t>
                          </m:r>
                          <m:r>
                            <a:rPr lang="en-US" altLang="ja-JP" i="1">
                              <a:latin typeface="Cambria Math" panose="02040503050406030204" pitchFamily="18" charset="0"/>
                            </a:rPr>
                            <m:t>=1</m:t>
                          </m:r>
                        </m:sub>
                        <m:sup>
                          <m:r>
                            <a:rPr lang="en-US" altLang="ja-JP" i="1">
                              <a:latin typeface="Cambria Math" panose="02040503050406030204" pitchFamily="18" charset="0"/>
                            </a:rPr>
                            <m:t>𝐿</m:t>
                          </m:r>
                        </m:sup>
                        <m:e>
                          <m:func>
                            <m:funcPr>
                              <m:ctrlPr>
                                <a:rPr lang="en-US" altLang="ja-JP" i="1">
                                  <a:latin typeface="Cambria Math" panose="02040503050406030204" pitchFamily="18" charset="0"/>
                                </a:rPr>
                              </m:ctrlPr>
                            </m:funcPr>
                            <m:fName>
                              <m:r>
                                <m:rPr>
                                  <m:sty m:val="p"/>
                                </m:rPr>
                                <a:rPr lang="en-US" altLang="ja-JP">
                                  <a:latin typeface="Cambria Math" panose="02040503050406030204" pitchFamily="18" charset="0"/>
                                </a:rPr>
                                <m:t>log</m:t>
                              </m:r>
                            </m:fName>
                            <m:e>
                              <m:r>
                                <a:rPr lang="en-US" altLang="ja-JP" i="1">
                                  <a:latin typeface="Cambria Math" panose="02040503050406030204" pitchFamily="18" charset="0"/>
                                </a:rPr>
                                <m:t>𝑝</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𝐷</m:t>
                                      </m:r>
                                    </m:sub>
                                  </m:sSub>
                                </m:e>
                                <m:e>
                                  <m:r>
                                    <a:rPr lang="en-US" altLang="ja-JP" i="1">
                                      <a:latin typeface="Cambria Math" panose="02040503050406030204" pitchFamily="18" charset="0"/>
                                    </a:rPr>
                                    <m:t>𝑓</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𝐷</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𝑤</m:t>
                                          </m:r>
                                        </m:e>
                                        <m:sub>
                                          <m:r>
                                            <a:rPr lang="en-US" altLang="ja-JP" i="1">
                                              <a:latin typeface="Cambria Math" panose="02040503050406030204" pitchFamily="18" charset="0"/>
                                            </a:rPr>
                                            <m:t>𝑗</m:t>
                                          </m:r>
                                        </m:sub>
                                      </m:sSub>
                                    </m:e>
                                  </m:d>
                                </m:e>
                              </m:d>
                            </m:e>
                          </m:func>
                        </m:e>
                      </m:nary>
                      <m:r>
                        <a:rPr lang="en-US" altLang="ja-JP" b="0" i="1" smtClean="0">
                          <a:latin typeface="Cambria Math" panose="02040503050406030204" pitchFamily="18" charset="0"/>
                        </a:rPr>
                        <m:t>−</m:t>
                      </m:r>
                      <m:func>
                        <m:funcPr>
                          <m:ctrlPr>
                            <a:rPr lang="en-US" altLang="ja-JP" i="1">
                              <a:latin typeface="Cambria Math" panose="02040503050406030204" pitchFamily="18" charset="0"/>
                            </a:rPr>
                          </m:ctrlPr>
                        </m:funcPr>
                        <m:fName>
                          <m:limLow>
                            <m:limLowPr>
                              <m:ctrlPr>
                                <a:rPr lang="en-US" altLang="ja-JP" i="1">
                                  <a:latin typeface="Cambria Math" panose="02040503050406030204" pitchFamily="18" charset="0"/>
                                </a:rPr>
                              </m:ctrlPr>
                            </m:limLowPr>
                            <m:e>
                              <m:r>
                                <m:rPr>
                                  <m:sty m:val="p"/>
                                </m:rPr>
                                <a:rPr lang="en-US" altLang="ja-JP">
                                  <a:latin typeface="Cambria Math" panose="02040503050406030204" pitchFamily="18" charset="0"/>
                                </a:rPr>
                                <m:t>max</m:t>
                              </m:r>
                            </m:e>
                            <m:lim>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𝑀</m:t>
                                  </m:r>
                                </m:sub>
                              </m:sSub>
                              <m:r>
                                <a:rPr lang="en-US" altLang="ja-JP" i="1">
                                  <a:latin typeface="Cambria Math" panose="02040503050406030204" pitchFamily="18" charset="0"/>
                                </a:rPr>
                                <m:t>∈</m:t>
                              </m:r>
                              <m:r>
                                <a:rPr lang="en-US" altLang="ja-JP" i="1">
                                  <a:latin typeface="Cambria Math" panose="02040503050406030204" pitchFamily="18" charset="0"/>
                                </a:rPr>
                                <m:t>𝑋</m:t>
                              </m:r>
                            </m:lim>
                          </m:limLow>
                        </m:fName>
                        <m:e>
                          <m:r>
                            <a:rPr lang="en-US" altLang="ja-JP" i="1">
                              <a:latin typeface="Cambria Math" panose="02040503050406030204" pitchFamily="18" charset="0"/>
                            </a:rPr>
                            <m:t>𝐾𝐿</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𝑀</m:t>
                                      </m:r>
                                    </m:sub>
                                  </m:sSub>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0</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𝑀</m:t>
                                      </m:r>
                                    </m:sub>
                                  </m:sSub>
                                </m:sup>
                              </m:sSup>
                              <m:r>
                                <a:rPr lang="en-US" altLang="ja-JP" i="1">
                                  <a:latin typeface="Cambria Math" panose="02040503050406030204" pitchFamily="18" charset="0"/>
                                </a:rPr>
                                <m:t>)</m:t>
                              </m:r>
                            </m:e>
                          </m:d>
                        </m:e>
                      </m:func>
                    </m:oMath>
                  </m:oMathPara>
                </a14:m>
                <a:endParaRPr lang="ja-JP" altLang="en-US" dirty="0"/>
              </a:p>
            </p:txBody>
          </p:sp>
        </mc:Choice>
        <mc:Fallback xmlns="">
          <p:sp>
            <p:nvSpPr>
              <p:cNvPr id="9" name="テキスト ボックス 8">
                <a:extLst>
                  <a:ext uri="{FF2B5EF4-FFF2-40B4-BE49-F238E27FC236}">
                    <a16:creationId xmlns:a16="http://schemas.microsoft.com/office/drawing/2014/main" id="{8416FBF0-B8B4-FA1B-AA10-9A52E78103F1}"/>
                  </a:ext>
                </a:extLst>
              </p:cNvPr>
              <p:cNvSpPr txBox="1">
                <a:spLocks noRot="1" noChangeAspect="1" noMove="1" noResize="1" noEditPoints="1" noAdjustHandles="1" noChangeArrowheads="1" noChangeShapeType="1" noTextEdit="1"/>
              </p:cNvSpPr>
              <p:nvPr/>
            </p:nvSpPr>
            <p:spPr>
              <a:xfrm>
                <a:off x="2691134" y="5826160"/>
                <a:ext cx="6568369" cy="902555"/>
              </a:xfrm>
              <a:prstGeom prst="rect">
                <a:avLst/>
              </a:prstGeom>
              <a:blipFill>
                <a:blip r:embed="rId5"/>
                <a:stretch>
                  <a:fillRect/>
                </a:stretch>
              </a:blipFill>
            </p:spPr>
            <p:txBody>
              <a:bodyPr/>
              <a:lstStyle/>
              <a:p>
                <a:r>
                  <a:rPr lang="ja-JP" altLang="en-US">
                    <a:noFill/>
                  </a:rPr>
                  <a:t> </a:t>
                </a:r>
              </a:p>
            </p:txBody>
          </p:sp>
        </mc:Fallback>
      </mc:AlternateContent>
      <p:sp>
        <p:nvSpPr>
          <p:cNvPr id="11" name="正方形/長方形 10">
            <a:extLst>
              <a:ext uri="{FF2B5EF4-FFF2-40B4-BE49-F238E27FC236}">
                <a16:creationId xmlns:a16="http://schemas.microsoft.com/office/drawing/2014/main" id="{37842735-DB76-2281-7A51-A8C2E919D665}"/>
              </a:ext>
            </a:extLst>
          </p:cNvPr>
          <p:cNvSpPr/>
          <p:nvPr/>
        </p:nvSpPr>
        <p:spPr>
          <a:xfrm>
            <a:off x="1693628" y="5686746"/>
            <a:ext cx="7967207" cy="10957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CCA4B5C9-45E0-6ECD-E930-9C1F9C71BD56}"/>
              </a:ext>
            </a:extLst>
          </p:cNvPr>
          <p:cNvSpPr txBox="1"/>
          <p:nvPr/>
        </p:nvSpPr>
        <p:spPr>
          <a:xfrm>
            <a:off x="1927643" y="5533618"/>
            <a:ext cx="2143179" cy="369332"/>
          </a:xfrm>
          <a:prstGeom prst="rect">
            <a:avLst/>
          </a:prstGeom>
          <a:solidFill>
            <a:schemeClr val="bg1"/>
          </a:solidFill>
          <a:ln>
            <a:solidFill>
              <a:schemeClr val="bg1"/>
            </a:solidFill>
          </a:ln>
        </p:spPr>
        <p:txBody>
          <a:bodyPr wrap="square" rtlCol="0">
            <a:spAutoFit/>
          </a:bodyPr>
          <a:lstStyle/>
          <a:p>
            <a:r>
              <a:rPr kumimoji="1" lang="ja-JP" altLang="en-US" dirty="0"/>
              <a:t>最終的な目的関数</a:t>
            </a:r>
            <a:r>
              <a:rPr kumimoji="1" lang="en-US" altLang="ja-JP" dirty="0"/>
              <a:t>:</a:t>
            </a:r>
            <a:endParaRPr kumimoji="1" lang="ja-JP" altLang="en-US" dirty="0"/>
          </a:p>
        </p:txBody>
      </p:sp>
    </p:spTree>
    <p:extLst>
      <p:ext uri="{BB962C8B-B14F-4D97-AF65-F5344CB8AC3E}">
        <p14:creationId xmlns:p14="http://schemas.microsoft.com/office/powerpoint/2010/main" val="127235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1DBAC-E46E-D338-8FE4-F47C2C24E3E8}"/>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5D61027-EF4F-930B-AC5F-C366C28D3A10}"/>
              </a:ext>
            </a:extLst>
          </p:cNvPr>
          <p:cNvSpPr txBox="1"/>
          <p:nvPr/>
        </p:nvSpPr>
        <p:spPr>
          <a:xfrm>
            <a:off x="342471" y="441790"/>
            <a:ext cx="5070777" cy="523220"/>
          </a:xfrm>
          <a:prstGeom prst="rect">
            <a:avLst/>
          </a:prstGeom>
          <a:noFill/>
        </p:spPr>
        <p:txBody>
          <a:bodyPr wrap="square" rtlCol="0">
            <a:spAutoFit/>
          </a:bodyPr>
          <a:lstStyle/>
          <a:p>
            <a:r>
              <a:rPr kumimoji="1" lang="ja-JP" altLang="en-US" sz="2800" dirty="0"/>
              <a:t>関数空間上の</a:t>
            </a:r>
            <a:r>
              <a:rPr kumimoji="1" lang="en-US" altLang="ja-JP" sz="2800" dirty="0"/>
              <a:t>MCMC</a:t>
            </a:r>
            <a:r>
              <a:rPr lang="en-US" altLang="ja-JP" sz="2800" dirty="0"/>
              <a:t>(</a:t>
            </a:r>
            <a:r>
              <a:rPr lang="en-US" altLang="ja-JP" sz="2800" dirty="0" err="1"/>
              <a:t>fMCMC</a:t>
            </a:r>
            <a:r>
              <a:rPr lang="en-US" altLang="ja-JP" sz="2800" dirty="0"/>
              <a:t>)</a:t>
            </a:r>
            <a:endParaRPr kumimoji="1" lang="ja-JP" altLang="en-US" sz="2800" dirty="0"/>
          </a:p>
        </p:txBody>
      </p:sp>
      <p:sp>
        <p:nvSpPr>
          <p:cNvPr id="3" name="テキスト ボックス 2">
            <a:extLst>
              <a:ext uri="{FF2B5EF4-FFF2-40B4-BE49-F238E27FC236}">
                <a16:creationId xmlns:a16="http://schemas.microsoft.com/office/drawing/2014/main" id="{E357859E-54CA-5142-A670-3B6DC4D09063}"/>
              </a:ext>
            </a:extLst>
          </p:cNvPr>
          <p:cNvSpPr txBox="1"/>
          <p:nvPr/>
        </p:nvSpPr>
        <p:spPr>
          <a:xfrm>
            <a:off x="542817" y="1397282"/>
            <a:ext cx="11440635" cy="646331"/>
          </a:xfrm>
          <a:prstGeom prst="rect">
            <a:avLst/>
          </a:prstGeom>
          <a:noFill/>
        </p:spPr>
        <p:txBody>
          <a:bodyPr wrap="square" rtlCol="0">
            <a:spAutoFit/>
          </a:bodyPr>
          <a:lstStyle/>
          <a:p>
            <a:r>
              <a:rPr lang="ja-JP" altLang="en-US" dirty="0"/>
              <a:t>事後分布からのサンプリングを行う方法でいくつかの方法があって、この論文では</a:t>
            </a:r>
            <a:r>
              <a:rPr lang="en-US" altLang="ja-JP" dirty="0"/>
              <a:t>Stochastic Gradient Langevin</a:t>
            </a:r>
            <a:r>
              <a:rPr lang="ja-JP" altLang="en-US" dirty="0"/>
              <a:t> </a:t>
            </a:r>
            <a:r>
              <a:rPr lang="en-US" altLang="ja-JP" dirty="0"/>
              <a:t>Dynamics(SGLD)</a:t>
            </a:r>
            <a:r>
              <a:rPr lang="ja-JP" altLang="en-US" dirty="0"/>
              <a:t>を関数空間上でやるもの</a:t>
            </a:r>
            <a:r>
              <a:rPr lang="en-US" altLang="ja-JP" dirty="0"/>
              <a:t>(</a:t>
            </a:r>
            <a:r>
              <a:rPr lang="en-US" altLang="ja-JP" dirty="0" err="1"/>
              <a:t>fSGLD</a:t>
            </a:r>
            <a:r>
              <a:rPr lang="en-US" altLang="ja-JP" dirty="0"/>
              <a:t>)</a:t>
            </a:r>
            <a:r>
              <a:rPr lang="ja-JP" altLang="en-US" dirty="0"/>
              <a:t>が提案されているので、それらを簡単に説明</a:t>
            </a:r>
            <a:endParaRPr lang="en-US" altLang="ja-JP" dirty="0"/>
          </a:p>
        </p:txBody>
      </p:sp>
      <p:sp>
        <p:nvSpPr>
          <p:cNvPr id="4" name="テキスト ボックス 3">
            <a:extLst>
              <a:ext uri="{FF2B5EF4-FFF2-40B4-BE49-F238E27FC236}">
                <a16:creationId xmlns:a16="http://schemas.microsoft.com/office/drawing/2014/main" id="{6DDB6D08-F78E-F406-0798-A1CB0255D892}"/>
              </a:ext>
            </a:extLst>
          </p:cNvPr>
          <p:cNvSpPr txBox="1"/>
          <p:nvPr/>
        </p:nvSpPr>
        <p:spPr>
          <a:xfrm>
            <a:off x="702644" y="2388782"/>
            <a:ext cx="1015021" cy="461665"/>
          </a:xfrm>
          <a:prstGeom prst="rect">
            <a:avLst/>
          </a:prstGeom>
          <a:noFill/>
        </p:spPr>
        <p:txBody>
          <a:bodyPr wrap="none" rtlCol="0">
            <a:spAutoFit/>
          </a:bodyPr>
          <a:lstStyle/>
          <a:p>
            <a:r>
              <a:rPr kumimoji="1" lang="en-US" altLang="ja-JP" sz="2400" dirty="0"/>
              <a:t>SGLD</a:t>
            </a:r>
            <a:endParaRPr kumimoji="1" lang="ja-JP" altLang="en-US" sz="2400" dirty="0"/>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F31AB788-3003-90BE-FB59-7197187DDA33}"/>
                  </a:ext>
                </a:extLst>
              </p:cNvPr>
              <p:cNvSpPr txBox="1"/>
              <p:nvPr/>
            </p:nvSpPr>
            <p:spPr>
              <a:xfrm>
                <a:off x="1515534" y="2850447"/>
                <a:ext cx="9656490" cy="276999"/>
              </a:xfrm>
              <a:prstGeom prst="rect">
                <a:avLst/>
              </a:prstGeom>
              <a:noFill/>
            </p:spPr>
            <p:txBody>
              <a:bodyPr wrap="none" lIns="0" tIns="0" rIns="0" bIns="0" rtlCol="0">
                <a:spAutoFit/>
              </a:bodyPr>
              <a:lstStyle/>
              <a:p>
                <a14:m>
                  <m:oMath xmlns:m="http://schemas.openxmlformats.org/officeDocument/2006/math">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𝑤</m:t>
                        </m:r>
                      </m:e>
                    </m:d>
                    <m:r>
                      <a:rPr kumimoji="1" lang="en-US" altLang="ja-JP" b="0" i="1" smtClean="0">
                        <a:latin typeface="Cambria Math" panose="02040503050406030204" pitchFamily="18" charset="0"/>
                      </a:rPr>
                      <m:t>∝</m:t>
                    </m:r>
                    <m:r>
                      <m:rPr>
                        <m:sty m:val="p"/>
                      </m:rPr>
                      <a:rPr kumimoji="1" lang="en-US" altLang="ja-JP" b="0" i="0" smtClean="0">
                        <a:latin typeface="Cambria Math" panose="02040503050406030204" pitchFamily="18" charset="0"/>
                      </a:rPr>
                      <m:t>exp</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𝑈</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𝑤</m:t>
                        </m:r>
                      </m:e>
                    </m:d>
                    <m:r>
                      <a:rPr kumimoji="1" lang="en-US" altLang="ja-JP" b="0" i="1" smtClean="0">
                        <a:latin typeface="Cambria Math" panose="02040503050406030204" pitchFamily="18" charset="0"/>
                      </a:rPr>
                      <m:t>)</m:t>
                    </m:r>
                  </m:oMath>
                </a14:m>
                <a:r>
                  <a:rPr kumimoji="1" lang="ja-JP" altLang="en-US" dirty="0"/>
                  <a:t>という分布からのサンプリングを行うことを考えると、以下の更新を行う</a:t>
                </a:r>
                <a:r>
                  <a:rPr kumimoji="1" lang="en-US" altLang="ja-JP" dirty="0"/>
                  <a:t>:</a:t>
                </a:r>
                <a:endParaRPr kumimoji="1" lang="ja-JP" altLang="en-US" dirty="0"/>
              </a:p>
            </p:txBody>
          </p:sp>
        </mc:Choice>
        <mc:Fallback xmlns="">
          <p:sp>
            <p:nvSpPr>
              <p:cNvPr id="5" name="テキスト ボックス 4">
                <a:extLst>
                  <a:ext uri="{FF2B5EF4-FFF2-40B4-BE49-F238E27FC236}">
                    <a16:creationId xmlns:a16="http://schemas.microsoft.com/office/drawing/2014/main" id="{F31AB788-3003-90BE-FB59-7197187DDA33}"/>
                  </a:ext>
                </a:extLst>
              </p:cNvPr>
              <p:cNvSpPr txBox="1">
                <a:spLocks noRot="1" noChangeAspect="1" noMove="1" noResize="1" noEditPoints="1" noAdjustHandles="1" noChangeArrowheads="1" noChangeShapeType="1" noTextEdit="1"/>
              </p:cNvSpPr>
              <p:nvPr/>
            </p:nvSpPr>
            <p:spPr>
              <a:xfrm>
                <a:off x="1515534" y="2850447"/>
                <a:ext cx="9656490" cy="276999"/>
              </a:xfrm>
              <a:prstGeom prst="rect">
                <a:avLst/>
              </a:prstGeom>
              <a:blipFill>
                <a:blip r:embed="rId2"/>
                <a:stretch>
                  <a:fillRect l="-884" t="-26667" r="-1326" b="-5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B1E6CE11-5216-D471-DF0C-3E81902615FC}"/>
                  </a:ext>
                </a:extLst>
              </p:cNvPr>
              <p:cNvSpPr txBox="1"/>
              <p:nvPr/>
            </p:nvSpPr>
            <p:spPr>
              <a:xfrm>
                <a:off x="4750682" y="3127446"/>
                <a:ext cx="3186193"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0" smtClean="0">
                          <a:latin typeface="Cambria Math" panose="02040503050406030204" pitchFamily="18" charset="0"/>
                        </a:rPr>
                        <m:t>−</m:t>
                      </m:r>
                      <m:r>
                        <m:rPr>
                          <m:sty m:val="p"/>
                        </m:rPr>
                        <a:rPr kumimoji="1" lang="en-US" altLang="ja-JP" b="0" i="0" smtClean="0">
                          <a:latin typeface="Cambria Math" panose="02040503050406030204" pitchFamily="18" charset="0"/>
                        </a:rPr>
                        <m:t>∇</m:t>
                      </m:r>
                      <m:r>
                        <a:rPr kumimoji="1" lang="en-US" altLang="ja-JP" b="0" i="1" smtClean="0">
                          <a:latin typeface="Cambria Math" panose="02040503050406030204" pitchFamily="18" charset="0"/>
                        </a:rPr>
                        <m:t>𝑈</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e>
                      </m:d>
                      <m:r>
                        <a:rPr kumimoji="1" lang="en-US" altLang="ja-JP" b="0" i="1" smtClean="0">
                          <a:latin typeface="Cambria Math" panose="02040503050406030204" pitchFamily="18" charset="0"/>
                        </a:rPr>
                        <m:t>+</m:t>
                      </m:r>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2</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𝜖</m:t>
                              </m:r>
                            </m:e>
                            <m:sub>
                              <m:r>
                                <a:rPr kumimoji="1" lang="en-US" altLang="ja-JP" b="0" i="1" smtClean="0">
                                  <a:latin typeface="Cambria Math" panose="02040503050406030204" pitchFamily="18" charset="0"/>
                                </a:rPr>
                                <m:t>𝑡</m:t>
                              </m:r>
                            </m:sub>
                          </m:sSub>
                        </m:e>
                      </m:rad>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𝜂</m:t>
                          </m:r>
                        </m:e>
                        <m:sub>
                          <m:r>
                            <a:rPr kumimoji="1" lang="en-US" altLang="ja-JP" b="0" i="1" smtClean="0">
                              <a:latin typeface="Cambria Math" panose="02040503050406030204" pitchFamily="18" charset="0"/>
                            </a:rPr>
                            <m:t>𝑡</m:t>
                          </m:r>
                        </m:sub>
                      </m:sSub>
                    </m:oMath>
                  </m:oMathPara>
                </a14:m>
                <a:endParaRPr kumimoji="1" lang="ja-JP" altLang="en-US" dirty="0"/>
              </a:p>
            </p:txBody>
          </p:sp>
        </mc:Choice>
        <mc:Fallback xmlns="">
          <p:sp>
            <p:nvSpPr>
              <p:cNvPr id="6" name="テキスト ボックス 5">
                <a:extLst>
                  <a:ext uri="{FF2B5EF4-FFF2-40B4-BE49-F238E27FC236}">
                    <a16:creationId xmlns:a16="http://schemas.microsoft.com/office/drawing/2014/main" id="{B1E6CE11-5216-D471-DF0C-3E81902615FC}"/>
                  </a:ext>
                </a:extLst>
              </p:cNvPr>
              <p:cNvSpPr txBox="1">
                <a:spLocks noRot="1" noChangeAspect="1" noMove="1" noResize="1" noEditPoints="1" noAdjustHandles="1" noChangeArrowheads="1" noChangeShapeType="1" noTextEdit="1"/>
              </p:cNvSpPr>
              <p:nvPr/>
            </p:nvSpPr>
            <p:spPr>
              <a:xfrm>
                <a:off x="4750682" y="3127446"/>
                <a:ext cx="3186193" cy="335413"/>
              </a:xfrm>
              <a:prstGeom prst="rect">
                <a:avLst/>
              </a:prstGeom>
              <a:blipFill>
                <a:blip r:embed="rId3"/>
                <a:stretch>
                  <a:fillRect b="-163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39A19A9-570B-4DAD-B9E6-8547C63EC7D0}"/>
                  </a:ext>
                </a:extLst>
              </p:cNvPr>
              <p:cNvSpPr txBox="1"/>
              <p:nvPr/>
            </p:nvSpPr>
            <p:spPr>
              <a:xfrm>
                <a:off x="2618071" y="3559110"/>
                <a:ext cx="300646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1400" b="0" i="1" smtClean="0">
                          <a:latin typeface="Cambria Math" panose="02040503050406030204" pitchFamily="18" charset="0"/>
                        </a:rPr>
                        <m:t>𝑈</m:t>
                      </m:r>
                      <m:d>
                        <m:dPr>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𝑤</m:t>
                          </m:r>
                        </m:e>
                      </m:d>
                      <m:r>
                        <a:rPr kumimoji="1" lang="en-US" altLang="ja-JP" sz="1400" b="0" i="1" smtClean="0">
                          <a:latin typeface="Cambria Math" panose="02040503050406030204" pitchFamily="18" charset="0"/>
                        </a:rPr>
                        <m:t>≔−</m:t>
                      </m:r>
                      <m:func>
                        <m:funcPr>
                          <m:ctrlPr>
                            <a:rPr kumimoji="1" lang="en-US" altLang="ja-JP" sz="1400" b="0" i="1" smtClean="0">
                              <a:latin typeface="Cambria Math" panose="02040503050406030204" pitchFamily="18" charset="0"/>
                            </a:rPr>
                          </m:ctrlPr>
                        </m:funcPr>
                        <m:fName>
                          <m:r>
                            <m:rPr>
                              <m:sty m:val="p"/>
                            </m:rPr>
                            <a:rPr kumimoji="1" lang="en-US" altLang="ja-JP" sz="1400" b="0" i="0" smtClean="0">
                              <a:latin typeface="Cambria Math" panose="02040503050406030204" pitchFamily="18" charset="0"/>
                            </a:rPr>
                            <m:t>log</m:t>
                          </m:r>
                        </m:fName>
                        <m:e>
                          <m:r>
                            <a:rPr kumimoji="1" lang="en-US" altLang="ja-JP" sz="1400" b="0" i="1" smtClean="0">
                              <a:latin typeface="Cambria Math" panose="02040503050406030204" pitchFamily="18" charset="0"/>
                            </a:rPr>
                            <m:t>𝑝</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𝑌</m:t>
                                  </m:r>
                                </m:e>
                                <m:sub>
                                  <m:r>
                                    <a:rPr kumimoji="1" lang="en-US" altLang="ja-JP" sz="1400" b="0" i="1" smtClean="0">
                                      <a:latin typeface="Cambria Math" panose="02040503050406030204" pitchFamily="18" charset="0"/>
                                    </a:rPr>
                                    <m:t>𝐷</m:t>
                                  </m:r>
                                </m:sub>
                              </m:sSub>
                            </m:e>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𝑋</m:t>
                                  </m:r>
                                </m:e>
                                <m:sub>
                                  <m:r>
                                    <a:rPr kumimoji="1" lang="en-US" altLang="ja-JP" sz="1400" b="0" i="1" smtClean="0">
                                      <a:latin typeface="Cambria Math" panose="02040503050406030204" pitchFamily="18" charset="0"/>
                                    </a:rPr>
                                    <m:t>𝐷</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e>
                          </m:d>
                        </m:e>
                      </m:func>
                      <m:r>
                        <a:rPr kumimoji="1" lang="en-US" altLang="ja-JP" sz="1400" b="0" i="1" smtClean="0">
                          <a:latin typeface="Cambria Math" panose="02040503050406030204" pitchFamily="18" charset="0"/>
                        </a:rPr>
                        <m:t>−</m:t>
                      </m:r>
                      <m:func>
                        <m:funcPr>
                          <m:ctrlPr>
                            <a:rPr kumimoji="1" lang="en-US" altLang="ja-JP" sz="1400" b="0" i="1" smtClean="0">
                              <a:latin typeface="Cambria Math" panose="02040503050406030204" pitchFamily="18" charset="0"/>
                            </a:rPr>
                          </m:ctrlPr>
                        </m:funcPr>
                        <m:fName>
                          <m:r>
                            <m:rPr>
                              <m:sty m:val="p"/>
                            </m:rPr>
                            <a:rPr kumimoji="1" lang="en-US" altLang="ja-JP" sz="1400" b="0" i="0" smtClean="0">
                              <a:latin typeface="Cambria Math" panose="02040503050406030204" pitchFamily="18" charset="0"/>
                            </a:rPr>
                            <m:t>log</m:t>
                          </m:r>
                        </m:fName>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𝑝</m:t>
                              </m:r>
                            </m:e>
                            <m:sub>
                              <m:r>
                                <a:rPr kumimoji="1" lang="en-US" altLang="ja-JP" sz="1400" b="0" i="1" smtClean="0">
                                  <a:latin typeface="Cambria Math" panose="02040503050406030204" pitchFamily="18" charset="0"/>
                                </a:rPr>
                                <m:t>0</m:t>
                              </m:r>
                            </m:sub>
                          </m:sSub>
                          <m:d>
                            <m:dPr>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𝑤</m:t>
                              </m:r>
                            </m:e>
                          </m:d>
                        </m:e>
                      </m:func>
                    </m:oMath>
                  </m:oMathPara>
                </a14:m>
                <a:endParaRPr kumimoji="1" lang="ja-JP" altLang="en-US" sz="1400" dirty="0"/>
              </a:p>
            </p:txBody>
          </p:sp>
        </mc:Choice>
        <mc:Fallback xmlns="">
          <p:sp>
            <p:nvSpPr>
              <p:cNvPr id="8" name="テキスト ボックス 7">
                <a:extLst>
                  <a:ext uri="{FF2B5EF4-FFF2-40B4-BE49-F238E27FC236}">
                    <a16:creationId xmlns:a16="http://schemas.microsoft.com/office/drawing/2014/main" id="{539A19A9-570B-4DAD-B9E6-8547C63EC7D0}"/>
                  </a:ext>
                </a:extLst>
              </p:cNvPr>
              <p:cNvSpPr txBox="1">
                <a:spLocks noRot="1" noChangeAspect="1" noMove="1" noResize="1" noEditPoints="1" noAdjustHandles="1" noChangeArrowheads="1" noChangeShapeType="1" noTextEdit="1"/>
              </p:cNvSpPr>
              <p:nvPr/>
            </p:nvSpPr>
            <p:spPr>
              <a:xfrm>
                <a:off x="2618071" y="3559110"/>
                <a:ext cx="3006464" cy="215444"/>
              </a:xfrm>
              <a:prstGeom prst="rect">
                <a:avLst/>
              </a:prstGeom>
              <a:blipFill>
                <a:blip r:embed="rId4"/>
                <a:stretch>
                  <a:fillRect l="-810" b="-3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AF08D6FA-A255-5AED-018F-DD1AFBAAFA9B}"/>
                  </a:ext>
                </a:extLst>
              </p:cNvPr>
              <p:cNvSpPr txBox="1"/>
              <p:nvPr/>
            </p:nvSpPr>
            <p:spPr>
              <a:xfrm>
                <a:off x="2618071" y="3898653"/>
                <a:ext cx="9389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𝜂</m:t>
                          </m:r>
                        </m:e>
                        <m:sub>
                          <m:r>
                            <a:rPr kumimoji="1" lang="en-US" altLang="ja-JP" sz="1400" b="0" i="1" smtClean="0">
                              <a:latin typeface="Cambria Math" panose="02040503050406030204" pitchFamily="18" charset="0"/>
                            </a:rPr>
                            <m:t>𝑡</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𝑁</m:t>
                      </m:r>
                      <m:r>
                        <a:rPr kumimoji="1" lang="en-US" altLang="ja-JP" sz="1400" b="0" i="1" smtClean="0">
                          <a:latin typeface="Cambria Math" panose="02040503050406030204" pitchFamily="18" charset="0"/>
                        </a:rPr>
                        <m:t>(0,</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𝐼</m:t>
                          </m:r>
                        </m:e>
                        <m:sub>
                          <m:r>
                            <a:rPr kumimoji="1" lang="en-US" altLang="ja-JP" sz="1400" b="0" i="1" smtClean="0">
                              <a:latin typeface="Cambria Math" panose="02040503050406030204" pitchFamily="18" charset="0"/>
                            </a:rPr>
                            <m:t>𝑘</m:t>
                          </m:r>
                        </m:sub>
                      </m:sSub>
                      <m:r>
                        <a:rPr kumimoji="1" lang="en-US" altLang="ja-JP" sz="1400" b="0" i="1" smtClean="0">
                          <a:latin typeface="Cambria Math" panose="02040503050406030204" pitchFamily="18" charset="0"/>
                        </a:rPr>
                        <m:t>)</m:t>
                      </m:r>
                    </m:oMath>
                  </m:oMathPara>
                </a14:m>
                <a:endParaRPr kumimoji="1" lang="ja-JP" altLang="en-US" sz="1400" dirty="0"/>
              </a:p>
            </p:txBody>
          </p:sp>
        </mc:Choice>
        <mc:Fallback xmlns="">
          <p:sp>
            <p:nvSpPr>
              <p:cNvPr id="9" name="テキスト ボックス 8">
                <a:extLst>
                  <a:ext uri="{FF2B5EF4-FFF2-40B4-BE49-F238E27FC236}">
                    <a16:creationId xmlns:a16="http://schemas.microsoft.com/office/drawing/2014/main" id="{AF08D6FA-A255-5AED-018F-DD1AFBAAFA9B}"/>
                  </a:ext>
                </a:extLst>
              </p:cNvPr>
              <p:cNvSpPr txBox="1">
                <a:spLocks noRot="1" noChangeAspect="1" noMove="1" noResize="1" noEditPoints="1" noAdjustHandles="1" noChangeArrowheads="1" noChangeShapeType="1" noTextEdit="1"/>
              </p:cNvSpPr>
              <p:nvPr/>
            </p:nvSpPr>
            <p:spPr>
              <a:xfrm>
                <a:off x="2618071" y="3898653"/>
                <a:ext cx="938910" cy="215444"/>
              </a:xfrm>
              <a:prstGeom prst="rect">
                <a:avLst/>
              </a:prstGeom>
              <a:blipFill>
                <a:blip r:embed="rId5"/>
                <a:stretch>
                  <a:fillRect l="-3247" r="-5844" b="-3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62D0D450-50BF-1FF0-7091-AFA0E58BDC4B}"/>
                  </a:ext>
                </a:extLst>
              </p:cNvPr>
              <p:cNvSpPr txBox="1"/>
              <p:nvPr/>
            </p:nvSpPr>
            <p:spPr>
              <a:xfrm>
                <a:off x="7855819" y="3404445"/>
                <a:ext cx="4204635" cy="335413"/>
              </a:xfrm>
              <a:prstGeom prst="rect">
                <a:avLst/>
              </a:prstGeom>
              <a:noFill/>
            </p:spPr>
            <p:txBody>
              <a:bodyPr wrap="square" rtlCol="0">
                <a:spAutoFit/>
              </a:bodyPr>
              <a:lstStyle/>
              <a:p>
                <a:r>
                  <a:rPr kumimoji="1" lang="en-US" altLang="ja-JP" sz="1600" dirty="0"/>
                  <a:t>※ </a:t>
                </a:r>
                <a14:m>
                  <m:oMath xmlns:m="http://schemas.openxmlformats.org/officeDocument/2006/math">
                    <m:r>
                      <a:rPr kumimoji="1" lang="en-US" altLang="ja-JP" sz="1600" b="0" i="1" smtClean="0">
                        <a:latin typeface="Cambria Math" panose="02040503050406030204" pitchFamily="18" charset="0"/>
                      </a:rPr>
                      <m:t>𝑈</m:t>
                    </m:r>
                    <m:d>
                      <m:dPr>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𝑤</m:t>
                        </m:r>
                      </m:e>
                    </m:d>
                    <m:r>
                      <a:rPr kumimoji="1" lang="en-US" altLang="ja-JP" sz="1600" b="0" i="1" smtClean="0">
                        <a:latin typeface="Cambria Math" panose="02040503050406030204" pitchFamily="18" charset="0"/>
                      </a:rPr>
                      <m:t> </m:t>
                    </m:r>
                  </m:oMath>
                </a14:m>
                <a:r>
                  <a:rPr kumimoji="1" lang="ja-JP" altLang="en-US" sz="1600" dirty="0"/>
                  <a:t>の部分を</a:t>
                </a:r>
                <a:r>
                  <a:rPr kumimoji="1" lang="en-US" altLang="ja-JP" sz="1600" dirty="0"/>
                  <a:t>mini-batch</a:t>
                </a:r>
                <a:r>
                  <a:rPr lang="ja-JP" altLang="en-US" sz="1600" dirty="0"/>
                  <a:t>にしてもよい</a:t>
                </a:r>
                <a:endParaRPr kumimoji="1" lang="en-US" altLang="ja-JP" sz="1600" dirty="0"/>
              </a:p>
            </p:txBody>
          </p:sp>
        </mc:Choice>
        <mc:Fallback xmlns="">
          <p:sp>
            <p:nvSpPr>
              <p:cNvPr id="10" name="テキスト ボックス 9">
                <a:extLst>
                  <a:ext uri="{FF2B5EF4-FFF2-40B4-BE49-F238E27FC236}">
                    <a16:creationId xmlns:a16="http://schemas.microsoft.com/office/drawing/2014/main" id="{62D0D450-50BF-1FF0-7091-AFA0E58BDC4B}"/>
                  </a:ext>
                </a:extLst>
              </p:cNvPr>
              <p:cNvSpPr txBox="1">
                <a:spLocks noRot="1" noChangeAspect="1" noMove="1" noResize="1" noEditPoints="1" noAdjustHandles="1" noChangeArrowheads="1" noChangeShapeType="1" noTextEdit="1"/>
              </p:cNvSpPr>
              <p:nvPr/>
            </p:nvSpPr>
            <p:spPr>
              <a:xfrm>
                <a:off x="7855819" y="3404445"/>
                <a:ext cx="4204635" cy="335413"/>
              </a:xfrm>
              <a:prstGeom prst="rect">
                <a:avLst/>
              </a:prstGeom>
              <a:blipFill>
                <a:blip r:embed="rId6"/>
                <a:stretch>
                  <a:fillRect l="-871" t="-5455" b="-236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221ECB13-0858-3A0F-50E2-88122966FCCA}"/>
                  </a:ext>
                </a:extLst>
              </p:cNvPr>
              <p:cNvSpPr txBox="1"/>
              <p:nvPr/>
            </p:nvSpPr>
            <p:spPr>
              <a:xfrm>
                <a:off x="3722817" y="3912738"/>
                <a:ext cx="3380862" cy="215444"/>
              </a:xfrm>
              <a:prstGeom prst="rect">
                <a:avLst/>
              </a:prstGeom>
              <a:noFill/>
            </p:spPr>
            <p:txBody>
              <a:bodyPr wrap="none" lIns="0" tIns="0" rIns="0" bIns="0" rtlCol="0">
                <a:spAutoFit/>
              </a:bodyPr>
              <a:lstStyle/>
              <a:p>
                <a14:m>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𝜖</m:t>
                        </m:r>
                      </m:e>
                      <m:sub>
                        <m:r>
                          <a:rPr kumimoji="1" lang="en-US" altLang="ja-JP" sz="1400" b="0" i="1" smtClean="0">
                            <a:latin typeface="Cambria Math" panose="02040503050406030204" pitchFamily="18" charset="0"/>
                          </a:rPr>
                          <m:t>𝑡</m:t>
                        </m:r>
                      </m:sub>
                    </m:sSub>
                    <m:r>
                      <a:rPr kumimoji="1" lang="en-US" altLang="ja-JP" sz="1400" b="0" i="1" smtClean="0">
                        <a:latin typeface="Cambria Math" panose="02040503050406030204" pitchFamily="18" charset="0"/>
                      </a:rPr>
                      <m:t>&gt;0</m:t>
                    </m:r>
                  </m:oMath>
                </a14:m>
                <a:r>
                  <a:rPr kumimoji="1" lang="en-US" altLang="ja-JP" sz="1400" dirty="0"/>
                  <a:t>: </a:t>
                </a:r>
                <a:r>
                  <a:rPr kumimoji="1" lang="ja-JP" altLang="en-US" sz="1400" dirty="0"/>
                  <a:t>徐々に</a:t>
                </a:r>
                <a:r>
                  <a:rPr kumimoji="1" lang="en-US" altLang="ja-JP" sz="1400" dirty="0"/>
                  <a:t>0</a:t>
                </a:r>
                <a:r>
                  <a:rPr kumimoji="1" lang="ja-JP" altLang="en-US" sz="1400" dirty="0"/>
                  <a:t>に近づけるステップサイズ</a:t>
                </a:r>
              </a:p>
            </p:txBody>
          </p:sp>
        </mc:Choice>
        <mc:Fallback xmlns="">
          <p:sp>
            <p:nvSpPr>
              <p:cNvPr id="11" name="テキスト ボックス 10">
                <a:extLst>
                  <a:ext uri="{FF2B5EF4-FFF2-40B4-BE49-F238E27FC236}">
                    <a16:creationId xmlns:a16="http://schemas.microsoft.com/office/drawing/2014/main" id="{221ECB13-0858-3A0F-50E2-88122966FCCA}"/>
                  </a:ext>
                </a:extLst>
              </p:cNvPr>
              <p:cNvSpPr txBox="1">
                <a:spLocks noRot="1" noChangeAspect="1" noMove="1" noResize="1" noEditPoints="1" noAdjustHandles="1" noChangeArrowheads="1" noChangeShapeType="1" noTextEdit="1"/>
              </p:cNvSpPr>
              <p:nvPr/>
            </p:nvSpPr>
            <p:spPr>
              <a:xfrm>
                <a:off x="3722817" y="3912738"/>
                <a:ext cx="3380862" cy="215444"/>
              </a:xfrm>
              <a:prstGeom prst="rect">
                <a:avLst/>
              </a:prstGeom>
              <a:blipFill>
                <a:blip r:embed="rId7"/>
                <a:stretch>
                  <a:fillRect l="-1444" t="-25714" r="-1986" b="-5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46BA58A1-AA55-299E-2B1D-D525A04CD6D1}"/>
                  </a:ext>
                </a:extLst>
              </p:cNvPr>
              <p:cNvSpPr txBox="1"/>
              <p:nvPr/>
            </p:nvSpPr>
            <p:spPr>
              <a:xfrm>
                <a:off x="1409101" y="4743223"/>
                <a:ext cx="10224634" cy="1169551"/>
              </a:xfrm>
              <a:prstGeom prst="rect">
                <a:avLst/>
              </a:prstGeom>
              <a:noFill/>
            </p:spPr>
            <p:txBody>
              <a:bodyPr wrap="square" rtlCol="0">
                <a:spAutoFit/>
              </a:bodyPr>
              <a:lstStyle/>
              <a:p>
                <a:r>
                  <a:rPr kumimoji="1" lang="en-US" altLang="ja-JP" sz="1400" dirty="0"/>
                  <a:t>※ </a:t>
                </a:r>
                <a:r>
                  <a:rPr kumimoji="1" lang="ja-JP" altLang="en-US" sz="1400" dirty="0"/>
                  <a:t>基本的に</a:t>
                </a:r>
                <a:r>
                  <a:rPr kumimoji="1" lang="en-US" altLang="ja-JP" sz="1400" dirty="0"/>
                  <a:t>MCMC</a:t>
                </a:r>
                <a:r>
                  <a:rPr kumimoji="1" lang="ja-JP" altLang="en-US" sz="1400" dirty="0"/>
                  <a:t>は、初期値の影響を考慮して、初期値から何回か繰り返しを行った後のサンプリングを使う</a:t>
                </a:r>
                <a:r>
                  <a:rPr kumimoji="1" lang="en-US" altLang="ja-JP" sz="1400" dirty="0"/>
                  <a:t>(</a:t>
                </a:r>
                <a:r>
                  <a:rPr kumimoji="1" lang="ja-JP" altLang="en-US" sz="1400" dirty="0"/>
                  <a:t>バーンイン</a:t>
                </a:r>
                <a:r>
                  <a:rPr kumimoji="1" lang="en-US" altLang="ja-JP" sz="1400" dirty="0"/>
                  <a:t>)</a:t>
                </a:r>
              </a:p>
              <a:p>
                <a:r>
                  <a:rPr kumimoji="1" lang="ja-JP" altLang="en-US" sz="1400" dirty="0"/>
                  <a:t>また、サンプリング間の相関を減らすため、間隔を空けてサンプリングが行われる</a:t>
                </a:r>
                <a:r>
                  <a:rPr kumimoji="1" lang="en-US" altLang="ja-JP" sz="1400" dirty="0"/>
                  <a:t>:</a:t>
                </a:r>
              </a:p>
              <a:p>
                <a:r>
                  <a:rPr lang="ja-JP" altLang="en-US" sz="1400" dirty="0"/>
                  <a:t>例</a:t>
                </a:r>
                <a:r>
                  <a:rPr lang="en-US" altLang="ja-JP" sz="1400" dirty="0"/>
                  <a:t>: </a:t>
                </a:r>
                <a:r>
                  <a:rPr lang="ja-JP" altLang="en-US" sz="1400" dirty="0"/>
                  <a:t>バーンインを</a:t>
                </a:r>
                <a:r>
                  <a:rPr lang="en-US" altLang="ja-JP" sz="1400" dirty="0"/>
                  <a:t>1000, </a:t>
                </a:r>
                <a:r>
                  <a:rPr lang="ja-JP" altLang="en-US" sz="1400" dirty="0"/>
                  <a:t>サンプリング間隔を</a:t>
                </a:r>
                <a:r>
                  <a:rPr lang="en-US" altLang="ja-JP" sz="1400" dirty="0"/>
                  <a:t>100</a:t>
                </a:r>
                <a:r>
                  <a:rPr lang="ja-JP" altLang="en-US" sz="1400" dirty="0"/>
                  <a:t>とすると</a:t>
                </a:r>
                <a:endParaRPr kumimoji="1" lang="en-US" altLang="ja-JP" sz="1400" dirty="0"/>
              </a:p>
              <a:p>
                <a14:m>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𝑤</m:t>
                        </m:r>
                      </m:e>
                      <m:sub>
                        <m:r>
                          <a:rPr kumimoji="1" lang="en-US" altLang="ja-JP" sz="1400" b="0" i="1" smtClean="0">
                            <a:latin typeface="Cambria Math" panose="02040503050406030204" pitchFamily="18" charset="0"/>
                          </a:rPr>
                          <m:t>1:1000</m:t>
                        </m:r>
                      </m:sub>
                    </m:sSub>
                  </m:oMath>
                </a14:m>
                <a:r>
                  <a:rPr kumimoji="1" lang="ja-JP" altLang="en-US" sz="1400" dirty="0"/>
                  <a:t>を捨てる →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1</m:t>
                        </m:r>
                        <m:r>
                          <a:rPr lang="en-US" altLang="ja-JP" sz="1400" b="0" i="1" smtClean="0">
                            <a:latin typeface="Cambria Math" panose="02040503050406030204" pitchFamily="18" charset="0"/>
                          </a:rPr>
                          <m:t>001</m:t>
                        </m:r>
                      </m:sub>
                    </m:sSub>
                  </m:oMath>
                </a14:m>
                <a:r>
                  <a:rPr kumimoji="1" lang="ja-JP" altLang="en-US" sz="1400" dirty="0"/>
                  <a:t>をサンプル →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100</m:t>
                        </m:r>
                        <m:r>
                          <a:rPr lang="en-US" altLang="ja-JP" sz="1400" b="0" i="1" smtClean="0">
                            <a:latin typeface="Cambria Math" panose="02040503050406030204" pitchFamily="18" charset="0"/>
                          </a:rPr>
                          <m:t>2:1100</m:t>
                        </m:r>
                      </m:sub>
                    </m:sSub>
                  </m:oMath>
                </a14:m>
                <a:r>
                  <a:rPr kumimoji="1" lang="ja-JP" altLang="en-US" sz="1400" dirty="0"/>
                  <a:t>を捨てる →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b="0" i="1" smtClean="0">
                            <a:latin typeface="Cambria Math" panose="02040503050406030204" pitchFamily="18" charset="0"/>
                          </a:rPr>
                          <m:t>11</m:t>
                        </m:r>
                        <m:r>
                          <a:rPr lang="en-US" altLang="ja-JP" sz="1400" i="1">
                            <a:latin typeface="Cambria Math" panose="02040503050406030204" pitchFamily="18" charset="0"/>
                          </a:rPr>
                          <m:t>0</m:t>
                        </m:r>
                        <m:r>
                          <a:rPr lang="en-US" altLang="ja-JP" sz="1400" b="0" i="1" smtClean="0">
                            <a:latin typeface="Cambria Math" panose="02040503050406030204" pitchFamily="18" charset="0"/>
                          </a:rPr>
                          <m:t>1</m:t>
                        </m:r>
                      </m:sub>
                    </m:sSub>
                  </m:oMath>
                </a14:m>
                <a:r>
                  <a:rPr lang="ja-JP" altLang="en-US" sz="1400" dirty="0"/>
                  <a:t>をサンプル → </a:t>
                </a:r>
                <a:r>
                  <a:rPr lang="en-US" altLang="ja-JP" sz="1400" dirty="0"/>
                  <a:t>…</a:t>
                </a:r>
              </a:p>
              <a:p>
                <a:r>
                  <a:rPr kumimoji="1" lang="ja-JP" altLang="en-US" sz="1400" dirty="0"/>
                  <a:t>として、</a:t>
                </a:r>
                <a:r>
                  <a:rPr lang="en-US" altLang="ja-JP"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1</m:t>
                        </m:r>
                        <m:r>
                          <a:rPr lang="en-US" altLang="ja-JP" sz="1400" b="0" i="1" smtClean="0">
                            <a:latin typeface="Cambria Math" panose="02040503050406030204" pitchFamily="18" charset="0"/>
                          </a:rPr>
                          <m:t>001</m:t>
                        </m:r>
                      </m:sub>
                    </m:sSub>
                    <m:r>
                      <a:rPr lang="en-US" altLang="ja-JP" sz="1400" b="0" i="1" smtClean="0">
                        <a:latin typeface="Cambria Math" panose="02040503050406030204" pitchFamily="18" charset="0"/>
                      </a:rPr>
                      <m:t>,</m:t>
                    </m:r>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𝑤</m:t>
                        </m:r>
                      </m:e>
                      <m:sub>
                        <m:r>
                          <a:rPr lang="en-US" altLang="ja-JP" sz="1400" b="0" i="1" smtClean="0">
                            <a:latin typeface="Cambria Math" panose="02040503050406030204" pitchFamily="18" charset="0"/>
                          </a:rPr>
                          <m:t>1101</m:t>
                        </m:r>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1</m:t>
                        </m:r>
                        <m:r>
                          <a:rPr lang="en-US" altLang="ja-JP" sz="1400" b="0" i="1" smtClean="0">
                            <a:latin typeface="Cambria Math" panose="02040503050406030204" pitchFamily="18" charset="0"/>
                          </a:rPr>
                          <m:t>2</m:t>
                        </m:r>
                        <m:r>
                          <a:rPr lang="en-US" altLang="ja-JP" sz="1400" i="1">
                            <a:latin typeface="Cambria Math" panose="02040503050406030204" pitchFamily="18" charset="0"/>
                          </a:rPr>
                          <m:t>0</m:t>
                        </m:r>
                        <m:r>
                          <a:rPr lang="en-US" altLang="ja-JP" sz="1400" b="0" i="1" smtClean="0">
                            <a:latin typeface="Cambria Math" panose="02040503050406030204" pitchFamily="18" charset="0"/>
                          </a:rPr>
                          <m:t>1</m:t>
                        </m:r>
                      </m:sub>
                    </m:sSub>
                    <m:r>
                      <a:rPr lang="en-US" altLang="ja-JP" sz="1400" b="0" i="1" smtClean="0">
                        <a:latin typeface="Cambria Math" panose="02040503050406030204" pitchFamily="18" charset="0"/>
                      </a:rPr>
                      <m:t>,…</m:t>
                    </m:r>
                  </m:oMath>
                </a14:m>
                <a:r>
                  <a:rPr kumimoji="1" lang="ja-JP" altLang="en-US" sz="1400" dirty="0"/>
                  <a:t>が最終的に得られるサンプリング</a:t>
                </a:r>
              </a:p>
            </p:txBody>
          </p:sp>
        </mc:Choice>
        <mc:Fallback xmlns="">
          <p:sp>
            <p:nvSpPr>
              <p:cNvPr id="12" name="テキスト ボックス 11">
                <a:extLst>
                  <a:ext uri="{FF2B5EF4-FFF2-40B4-BE49-F238E27FC236}">
                    <a16:creationId xmlns:a16="http://schemas.microsoft.com/office/drawing/2014/main" id="{46BA58A1-AA55-299E-2B1D-D525A04CD6D1}"/>
                  </a:ext>
                </a:extLst>
              </p:cNvPr>
              <p:cNvSpPr txBox="1">
                <a:spLocks noRot="1" noChangeAspect="1" noMove="1" noResize="1" noEditPoints="1" noAdjustHandles="1" noChangeArrowheads="1" noChangeShapeType="1" noTextEdit="1"/>
              </p:cNvSpPr>
              <p:nvPr/>
            </p:nvSpPr>
            <p:spPr>
              <a:xfrm>
                <a:off x="1409101" y="4743223"/>
                <a:ext cx="10224634" cy="1169551"/>
              </a:xfrm>
              <a:prstGeom prst="rect">
                <a:avLst/>
              </a:prstGeom>
              <a:blipFill>
                <a:blip r:embed="rId8"/>
                <a:stretch>
                  <a:fillRect l="-179" t="-1042" b="-4688"/>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B34F6B1C-6CB3-4B97-4690-825C6A511A20}"/>
              </a:ext>
            </a:extLst>
          </p:cNvPr>
          <p:cNvSpPr txBox="1"/>
          <p:nvPr/>
        </p:nvSpPr>
        <p:spPr>
          <a:xfrm>
            <a:off x="5751817" y="496006"/>
            <a:ext cx="6097712" cy="738664"/>
          </a:xfrm>
          <a:prstGeom prst="rect">
            <a:avLst/>
          </a:prstGeom>
          <a:noFill/>
        </p:spPr>
        <p:txBody>
          <a:bodyPr wrap="square">
            <a:spAutoFit/>
          </a:bodyPr>
          <a:lstStyle/>
          <a:p>
            <a:r>
              <a:rPr lang="ja-JP" altLang="en-US" sz="1400" dirty="0">
                <a:latin typeface="Arial" panose="020B0604020202020204" pitchFamily="34" charset="0"/>
                <a:cs typeface="Arial" panose="020B0604020202020204" pitchFamily="34" charset="0"/>
              </a:rPr>
              <a:t>ベース論文</a:t>
            </a:r>
            <a:r>
              <a:rPr lang="en-US" altLang="ja-JP" sz="1400" dirty="0">
                <a:latin typeface="Arial" panose="020B0604020202020204" pitchFamily="34" charset="0"/>
                <a:cs typeface="Arial" panose="020B0604020202020204" pitchFamily="34" charset="0"/>
              </a:rPr>
              <a:t>: </a:t>
            </a:r>
          </a:p>
          <a:p>
            <a:r>
              <a:rPr lang="en-US" altLang="ja-JP" sz="1400" dirty="0">
                <a:latin typeface="Arial" panose="020B0604020202020204" pitchFamily="34" charset="0"/>
                <a:cs typeface="Arial" panose="020B0604020202020204" pitchFamily="34" charset="0"/>
              </a:rPr>
              <a:t>Wu, </a:t>
            </a:r>
            <a:r>
              <a:rPr lang="en-US" altLang="ja-JP" sz="1400" dirty="0" err="1">
                <a:latin typeface="Arial" panose="020B0604020202020204" pitchFamily="34" charset="0"/>
                <a:cs typeface="Arial" panose="020B0604020202020204" pitchFamily="34" charset="0"/>
              </a:rPr>
              <a:t>Mengjing</a:t>
            </a:r>
            <a:r>
              <a:rPr lang="en-US" altLang="ja-JP" sz="1400" dirty="0">
                <a:latin typeface="Arial" panose="020B0604020202020204" pitchFamily="34" charset="0"/>
                <a:cs typeface="Arial" panose="020B0604020202020204" pitchFamily="34" charset="0"/>
              </a:rPr>
              <a:t>, Junyu Xuan, and Jie Lu. "Functional Stochastic Gradient MCMC for Bayesian Neural Networks.“, 2024.</a:t>
            </a:r>
            <a:endParaRPr lang="ja-JP"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0450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8B4338A-264A-CDDE-8A35-9FEC96E28B3B}"/>
              </a:ext>
            </a:extLst>
          </p:cNvPr>
          <p:cNvSpPr txBox="1"/>
          <p:nvPr/>
        </p:nvSpPr>
        <p:spPr>
          <a:xfrm>
            <a:off x="702644" y="872970"/>
            <a:ext cx="1120820" cy="461665"/>
          </a:xfrm>
          <a:prstGeom prst="rect">
            <a:avLst/>
          </a:prstGeom>
          <a:noFill/>
        </p:spPr>
        <p:txBody>
          <a:bodyPr wrap="none" rtlCol="0">
            <a:spAutoFit/>
          </a:bodyPr>
          <a:lstStyle/>
          <a:p>
            <a:r>
              <a:rPr kumimoji="1" lang="en-US" altLang="ja-JP" sz="2400" dirty="0" err="1"/>
              <a:t>fSGLD</a:t>
            </a:r>
            <a:endParaRPr kumimoji="1" lang="ja-JP" altLang="en-US" sz="2400"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74C4F7ED-326F-FCC5-58C1-32B56D00724E}"/>
                  </a:ext>
                </a:extLst>
              </p:cNvPr>
              <p:cNvSpPr txBox="1"/>
              <p:nvPr/>
            </p:nvSpPr>
            <p:spPr>
              <a:xfrm>
                <a:off x="1263053" y="1334635"/>
                <a:ext cx="10037005" cy="553998"/>
              </a:xfrm>
              <a:prstGeom prst="rect">
                <a:avLst/>
              </a:prstGeom>
              <a:noFill/>
            </p:spPr>
            <p:txBody>
              <a:bodyPr wrap="square" lIns="0" tIns="0" rIns="0" bIns="0" rtlCol="0">
                <a:spAutoFit/>
              </a:bodyPr>
              <a:lstStyle/>
              <a:p>
                <a14:m>
                  <m:oMath xmlns:m="http://schemas.openxmlformats.org/officeDocument/2006/math">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m:t>
                    </m:r>
                    <m:r>
                      <m:rPr>
                        <m:sty m:val="p"/>
                      </m:rPr>
                      <a:rPr kumimoji="1" lang="en-US" altLang="ja-JP" b="0" i="0" smtClean="0">
                        <a:latin typeface="Cambria Math" panose="02040503050406030204" pitchFamily="18" charset="0"/>
                      </a:rPr>
                      <m:t>exp</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𝑈</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𝑓</m:t>
                        </m:r>
                      </m:e>
                    </m:d>
                    <m:r>
                      <a:rPr kumimoji="1" lang="en-US" altLang="ja-JP" b="0" i="1" smtClean="0">
                        <a:latin typeface="Cambria Math" panose="02040503050406030204" pitchFamily="18" charset="0"/>
                      </a:rPr>
                      <m:t>)</m:t>
                    </m:r>
                  </m:oMath>
                </a14:m>
                <a:r>
                  <a:rPr kumimoji="1" lang="ja-JP" altLang="en-US" dirty="0"/>
                  <a:t>という分布からのサンプリングを行うことを考えると、以下の確率微分方程式を満たす</a:t>
                </a:r>
                <a:r>
                  <a:rPr kumimoji="1" lang="en-US" altLang="ja-JP" dirty="0"/>
                  <a:t>:</a:t>
                </a:r>
                <a:endParaRPr kumimoji="1" lang="ja-JP" altLang="en-US" dirty="0"/>
              </a:p>
            </p:txBody>
          </p:sp>
        </mc:Choice>
        <mc:Fallback xmlns="">
          <p:sp>
            <p:nvSpPr>
              <p:cNvPr id="3" name="テキスト ボックス 2">
                <a:extLst>
                  <a:ext uri="{FF2B5EF4-FFF2-40B4-BE49-F238E27FC236}">
                    <a16:creationId xmlns:a16="http://schemas.microsoft.com/office/drawing/2014/main" id="{74C4F7ED-326F-FCC5-58C1-32B56D00724E}"/>
                  </a:ext>
                </a:extLst>
              </p:cNvPr>
              <p:cNvSpPr txBox="1">
                <a:spLocks noRot="1" noChangeAspect="1" noMove="1" noResize="1" noEditPoints="1" noAdjustHandles="1" noChangeArrowheads="1" noChangeShapeType="1" noTextEdit="1"/>
              </p:cNvSpPr>
              <p:nvPr/>
            </p:nvSpPr>
            <p:spPr>
              <a:xfrm>
                <a:off x="1263053" y="1334635"/>
                <a:ext cx="10037005" cy="553998"/>
              </a:xfrm>
              <a:prstGeom prst="rect">
                <a:avLst/>
              </a:prstGeom>
              <a:blipFill>
                <a:blip r:embed="rId2"/>
                <a:stretch>
                  <a:fillRect l="-1396" t="-13187" r="-607" b="-24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84F40E0B-4FC9-8C46-14A1-5A238F30F473}"/>
                  </a:ext>
                </a:extLst>
              </p:cNvPr>
              <p:cNvSpPr txBox="1"/>
              <p:nvPr/>
            </p:nvSpPr>
            <p:spPr>
              <a:xfrm>
                <a:off x="4948946" y="1828688"/>
                <a:ext cx="2665217"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𝑑</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m:t>
                          </m:r>
                        </m:e>
                        <m:sub>
                          <m:r>
                            <a:rPr kumimoji="1" lang="en-US" altLang="ja-JP" b="0" i="1" smtClean="0">
                              <a:latin typeface="Cambria Math" panose="02040503050406030204" pitchFamily="18" charset="0"/>
                            </a:rPr>
                            <m:t>𝑤</m:t>
                          </m:r>
                        </m:sub>
                      </m:sSub>
                      <m:r>
                        <a:rPr kumimoji="1" lang="en-US" altLang="ja-JP" b="0" i="1" smtClean="0">
                          <a:latin typeface="Cambria Math" panose="02040503050406030204" pitchFamily="18" charset="0"/>
                        </a:rPr>
                        <m:t>𝑈</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𝑑𝑡</m:t>
                      </m:r>
                      <m:r>
                        <a:rPr kumimoji="1" lang="en-US" altLang="ja-JP" b="0" i="1" smtClean="0">
                          <a:latin typeface="Cambria Math" panose="02040503050406030204" pitchFamily="18" charset="0"/>
                        </a:rPr>
                        <m:t>+</m:t>
                      </m:r>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2</m:t>
                          </m:r>
                        </m:e>
                      </m:rad>
                      <m:r>
                        <a:rPr kumimoji="1" lang="en-US" altLang="ja-JP" b="0" i="1" smtClean="0">
                          <a:latin typeface="Cambria Math" panose="02040503050406030204" pitchFamily="18" charset="0"/>
                        </a:rPr>
                        <m:t>𝑑</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𝐵</m:t>
                          </m:r>
                        </m:e>
                        <m:sub>
                          <m:r>
                            <a:rPr kumimoji="1" lang="en-US" altLang="ja-JP" b="0" i="1" smtClean="0">
                              <a:latin typeface="Cambria Math" panose="02040503050406030204" pitchFamily="18" charset="0"/>
                            </a:rPr>
                            <m:t>𝑡</m:t>
                          </m:r>
                        </m:sub>
                      </m:sSub>
                    </m:oMath>
                  </m:oMathPara>
                </a14:m>
                <a:endParaRPr kumimoji="1" lang="ja-JP" altLang="en-US" dirty="0"/>
              </a:p>
            </p:txBody>
          </p:sp>
        </mc:Choice>
        <mc:Fallback xmlns="">
          <p:sp>
            <p:nvSpPr>
              <p:cNvPr id="4" name="テキスト ボックス 3">
                <a:extLst>
                  <a:ext uri="{FF2B5EF4-FFF2-40B4-BE49-F238E27FC236}">
                    <a16:creationId xmlns:a16="http://schemas.microsoft.com/office/drawing/2014/main" id="{84F40E0B-4FC9-8C46-14A1-5A238F30F473}"/>
                  </a:ext>
                </a:extLst>
              </p:cNvPr>
              <p:cNvSpPr txBox="1">
                <a:spLocks noRot="1" noChangeAspect="1" noMove="1" noResize="1" noEditPoints="1" noAdjustHandles="1" noChangeArrowheads="1" noChangeShapeType="1" noTextEdit="1"/>
              </p:cNvSpPr>
              <p:nvPr/>
            </p:nvSpPr>
            <p:spPr>
              <a:xfrm>
                <a:off x="4948946" y="1828688"/>
                <a:ext cx="2665217" cy="309637"/>
              </a:xfrm>
              <a:prstGeom prst="rect">
                <a:avLst/>
              </a:prstGeom>
              <a:blipFill>
                <a:blip r:embed="rId3"/>
                <a:stretch>
                  <a:fillRect l="-1602" b="-29412"/>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5832BCF3-89F1-6A5F-369F-E854328B3D9C}"/>
              </a:ext>
            </a:extLst>
          </p:cNvPr>
          <p:cNvSpPr txBox="1"/>
          <p:nvPr/>
        </p:nvSpPr>
        <p:spPr>
          <a:xfrm>
            <a:off x="983919" y="4081854"/>
            <a:ext cx="10316139" cy="338554"/>
          </a:xfrm>
          <a:prstGeom prst="rect">
            <a:avLst/>
          </a:prstGeom>
          <a:noFill/>
        </p:spPr>
        <p:txBody>
          <a:bodyPr wrap="square" rtlCol="0">
            <a:spAutoFit/>
          </a:bodyPr>
          <a:lstStyle/>
          <a:p>
            <a:r>
              <a:rPr kumimoji="1" lang="ja-JP" altLang="en-US" sz="1600" dirty="0"/>
              <a:t>無限次元の更新になって、扱いが大変なので、この更新に対応するパラメータの確率微分方程式を用いると、</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2F08A1E2-E862-D3D3-6133-7B38D7008683}"/>
                  </a:ext>
                </a:extLst>
              </p:cNvPr>
              <p:cNvSpPr txBox="1"/>
              <p:nvPr/>
            </p:nvSpPr>
            <p:spPr>
              <a:xfrm>
                <a:off x="9490019" y="2306750"/>
                <a:ext cx="1853423" cy="307777"/>
              </a:xfrm>
              <a:prstGeom prst="rect">
                <a:avLst/>
              </a:prstGeom>
              <a:noFill/>
            </p:spPr>
            <p:txBody>
              <a:bodyPr wrap="square">
                <a:spAutoFit/>
              </a:bodyPr>
              <a:lstStyle/>
              <a:p>
                <a14:m>
                  <m:oMath xmlns:m="http://schemas.openxmlformats.org/officeDocument/2006/math">
                    <m:r>
                      <a:rPr kumimoji="1" lang="en-US" altLang="ja-JP" sz="1400" b="0" i="1" smtClean="0">
                        <a:latin typeface="Cambria Math" panose="02040503050406030204" pitchFamily="18" charset="0"/>
                      </a:rPr>
                      <m:t>𝐵</m:t>
                    </m:r>
                  </m:oMath>
                </a14:m>
                <a:r>
                  <a:rPr kumimoji="1" lang="en-US" altLang="ja-JP" sz="1400" dirty="0"/>
                  <a:t>:</a:t>
                </a:r>
                <a:r>
                  <a:rPr kumimoji="1" lang="ja-JP" altLang="en-US" sz="1400" dirty="0"/>
                  <a:t>ブラウン運動</a:t>
                </a:r>
              </a:p>
            </p:txBody>
          </p:sp>
        </mc:Choice>
        <mc:Fallback xmlns="">
          <p:sp>
            <p:nvSpPr>
              <p:cNvPr id="7" name="テキスト ボックス 6">
                <a:extLst>
                  <a:ext uri="{FF2B5EF4-FFF2-40B4-BE49-F238E27FC236}">
                    <a16:creationId xmlns:a16="http://schemas.microsoft.com/office/drawing/2014/main" id="{2F08A1E2-E862-D3D3-6133-7B38D7008683}"/>
                  </a:ext>
                </a:extLst>
              </p:cNvPr>
              <p:cNvSpPr txBox="1">
                <a:spLocks noRot="1" noChangeAspect="1" noMove="1" noResize="1" noEditPoints="1" noAdjustHandles="1" noChangeArrowheads="1" noChangeShapeType="1" noTextEdit="1"/>
              </p:cNvSpPr>
              <p:nvPr/>
            </p:nvSpPr>
            <p:spPr>
              <a:xfrm>
                <a:off x="9490019" y="2306750"/>
                <a:ext cx="1853423" cy="307777"/>
              </a:xfrm>
              <a:prstGeom prst="rect">
                <a:avLst/>
              </a:prstGeom>
              <a:blipFill>
                <a:blip r:embed="rId4"/>
                <a:stretch>
                  <a:fillRect t="-1961" b="-1960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25AC8D05-C718-0AAB-DECC-4D4A7E428C16}"/>
                  </a:ext>
                </a:extLst>
              </p:cNvPr>
              <p:cNvSpPr txBox="1"/>
              <p:nvPr/>
            </p:nvSpPr>
            <p:spPr>
              <a:xfrm>
                <a:off x="4868100" y="4472897"/>
                <a:ext cx="2994153" cy="3096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𝑑</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m:rPr>
                              <m:sty m:val="p"/>
                            </m:rPr>
                            <a:rPr lang="en-US" altLang="ja-JP">
                              <a:latin typeface="Cambria Math" panose="02040503050406030204" pitchFamily="18" charset="0"/>
                            </a:rPr>
                            <m:t>∇</m:t>
                          </m:r>
                        </m:e>
                        <m:sub>
                          <m:r>
                            <a:rPr lang="en-US" altLang="ja-JP" b="0" i="1" smtClean="0">
                              <a:latin typeface="Cambria Math" panose="02040503050406030204" pitchFamily="18" charset="0"/>
                            </a:rPr>
                            <m:t>𝑤</m:t>
                          </m:r>
                        </m:sub>
                      </m:sSub>
                      <m:r>
                        <a:rPr lang="en-US" altLang="ja-JP" i="1">
                          <a:latin typeface="Cambria Math" panose="02040503050406030204" pitchFamily="18" charset="0"/>
                        </a:rPr>
                        <m:t>𝑈</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𝑤</m:t>
                              </m:r>
                            </m:e>
                            <m:sub>
                              <m:r>
                                <a:rPr lang="en-US" altLang="ja-JP" i="1">
                                  <a:latin typeface="Cambria Math" panose="02040503050406030204" pitchFamily="18" charset="0"/>
                                </a:rPr>
                                <m:t>𝑡</m:t>
                              </m:r>
                            </m:sub>
                          </m:sSub>
                        </m:e>
                      </m:d>
                      <m:r>
                        <a:rPr kumimoji="1" lang="en-US" altLang="ja-JP" b="0" i="1" smtClean="0">
                          <a:latin typeface="Cambria Math" panose="02040503050406030204" pitchFamily="18" charset="0"/>
                        </a:rPr>
                        <m:t>𝑑𝑡</m:t>
                      </m:r>
                      <m:r>
                        <a:rPr kumimoji="1" lang="en-US" altLang="ja-JP" b="0" i="1" smtClean="0">
                          <a:latin typeface="Cambria Math" panose="02040503050406030204" pitchFamily="18" charset="0"/>
                        </a:rPr>
                        <m:t>+</m:t>
                      </m:r>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2</m:t>
                          </m:r>
                        </m:e>
                      </m:rad>
                      <m:r>
                        <a:rPr kumimoji="1" lang="en-US" altLang="ja-JP" b="0" i="1" smtClean="0">
                          <a:latin typeface="Cambria Math" panose="02040503050406030204" pitchFamily="18" charset="0"/>
                        </a:rPr>
                        <m:t>𝑑</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𝐵</m:t>
                          </m:r>
                        </m:e>
                        <m:sub>
                          <m:r>
                            <a:rPr kumimoji="1" lang="en-US" altLang="ja-JP" b="0" i="1" smtClean="0">
                              <a:latin typeface="Cambria Math" panose="02040503050406030204" pitchFamily="18" charset="0"/>
                            </a:rPr>
                            <m:t>𝑡</m:t>
                          </m:r>
                        </m:sub>
                      </m:sSub>
                    </m:oMath>
                  </m:oMathPara>
                </a14:m>
                <a:endParaRPr kumimoji="1" lang="ja-JP" altLang="en-US" dirty="0"/>
              </a:p>
            </p:txBody>
          </p:sp>
        </mc:Choice>
        <mc:Fallback xmlns="">
          <p:sp>
            <p:nvSpPr>
              <p:cNvPr id="8" name="テキスト ボックス 7">
                <a:extLst>
                  <a:ext uri="{FF2B5EF4-FFF2-40B4-BE49-F238E27FC236}">
                    <a16:creationId xmlns:a16="http://schemas.microsoft.com/office/drawing/2014/main" id="{25AC8D05-C718-0AAB-DECC-4D4A7E428C16}"/>
                  </a:ext>
                </a:extLst>
              </p:cNvPr>
              <p:cNvSpPr txBox="1">
                <a:spLocks noRot="1" noChangeAspect="1" noMove="1" noResize="1" noEditPoints="1" noAdjustHandles="1" noChangeArrowheads="1" noChangeShapeType="1" noTextEdit="1"/>
              </p:cNvSpPr>
              <p:nvPr/>
            </p:nvSpPr>
            <p:spPr>
              <a:xfrm>
                <a:off x="4868100" y="4472897"/>
                <a:ext cx="2994153" cy="309637"/>
              </a:xfrm>
              <a:prstGeom prst="rect">
                <a:avLst/>
              </a:prstGeom>
              <a:blipFill>
                <a:blip r:embed="rId5"/>
                <a:stretch>
                  <a:fillRect l="-1018" b="-1176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2C9A211-30B1-4F3C-4F48-7CFBE63F73F7}"/>
                  </a:ext>
                </a:extLst>
              </p:cNvPr>
              <p:cNvSpPr txBox="1"/>
              <p:nvPr/>
            </p:nvSpPr>
            <p:spPr>
              <a:xfrm>
                <a:off x="6083601" y="2291699"/>
                <a:ext cx="340641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1400" b="0" i="1" smtClean="0">
                          <a:latin typeface="Cambria Math" panose="02040503050406030204" pitchFamily="18" charset="0"/>
                        </a:rPr>
                        <m:t>𝑈</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𝑓</m:t>
                              </m:r>
                            </m:e>
                            <m:sub>
                              <m:r>
                                <a:rPr kumimoji="1" lang="en-US" altLang="ja-JP" sz="1400" b="0" i="1" smtClean="0">
                                  <a:latin typeface="Cambria Math" panose="02040503050406030204" pitchFamily="18" charset="0"/>
                                </a:rPr>
                                <m:t>𝑡</m:t>
                              </m:r>
                            </m:sub>
                          </m:sSub>
                        </m:e>
                      </m:d>
                      <m:r>
                        <a:rPr kumimoji="1" lang="en-US" altLang="ja-JP" sz="1400" b="0" i="1" smtClean="0">
                          <a:latin typeface="Cambria Math" panose="02040503050406030204" pitchFamily="18" charset="0"/>
                        </a:rPr>
                        <m:t>≔−</m:t>
                      </m:r>
                      <m:func>
                        <m:funcPr>
                          <m:ctrlPr>
                            <a:rPr kumimoji="1" lang="en-US" altLang="ja-JP" sz="1400" b="0" i="1" smtClean="0">
                              <a:latin typeface="Cambria Math" panose="02040503050406030204" pitchFamily="18" charset="0"/>
                            </a:rPr>
                          </m:ctrlPr>
                        </m:funcPr>
                        <m:fName>
                          <m:r>
                            <m:rPr>
                              <m:sty m:val="p"/>
                            </m:rPr>
                            <a:rPr kumimoji="1" lang="en-US" altLang="ja-JP" sz="1400" b="0" i="0" smtClean="0">
                              <a:latin typeface="Cambria Math" panose="02040503050406030204" pitchFamily="18" charset="0"/>
                            </a:rPr>
                            <m:t>log</m:t>
                          </m:r>
                        </m:fName>
                        <m:e>
                          <m:r>
                            <a:rPr kumimoji="1" lang="en-US" altLang="ja-JP" sz="1400" b="0" i="1" smtClean="0">
                              <a:latin typeface="Cambria Math" panose="02040503050406030204" pitchFamily="18" charset="0"/>
                            </a:rPr>
                            <m:t>𝑝</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𝑌</m:t>
                                  </m:r>
                                </m:e>
                                <m:sub>
                                  <m:r>
                                    <a:rPr kumimoji="1" lang="en-US" altLang="ja-JP" sz="1400" b="0" i="1" smtClean="0">
                                      <a:latin typeface="Cambria Math" panose="02040503050406030204" pitchFamily="18" charset="0"/>
                                    </a:rPr>
                                    <m:t>𝐷</m:t>
                                  </m:r>
                                </m:sub>
                              </m:sSub>
                            </m:e>
                            <m:e>
                              <m:r>
                                <a:rPr kumimoji="1" lang="en-US" altLang="ja-JP" sz="1400" b="0" i="1" smtClean="0">
                                  <a:latin typeface="Cambria Math" panose="02040503050406030204" pitchFamily="18" charset="0"/>
                                </a:rPr>
                                <m:t>𝑓</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𝑋</m:t>
                                      </m:r>
                                    </m:e>
                                    <m:sub>
                                      <m:r>
                                        <a:rPr kumimoji="1" lang="en-US" altLang="ja-JP" sz="1400" b="0" i="1" smtClean="0">
                                          <a:latin typeface="Cambria Math" panose="02040503050406030204" pitchFamily="18" charset="0"/>
                                        </a:rPr>
                                        <m:t>𝐷</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e>
                              </m:d>
                            </m:e>
                          </m:d>
                        </m:e>
                      </m:func>
                      <m:r>
                        <a:rPr kumimoji="1" lang="en-US" altLang="ja-JP" sz="1400" b="0" i="1" smtClean="0">
                          <a:latin typeface="Cambria Math" panose="02040503050406030204" pitchFamily="18" charset="0"/>
                        </a:rPr>
                        <m:t>+</m:t>
                      </m:r>
                      <m:sSub>
                        <m:sSubPr>
                          <m:ctrlPr>
                            <a:rPr kumimoji="1" lang="en-US" altLang="ja-JP" sz="1400" b="0" i="1" smtClean="0">
                              <a:solidFill>
                                <a:srgbClr val="FF0000"/>
                              </a:solidFill>
                              <a:latin typeface="Cambria Math" panose="02040503050406030204" pitchFamily="18" charset="0"/>
                            </a:rPr>
                          </m:ctrlPr>
                        </m:sSubPr>
                        <m:e>
                          <m:r>
                            <a:rPr kumimoji="1" lang="en-US" altLang="ja-JP" sz="1400" b="0" i="1" smtClean="0">
                              <a:solidFill>
                                <a:srgbClr val="FF0000"/>
                              </a:solidFill>
                              <a:latin typeface="Cambria Math" panose="02040503050406030204" pitchFamily="18" charset="0"/>
                            </a:rPr>
                            <m:t>𝐼</m:t>
                          </m:r>
                        </m:e>
                        <m:sub>
                          <m:r>
                            <a:rPr kumimoji="1" lang="en-US" altLang="ja-JP" sz="1400" b="0" i="1" smtClean="0">
                              <a:solidFill>
                                <a:srgbClr val="FF0000"/>
                              </a:solidFill>
                              <a:latin typeface="Cambria Math" panose="02040503050406030204" pitchFamily="18" charset="0"/>
                            </a:rPr>
                            <m:t>0</m:t>
                          </m:r>
                        </m:sub>
                      </m:sSub>
                      <m:d>
                        <m:dPr>
                          <m:ctrlPr>
                            <a:rPr kumimoji="1" lang="en-US" altLang="ja-JP" sz="1400" b="0" i="1" smtClean="0">
                              <a:solidFill>
                                <a:srgbClr val="FF0000"/>
                              </a:solidFill>
                              <a:latin typeface="Cambria Math" panose="02040503050406030204" pitchFamily="18" charset="0"/>
                            </a:rPr>
                          </m:ctrlPr>
                        </m:dPr>
                        <m:e>
                          <m:r>
                            <a:rPr kumimoji="1" lang="en-US" altLang="ja-JP" sz="1400" b="0" i="1" smtClean="0">
                              <a:solidFill>
                                <a:srgbClr val="FF0000"/>
                              </a:solidFill>
                              <a:latin typeface="Cambria Math" panose="02040503050406030204" pitchFamily="18" charset="0"/>
                            </a:rPr>
                            <m:t>𝑓</m:t>
                          </m:r>
                        </m:e>
                      </m:d>
                      <m:r>
                        <a:rPr kumimoji="1" lang="en-US" altLang="ja-JP" sz="1400" b="0" i="1" smtClean="0">
                          <a:latin typeface="Cambria Math" panose="02040503050406030204" pitchFamily="18" charset="0"/>
                        </a:rPr>
                        <m:t>  </m:t>
                      </m:r>
                    </m:oMath>
                  </m:oMathPara>
                </a14:m>
                <a:endParaRPr lang="ja-JP" altLang="en-US" sz="1400" dirty="0"/>
              </a:p>
            </p:txBody>
          </p:sp>
        </mc:Choice>
        <mc:Fallback xmlns="">
          <p:sp>
            <p:nvSpPr>
              <p:cNvPr id="10" name="テキスト ボックス 9">
                <a:extLst>
                  <a:ext uri="{FF2B5EF4-FFF2-40B4-BE49-F238E27FC236}">
                    <a16:creationId xmlns:a16="http://schemas.microsoft.com/office/drawing/2014/main" id="{B2C9A211-30B1-4F3C-4F48-7CFBE63F73F7}"/>
                  </a:ext>
                </a:extLst>
              </p:cNvPr>
              <p:cNvSpPr txBox="1">
                <a:spLocks noRot="1" noChangeAspect="1" noMove="1" noResize="1" noEditPoints="1" noAdjustHandles="1" noChangeArrowheads="1" noChangeShapeType="1" noTextEdit="1"/>
              </p:cNvSpPr>
              <p:nvPr/>
            </p:nvSpPr>
            <p:spPr>
              <a:xfrm>
                <a:off x="6083601" y="2291699"/>
                <a:ext cx="3406418" cy="307777"/>
              </a:xfrm>
              <a:prstGeom prst="rect">
                <a:avLst/>
              </a:prstGeom>
              <a:blipFill>
                <a:blip r:embed="rId6"/>
                <a:stretch>
                  <a:fillRect b="-8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0E0BE02B-F364-94E3-0F35-247D4D00BB2E}"/>
                  </a:ext>
                </a:extLst>
              </p:cNvPr>
              <p:cNvSpPr txBox="1"/>
              <p:nvPr/>
            </p:nvSpPr>
            <p:spPr>
              <a:xfrm>
                <a:off x="1602769" y="2744417"/>
                <a:ext cx="9552910" cy="1200329"/>
              </a:xfrm>
              <a:prstGeom prst="rect">
                <a:avLst/>
              </a:prstGeom>
              <a:noFill/>
            </p:spPr>
            <p:txBody>
              <a:bodyPr wrap="square">
                <a:spAutoFit/>
              </a:bodyPr>
              <a:lstStyle/>
              <a:p>
                <a14:m>
                  <m:oMath xmlns:m="http://schemas.openxmlformats.org/officeDocument/2006/math">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𝐼</m:t>
                        </m:r>
                      </m:e>
                      <m:sub>
                        <m:r>
                          <a:rPr kumimoji="1" lang="en-US" altLang="ja-JP" sz="1600" b="0" i="1" smtClean="0">
                            <a:latin typeface="Cambria Math" panose="02040503050406030204" pitchFamily="18" charset="0"/>
                          </a:rPr>
                          <m:t>0</m:t>
                        </m:r>
                      </m:sub>
                    </m:sSub>
                    <m:d>
                      <m:dPr>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𝑓</m:t>
                        </m:r>
                      </m:e>
                    </m:d>
                  </m:oMath>
                </a14:m>
                <a:r>
                  <a:rPr lang="en-US" altLang="ja-JP" sz="1600" dirty="0"/>
                  <a:t>:Onsager-Machlup(OM)</a:t>
                </a:r>
                <a:r>
                  <a:rPr lang="ja-JP" altLang="en-US" sz="1600" dirty="0"/>
                  <a:t>汎関数</a:t>
                </a:r>
                <a:r>
                  <a:rPr lang="en-US" altLang="ja-JP" sz="1600" dirty="0"/>
                  <a:t>(</a:t>
                </a:r>
                <a:r>
                  <a:rPr lang="ja-JP" altLang="en-US" sz="1600" dirty="0"/>
                  <a:t>≒事前測度の負の対数のようなもの</a:t>
                </a:r>
                <a:r>
                  <a:rPr lang="en-US" altLang="ja-JP" sz="1600" dirty="0"/>
                  <a:t>)</a:t>
                </a:r>
              </a:p>
              <a:p>
                <a:r>
                  <a:rPr lang="ja-JP" altLang="en-US" sz="1400" dirty="0"/>
                  <a:t>　→ ある</a:t>
                </a:r>
                <a:r>
                  <a:rPr lang="en-US" altLang="ja-JP" sz="1400" dirty="0"/>
                  <a:t>M</a:t>
                </a:r>
                <a:r>
                  <a:rPr lang="ja-JP" altLang="en-US" sz="1400" dirty="0"/>
                  <a:t>点の入力に限定すれば、事前分布がガウス過程の場合、</a:t>
                </a:r>
                <a:r>
                  <a:rPr lang="en-US" altLang="ja-JP" sz="1400" dirty="0"/>
                  <a:t>M</a:t>
                </a:r>
                <a:r>
                  <a:rPr lang="ja-JP" altLang="en-US" sz="1400" dirty="0"/>
                  <a:t>点による多変量正規分布の負の対数になる</a:t>
                </a:r>
                <a:endParaRPr lang="en-US" altLang="ja-JP" sz="1400" dirty="0"/>
              </a:p>
              <a:p>
                <a:r>
                  <a:rPr lang="ja-JP" altLang="en-US" sz="1400" dirty="0"/>
                  <a:t>　→ ルベーグ測度が定義できないものに起因していて、この汎関数で定義すると、関数空間上の事後確率測度も定義できるらしい</a:t>
                </a:r>
                <a:r>
                  <a:rPr lang="en-US" altLang="ja-JP" sz="1400" dirty="0"/>
                  <a:t>(</a:t>
                </a:r>
                <a:r>
                  <a:rPr lang="ja-JP" altLang="en-US" sz="1400" dirty="0"/>
                  <a:t>詳細は</a:t>
                </a:r>
                <a:r>
                  <a:rPr lang="en-US" altLang="ja-JP" sz="1400" dirty="0"/>
                  <a:t>Lambley, Hefin. "Strong maximum a posteriori estimation in Banach spaces with Gaussian priors.“, 2023.</a:t>
                </a:r>
                <a:r>
                  <a:rPr lang="ja-JP" altLang="en-US" sz="1400" dirty="0"/>
                  <a:t>を参照</a:t>
                </a:r>
                <a:r>
                  <a:rPr lang="en-US" altLang="ja-JP" sz="1400" dirty="0"/>
                  <a:t>)</a:t>
                </a:r>
              </a:p>
            </p:txBody>
          </p:sp>
        </mc:Choice>
        <mc:Fallback xmlns="">
          <p:sp>
            <p:nvSpPr>
              <p:cNvPr id="12" name="テキスト ボックス 11">
                <a:extLst>
                  <a:ext uri="{FF2B5EF4-FFF2-40B4-BE49-F238E27FC236}">
                    <a16:creationId xmlns:a16="http://schemas.microsoft.com/office/drawing/2014/main" id="{0E0BE02B-F364-94E3-0F35-247D4D00BB2E}"/>
                  </a:ext>
                </a:extLst>
              </p:cNvPr>
              <p:cNvSpPr txBox="1">
                <a:spLocks noRot="1" noChangeAspect="1" noMove="1" noResize="1" noEditPoints="1" noAdjustHandles="1" noChangeArrowheads="1" noChangeShapeType="1" noTextEdit="1"/>
              </p:cNvSpPr>
              <p:nvPr/>
            </p:nvSpPr>
            <p:spPr>
              <a:xfrm>
                <a:off x="1602769" y="2744417"/>
                <a:ext cx="9552910" cy="1200329"/>
              </a:xfrm>
              <a:prstGeom prst="rect">
                <a:avLst/>
              </a:prstGeom>
              <a:blipFill>
                <a:blip r:embed="rId7"/>
                <a:stretch>
                  <a:fillRect l="-191" t="-1523" b="-45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0D793DD9-8F6D-AA44-C1A1-9272DCAE309D}"/>
                  </a:ext>
                </a:extLst>
              </p:cNvPr>
              <p:cNvSpPr txBox="1"/>
              <p:nvPr/>
            </p:nvSpPr>
            <p:spPr>
              <a:xfrm>
                <a:off x="3437281" y="5554090"/>
                <a:ext cx="5688545"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0"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m:t>
                          </m:r>
                        </m:e>
                        <m:sub>
                          <m:r>
                            <a:rPr kumimoji="1" lang="en-US" altLang="ja-JP" b="0" i="1" smtClean="0">
                              <a:latin typeface="Cambria Math" panose="02040503050406030204" pitchFamily="18" charset="0"/>
                            </a:rPr>
                            <m:t>𝑤</m:t>
                          </m:r>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𝑓</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e>
                          </m:func>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𝐼</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𝑓</m:t>
                              </m:r>
                            </m:e>
                            <m:sup>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sup>
                          </m:sSup>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m:t>
                      </m:r>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2</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𝜖</m:t>
                              </m:r>
                            </m:e>
                            <m:sub>
                              <m:r>
                                <a:rPr kumimoji="1" lang="en-US" altLang="ja-JP" b="0" i="1" smtClean="0">
                                  <a:latin typeface="Cambria Math" panose="02040503050406030204" pitchFamily="18" charset="0"/>
                                </a:rPr>
                                <m:t>𝑡</m:t>
                              </m:r>
                            </m:sub>
                          </m:sSub>
                        </m:e>
                      </m:rad>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𝜂</m:t>
                          </m:r>
                        </m:e>
                        <m:sub>
                          <m:r>
                            <a:rPr kumimoji="1" lang="en-US" altLang="ja-JP" b="0" i="1" smtClean="0">
                              <a:latin typeface="Cambria Math" panose="02040503050406030204" pitchFamily="18" charset="0"/>
                            </a:rPr>
                            <m:t>𝑡</m:t>
                          </m:r>
                        </m:sub>
                      </m:sSub>
                    </m:oMath>
                  </m:oMathPara>
                </a14:m>
                <a:endParaRPr kumimoji="1" lang="ja-JP" altLang="en-US" dirty="0"/>
              </a:p>
            </p:txBody>
          </p:sp>
        </mc:Choice>
        <mc:Fallback xmlns="">
          <p:sp>
            <p:nvSpPr>
              <p:cNvPr id="14" name="テキスト ボックス 13">
                <a:extLst>
                  <a:ext uri="{FF2B5EF4-FFF2-40B4-BE49-F238E27FC236}">
                    <a16:creationId xmlns:a16="http://schemas.microsoft.com/office/drawing/2014/main" id="{0D793DD9-8F6D-AA44-C1A1-9272DCAE309D}"/>
                  </a:ext>
                </a:extLst>
              </p:cNvPr>
              <p:cNvSpPr txBox="1">
                <a:spLocks noRot="1" noChangeAspect="1" noMove="1" noResize="1" noEditPoints="1" noAdjustHandles="1" noChangeArrowheads="1" noChangeShapeType="1" noTextEdit="1"/>
              </p:cNvSpPr>
              <p:nvPr/>
            </p:nvSpPr>
            <p:spPr>
              <a:xfrm>
                <a:off x="3437281" y="5554090"/>
                <a:ext cx="5688545" cy="335413"/>
              </a:xfrm>
              <a:prstGeom prst="rect">
                <a:avLst/>
              </a:prstGeom>
              <a:blipFill>
                <a:blip r:embed="rId8"/>
                <a:stretch>
                  <a:fillRect b="-2363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5F2E95B7-4113-4E19-DFB3-3AF6F77D597E}"/>
                  </a:ext>
                </a:extLst>
              </p:cNvPr>
              <p:cNvSpPr txBox="1"/>
              <p:nvPr/>
            </p:nvSpPr>
            <p:spPr>
              <a:xfrm>
                <a:off x="983919" y="4987965"/>
                <a:ext cx="8641344" cy="369332"/>
              </a:xfrm>
              <a:prstGeom prst="rect">
                <a:avLst/>
              </a:prstGeom>
              <a:noFill/>
            </p:spPr>
            <p:txBody>
              <a:bodyPr wrap="square" rtlCol="0">
                <a:spAutoFit/>
              </a:bodyPr>
              <a:lstStyle/>
              <a:p>
                <a:r>
                  <a:rPr kumimoji="1" lang="ja-JP" altLang="en-US" dirty="0"/>
                  <a:t>最終的に、パラメータの更新式は以下のようになる</a:t>
                </a:r>
                <a:r>
                  <a:rPr kumimoji="1" lang="en-US" altLang="ja-JP" dirty="0"/>
                  <a:t>:</a:t>
                </a:r>
                <a:r>
                  <a:rPr lang="ja-JP" altLang="en-US" dirty="0"/>
                  <a:t> </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𝑓</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oMath>
                </a14:m>
                <a:r>
                  <a:rPr kumimoji="1" lang="ja-JP" altLang="en-US" dirty="0"/>
                  <a:t>に対応する</a:t>
                </a:r>
              </a:p>
            </p:txBody>
          </p:sp>
        </mc:Choice>
        <mc:Fallback xmlns="">
          <p:sp>
            <p:nvSpPr>
              <p:cNvPr id="15" name="テキスト ボックス 14">
                <a:extLst>
                  <a:ext uri="{FF2B5EF4-FFF2-40B4-BE49-F238E27FC236}">
                    <a16:creationId xmlns:a16="http://schemas.microsoft.com/office/drawing/2014/main" id="{5F2E95B7-4113-4E19-DFB3-3AF6F77D597E}"/>
                  </a:ext>
                </a:extLst>
              </p:cNvPr>
              <p:cNvSpPr txBox="1">
                <a:spLocks noRot="1" noChangeAspect="1" noMove="1" noResize="1" noEditPoints="1" noAdjustHandles="1" noChangeArrowheads="1" noChangeShapeType="1" noTextEdit="1"/>
              </p:cNvSpPr>
              <p:nvPr/>
            </p:nvSpPr>
            <p:spPr>
              <a:xfrm>
                <a:off x="983919" y="4987965"/>
                <a:ext cx="8641344" cy="369332"/>
              </a:xfrm>
              <a:prstGeom prst="rect">
                <a:avLst/>
              </a:prstGeom>
              <a:blipFill>
                <a:blip r:embed="rId9"/>
                <a:stretch>
                  <a:fillRect l="-564" t="-6557" b="-26230"/>
                </a:stretch>
              </a:blipFill>
            </p:spPr>
            <p:txBody>
              <a:bodyPr/>
              <a:lstStyle/>
              <a:p>
                <a:r>
                  <a:rPr lang="ja-JP" altLang="en-US">
                    <a:noFill/>
                  </a:rPr>
                  <a:t> </a:t>
                </a:r>
              </a:p>
            </p:txBody>
          </p:sp>
        </mc:Fallback>
      </mc:AlternateContent>
      <p:cxnSp>
        <p:nvCxnSpPr>
          <p:cNvPr id="16" name="直線コネクタ 15">
            <a:extLst>
              <a:ext uri="{FF2B5EF4-FFF2-40B4-BE49-F238E27FC236}">
                <a16:creationId xmlns:a16="http://schemas.microsoft.com/office/drawing/2014/main" id="{1CF323E2-CBE7-C12D-3765-D64A3DF2B9D2}"/>
              </a:ext>
            </a:extLst>
          </p:cNvPr>
          <p:cNvCxnSpPr>
            <a:cxnSpLocks/>
          </p:cNvCxnSpPr>
          <p:nvPr/>
        </p:nvCxnSpPr>
        <p:spPr>
          <a:xfrm>
            <a:off x="7167192" y="5889503"/>
            <a:ext cx="111723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6DA7D136-631B-D64A-186D-89F9847FE171}"/>
              </a:ext>
            </a:extLst>
          </p:cNvPr>
          <p:cNvCxnSpPr>
            <a:cxnSpLocks/>
            <a:stCxn id="21" idx="0"/>
          </p:cNvCxnSpPr>
          <p:nvPr/>
        </p:nvCxnSpPr>
        <p:spPr>
          <a:xfrm flipV="1">
            <a:off x="7628007" y="5889503"/>
            <a:ext cx="158803" cy="3900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2B278459-5339-1F66-189B-2621102091AD}"/>
                  </a:ext>
                </a:extLst>
              </p:cNvPr>
              <p:cNvSpPr txBox="1"/>
              <p:nvPr/>
            </p:nvSpPr>
            <p:spPr>
              <a:xfrm>
                <a:off x="3561347" y="6279601"/>
                <a:ext cx="8133319" cy="369332"/>
              </a:xfrm>
              <a:prstGeom prst="rect">
                <a:avLst/>
              </a:prstGeom>
              <a:noFill/>
            </p:spPr>
            <p:txBody>
              <a:bodyPr wrap="square" rtlCol="0">
                <a:spAutoFit/>
              </a:bodyPr>
              <a:lstStyle/>
              <a:p>
                <a:r>
                  <a:rPr lang="ja-JP" altLang="en-US" dirty="0"/>
                  <a:t>学習データと別に用意するサンプル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oMath>
                </a14:m>
                <a:r>
                  <a:rPr lang="ja-JP" altLang="en-US" dirty="0"/>
                  <a:t>上での負の対数事前分布のようなもの</a:t>
                </a:r>
                <a:endParaRPr lang="en-US" altLang="ja-JP" dirty="0"/>
              </a:p>
            </p:txBody>
          </p:sp>
        </mc:Choice>
        <mc:Fallback xmlns="">
          <p:sp>
            <p:nvSpPr>
              <p:cNvPr id="21" name="テキスト ボックス 20">
                <a:extLst>
                  <a:ext uri="{FF2B5EF4-FFF2-40B4-BE49-F238E27FC236}">
                    <a16:creationId xmlns:a16="http://schemas.microsoft.com/office/drawing/2014/main" id="{2B278459-5339-1F66-189B-2621102091AD}"/>
                  </a:ext>
                </a:extLst>
              </p:cNvPr>
              <p:cNvSpPr txBox="1">
                <a:spLocks noRot="1" noChangeAspect="1" noMove="1" noResize="1" noEditPoints="1" noAdjustHandles="1" noChangeArrowheads="1" noChangeShapeType="1" noTextEdit="1"/>
              </p:cNvSpPr>
              <p:nvPr/>
            </p:nvSpPr>
            <p:spPr>
              <a:xfrm>
                <a:off x="3561347" y="6279601"/>
                <a:ext cx="8133319" cy="369332"/>
              </a:xfrm>
              <a:prstGeom prst="rect">
                <a:avLst/>
              </a:prstGeom>
              <a:blipFill>
                <a:blip r:embed="rId10"/>
                <a:stretch>
                  <a:fillRect l="-600" t="-6557" b="-2623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10896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A3ED617-0936-5408-FA7E-B55D0A3C032B}"/>
              </a:ext>
            </a:extLst>
          </p:cNvPr>
          <p:cNvSpPr txBox="1"/>
          <p:nvPr/>
        </p:nvSpPr>
        <p:spPr>
          <a:xfrm>
            <a:off x="342471" y="441790"/>
            <a:ext cx="5461563" cy="523220"/>
          </a:xfrm>
          <a:prstGeom prst="rect">
            <a:avLst/>
          </a:prstGeom>
          <a:noFill/>
        </p:spPr>
        <p:txBody>
          <a:bodyPr wrap="square" rtlCol="0">
            <a:spAutoFit/>
          </a:bodyPr>
          <a:lstStyle/>
          <a:p>
            <a:r>
              <a:rPr kumimoji="1" lang="ja-JP" altLang="en-US" sz="2800" dirty="0"/>
              <a:t>関数空間上のベイズ推論まとめ</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085EBE13-BD26-4DB8-C065-F98497BC4370}"/>
                  </a:ext>
                </a:extLst>
              </p:cNvPr>
              <p:cNvSpPr txBox="1"/>
              <p:nvPr/>
            </p:nvSpPr>
            <p:spPr>
              <a:xfrm>
                <a:off x="2645944" y="1778337"/>
                <a:ext cx="6900111"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ℒ</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sub>
                      </m:sSub>
                      <m:r>
                        <a:rPr lang="en-US" altLang="ja-JP" i="1">
                          <a:latin typeface="Cambria Math" panose="02040503050406030204" pitchFamily="18" charset="0"/>
                        </a:rPr>
                        <m:t>=</m:t>
                      </m:r>
                      <m:f>
                        <m:fPr>
                          <m:ctrlPr>
                            <a:rPr lang="en-US" altLang="ja-JP" i="1">
                              <a:latin typeface="Cambria Math" panose="02040503050406030204" pitchFamily="18" charset="0"/>
                            </a:rPr>
                          </m:ctrlPr>
                        </m:fPr>
                        <m:num>
                          <m:r>
                            <a:rPr lang="en-US" altLang="ja-JP" i="1">
                              <a:latin typeface="Cambria Math" panose="02040503050406030204" pitchFamily="18" charset="0"/>
                            </a:rPr>
                            <m:t>1</m:t>
                          </m:r>
                        </m:num>
                        <m:den>
                          <m:r>
                            <a:rPr lang="en-US" altLang="ja-JP" i="1">
                              <a:latin typeface="Cambria Math" panose="02040503050406030204" pitchFamily="18" charset="0"/>
                            </a:rPr>
                            <m:t>𝐿</m:t>
                          </m:r>
                        </m:den>
                      </m:f>
                      <m:nary>
                        <m:naryPr>
                          <m:chr m:val="∑"/>
                          <m:ctrlPr>
                            <a:rPr lang="en-US" altLang="ja-JP" i="1">
                              <a:latin typeface="Cambria Math" panose="02040503050406030204" pitchFamily="18" charset="0"/>
                            </a:rPr>
                          </m:ctrlPr>
                        </m:naryPr>
                        <m:sub>
                          <m:r>
                            <m:rPr>
                              <m:brk m:alnAt="23"/>
                            </m:rPr>
                            <a:rPr lang="en-US" altLang="ja-JP" i="1">
                              <a:latin typeface="Cambria Math" panose="02040503050406030204" pitchFamily="18" charset="0"/>
                            </a:rPr>
                            <m:t>𝑗</m:t>
                          </m:r>
                          <m:r>
                            <a:rPr lang="en-US" altLang="ja-JP" i="1">
                              <a:latin typeface="Cambria Math" panose="02040503050406030204" pitchFamily="18" charset="0"/>
                            </a:rPr>
                            <m:t>=1</m:t>
                          </m:r>
                        </m:sub>
                        <m:sup>
                          <m:r>
                            <a:rPr lang="en-US" altLang="ja-JP" i="1">
                              <a:latin typeface="Cambria Math" panose="02040503050406030204" pitchFamily="18" charset="0"/>
                            </a:rPr>
                            <m:t>𝐿</m:t>
                          </m:r>
                        </m:sup>
                        <m:e>
                          <m:func>
                            <m:funcPr>
                              <m:ctrlPr>
                                <a:rPr lang="en-US" altLang="ja-JP" i="1">
                                  <a:latin typeface="Cambria Math" panose="02040503050406030204" pitchFamily="18" charset="0"/>
                                </a:rPr>
                              </m:ctrlPr>
                            </m:funcPr>
                            <m:fName>
                              <m:r>
                                <m:rPr>
                                  <m:sty m:val="p"/>
                                </m:rPr>
                                <a:rPr lang="en-US" altLang="ja-JP">
                                  <a:latin typeface="Cambria Math" panose="02040503050406030204" pitchFamily="18" charset="0"/>
                                </a:rPr>
                                <m:t>log</m:t>
                              </m:r>
                            </m:fName>
                            <m:e>
                              <m:r>
                                <a:rPr lang="en-US" altLang="ja-JP" i="1">
                                  <a:latin typeface="Cambria Math" panose="02040503050406030204" pitchFamily="18" charset="0"/>
                                </a:rPr>
                                <m:t>𝑝</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𝑌</m:t>
                                      </m:r>
                                    </m:e>
                                    <m:sub>
                                      <m:r>
                                        <a:rPr lang="en-US" altLang="ja-JP" i="1">
                                          <a:latin typeface="Cambria Math" panose="02040503050406030204" pitchFamily="18" charset="0"/>
                                        </a:rPr>
                                        <m:t>𝐷</m:t>
                                      </m:r>
                                    </m:sub>
                                  </m:sSub>
                                </m:e>
                                <m:e>
                                  <m:r>
                                    <a:rPr lang="en-US" altLang="ja-JP" i="1">
                                      <a:latin typeface="Cambria Math" panose="02040503050406030204" pitchFamily="18" charset="0"/>
                                    </a:rPr>
                                    <m:t>𝑓</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𝐷</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𝑤</m:t>
                                          </m:r>
                                        </m:e>
                                        <m:sub>
                                          <m:r>
                                            <a:rPr lang="en-US" altLang="ja-JP" i="1">
                                              <a:latin typeface="Cambria Math" panose="02040503050406030204" pitchFamily="18" charset="0"/>
                                            </a:rPr>
                                            <m:t>𝑗</m:t>
                                          </m:r>
                                        </m:sub>
                                      </m:sSub>
                                    </m:e>
                                  </m:d>
                                </m:e>
                              </m:d>
                            </m:e>
                          </m:func>
                        </m:e>
                      </m:nary>
                      <m:r>
                        <a:rPr lang="en-US" altLang="ja-JP" i="1">
                          <a:latin typeface="Cambria Math" panose="02040503050406030204" pitchFamily="18" charset="0"/>
                        </a:rPr>
                        <m:t>−</m:t>
                      </m:r>
                      <m:func>
                        <m:funcPr>
                          <m:ctrlPr>
                            <a:rPr lang="en-US" altLang="ja-JP" i="1">
                              <a:latin typeface="Cambria Math" panose="02040503050406030204" pitchFamily="18" charset="0"/>
                            </a:rPr>
                          </m:ctrlPr>
                        </m:funcPr>
                        <m:fName>
                          <m:limLow>
                            <m:limLowPr>
                              <m:ctrlPr>
                                <a:rPr lang="en-US" altLang="ja-JP" i="1">
                                  <a:latin typeface="Cambria Math" panose="02040503050406030204" pitchFamily="18" charset="0"/>
                                </a:rPr>
                              </m:ctrlPr>
                            </m:limLowPr>
                            <m:e>
                              <m:r>
                                <m:rPr>
                                  <m:sty m:val="p"/>
                                </m:rPr>
                                <a:rPr lang="en-US" altLang="ja-JP">
                                  <a:latin typeface="Cambria Math" panose="02040503050406030204" pitchFamily="18" charset="0"/>
                                </a:rPr>
                                <m:t>max</m:t>
                              </m:r>
                            </m:e>
                            <m:lim>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𝑀</m:t>
                                  </m:r>
                                </m:sub>
                              </m:sSub>
                              <m:r>
                                <a:rPr lang="en-US" altLang="ja-JP" i="1">
                                  <a:latin typeface="Cambria Math" panose="02040503050406030204" pitchFamily="18" charset="0"/>
                                </a:rPr>
                                <m:t>∈</m:t>
                              </m:r>
                              <m:r>
                                <a:rPr lang="en-US" altLang="ja-JP" i="1">
                                  <a:latin typeface="Cambria Math" panose="02040503050406030204" pitchFamily="18" charset="0"/>
                                </a:rPr>
                                <m:t>𝑋</m:t>
                              </m:r>
                            </m:lim>
                          </m:limLow>
                        </m:fName>
                        <m:e>
                          <m:r>
                            <a:rPr lang="en-US" altLang="ja-JP" i="1">
                              <a:latin typeface="Cambria Math" panose="02040503050406030204" pitchFamily="18" charset="0"/>
                            </a:rPr>
                            <m:t>𝐾𝐿</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𝑀</m:t>
                                      </m:r>
                                    </m:sub>
                                  </m:sSub>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0</m:t>
                                  </m:r>
                                </m:sub>
                              </m:sSub>
                              <m:r>
                                <a:rPr lang="en-US" altLang="ja-JP" i="1">
                                  <a:latin typeface="Cambria Math" panose="02040503050406030204" pitchFamily="18" charset="0"/>
                                </a:rPr>
                                <m:t>(</m:t>
                              </m:r>
                              <m:sSup>
                                <m:sSupPr>
                                  <m:ctrlPr>
                                    <a:rPr lang="en-US" altLang="ja-JP" i="1">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i="1">
                                          <a:latin typeface="Cambria Math" panose="02040503050406030204" pitchFamily="18" charset="0"/>
                                        </a:rPr>
                                      </m:ctrlPr>
                                    </m:sSubPr>
                                    <m:e>
                                      <m:r>
                                        <a:rPr lang="en-US" altLang="ja-JP" i="1">
                                          <a:latin typeface="Cambria Math" panose="02040503050406030204" pitchFamily="18" charset="0"/>
                                        </a:rPr>
                                        <m:t>𝑋</m:t>
                                      </m:r>
                                    </m:e>
                                    <m:sub>
                                      <m:r>
                                        <a:rPr lang="en-US" altLang="ja-JP" i="1">
                                          <a:latin typeface="Cambria Math" panose="02040503050406030204" pitchFamily="18" charset="0"/>
                                        </a:rPr>
                                        <m:t>𝑀</m:t>
                                      </m:r>
                                    </m:sub>
                                  </m:sSub>
                                </m:sup>
                              </m:sSup>
                              <m:r>
                                <a:rPr lang="en-US" altLang="ja-JP" i="1">
                                  <a:latin typeface="Cambria Math" panose="02040503050406030204" pitchFamily="18" charset="0"/>
                                </a:rPr>
                                <m:t>)</m:t>
                              </m:r>
                            </m:e>
                          </m:d>
                        </m:e>
                      </m:func>
                    </m:oMath>
                  </m:oMathPara>
                </a14:m>
                <a:endParaRPr kumimoji="1" lang="en-US" altLang="ja-JP" dirty="0"/>
              </a:p>
            </p:txBody>
          </p:sp>
        </mc:Choice>
        <mc:Fallback xmlns="">
          <p:sp>
            <p:nvSpPr>
              <p:cNvPr id="3" name="テキスト ボックス 2">
                <a:extLst>
                  <a:ext uri="{FF2B5EF4-FFF2-40B4-BE49-F238E27FC236}">
                    <a16:creationId xmlns:a16="http://schemas.microsoft.com/office/drawing/2014/main" id="{085EBE13-BD26-4DB8-C065-F98497BC4370}"/>
                  </a:ext>
                </a:extLst>
              </p:cNvPr>
              <p:cNvSpPr txBox="1">
                <a:spLocks noRot="1" noChangeAspect="1" noMove="1" noResize="1" noEditPoints="1" noAdjustHandles="1" noChangeArrowheads="1" noChangeShapeType="1" noTextEdit="1"/>
              </p:cNvSpPr>
              <p:nvPr/>
            </p:nvSpPr>
            <p:spPr>
              <a:xfrm>
                <a:off x="2645944" y="1778337"/>
                <a:ext cx="6900111" cy="902555"/>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FC8446D5-2BD6-255B-FB9A-7BF8AC5102C7}"/>
                  </a:ext>
                </a:extLst>
              </p:cNvPr>
              <p:cNvSpPr txBox="1"/>
              <p:nvPr/>
            </p:nvSpPr>
            <p:spPr>
              <a:xfrm>
                <a:off x="981776" y="1405288"/>
                <a:ext cx="6824311" cy="391582"/>
              </a:xfrm>
              <a:prstGeom prst="rect">
                <a:avLst/>
              </a:prstGeom>
              <a:noFill/>
            </p:spPr>
            <p:txBody>
              <a:bodyPr wrap="square" rtlCol="0">
                <a:spAutoFit/>
              </a:bodyPr>
              <a:lstStyle/>
              <a:p>
                <a:r>
                  <a:rPr kumimoji="1" lang="en-US" altLang="ja-JP" dirty="0"/>
                  <a:t>fVI: </a:t>
                </a:r>
                <a:r>
                  <a:rPr kumimoji="1" lang="ja-JP" altLang="en-US" dirty="0"/>
                  <a:t>以下の目的関数を最適にする近似事後分布</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oMath>
                </a14:m>
                <a:r>
                  <a:rPr kumimoji="1" lang="ja-JP" altLang="en-US" dirty="0"/>
                  <a:t>を求める</a:t>
                </a:r>
              </a:p>
            </p:txBody>
          </p:sp>
        </mc:Choice>
        <mc:Fallback xmlns="">
          <p:sp>
            <p:nvSpPr>
              <p:cNvPr id="4" name="テキスト ボックス 3">
                <a:extLst>
                  <a:ext uri="{FF2B5EF4-FFF2-40B4-BE49-F238E27FC236}">
                    <a16:creationId xmlns:a16="http://schemas.microsoft.com/office/drawing/2014/main" id="{FC8446D5-2BD6-255B-FB9A-7BF8AC5102C7}"/>
                  </a:ext>
                </a:extLst>
              </p:cNvPr>
              <p:cNvSpPr txBox="1">
                <a:spLocks noRot="1" noChangeAspect="1" noMove="1" noResize="1" noEditPoints="1" noAdjustHandles="1" noChangeArrowheads="1" noChangeShapeType="1" noTextEdit="1"/>
              </p:cNvSpPr>
              <p:nvPr/>
            </p:nvSpPr>
            <p:spPr>
              <a:xfrm>
                <a:off x="981776" y="1405288"/>
                <a:ext cx="6824311" cy="391582"/>
              </a:xfrm>
              <a:prstGeom prst="rect">
                <a:avLst/>
              </a:prstGeom>
              <a:blipFill>
                <a:blip r:embed="rId3"/>
                <a:stretch>
                  <a:fillRect l="-714" t="-6250" b="-21875"/>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D51290CE-D8E0-8A9A-69EF-8A0BC8B7B6D4}"/>
              </a:ext>
            </a:extLst>
          </p:cNvPr>
          <p:cNvSpPr txBox="1"/>
          <p:nvPr/>
        </p:nvSpPr>
        <p:spPr>
          <a:xfrm>
            <a:off x="981775" y="3328737"/>
            <a:ext cx="10780295" cy="369332"/>
          </a:xfrm>
          <a:prstGeom prst="rect">
            <a:avLst/>
          </a:prstGeom>
          <a:noFill/>
        </p:spPr>
        <p:txBody>
          <a:bodyPr wrap="square" rtlCol="0">
            <a:spAutoFit/>
          </a:bodyPr>
          <a:lstStyle/>
          <a:p>
            <a:r>
              <a:rPr kumimoji="1" lang="en-US" altLang="ja-JP" dirty="0" err="1"/>
              <a:t>fMCMC</a:t>
            </a:r>
            <a:r>
              <a:rPr kumimoji="1" lang="en-US" altLang="ja-JP" dirty="0"/>
              <a:t>: </a:t>
            </a:r>
            <a:r>
              <a:rPr kumimoji="1" lang="ja-JP" altLang="en-US" dirty="0"/>
              <a:t>以下の更新規則に従って、バーンインやサンプリング間隔を考慮してサンプリングする</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A3384F33-E766-FDE8-A5C1-302D0FFD7CA9}"/>
                  </a:ext>
                </a:extLst>
              </p:cNvPr>
              <p:cNvSpPr txBox="1"/>
              <p:nvPr/>
            </p:nvSpPr>
            <p:spPr>
              <a:xfrm>
                <a:off x="2744262" y="3659702"/>
                <a:ext cx="5688545" cy="3354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0"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m:t>
                          </m:r>
                        </m:e>
                        <m:sub>
                          <m:r>
                            <a:rPr kumimoji="1" lang="en-US" altLang="ja-JP" b="0" i="1" smtClean="0">
                              <a:latin typeface="Cambria Math" panose="02040503050406030204" pitchFamily="18" charset="0"/>
                            </a:rPr>
                            <m:t>𝑤</m:t>
                          </m:r>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𝑓</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𝑡</m:t>
                                  </m:r>
                                </m:sub>
                              </m:sSub>
                              <m:r>
                                <a:rPr kumimoji="1" lang="en-US" altLang="ja-JP" b="0" i="1" smtClean="0">
                                  <a:latin typeface="Cambria Math" panose="02040503050406030204" pitchFamily="18" charset="0"/>
                                </a:rPr>
                                <m:t>)</m:t>
                              </m:r>
                            </m:e>
                          </m:func>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𝐼</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𝑓</m:t>
                              </m:r>
                            </m:e>
                            <m:sup>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sup>
                          </m:sSup>
                          <m:r>
                            <a:rPr kumimoji="1" lang="en-US" altLang="ja-JP" b="0" i="1" smtClean="0">
                              <a:latin typeface="Cambria Math" panose="02040503050406030204" pitchFamily="18" charset="0"/>
                            </a:rPr>
                            <m:t>)</m:t>
                          </m:r>
                        </m:e>
                      </m:d>
                      <m:r>
                        <a:rPr kumimoji="1" lang="en-US" altLang="ja-JP" b="0" i="1" smtClean="0">
                          <a:latin typeface="Cambria Math" panose="02040503050406030204" pitchFamily="18" charset="0"/>
                        </a:rPr>
                        <m:t>+</m:t>
                      </m:r>
                      <m:rad>
                        <m:radPr>
                          <m:degHide m:val="on"/>
                          <m:ctrlPr>
                            <a:rPr kumimoji="1" lang="en-US" altLang="ja-JP" b="0" i="1" smtClean="0">
                              <a:latin typeface="Cambria Math" panose="02040503050406030204" pitchFamily="18" charset="0"/>
                            </a:rPr>
                          </m:ctrlPr>
                        </m:radPr>
                        <m:deg/>
                        <m:e>
                          <m:r>
                            <a:rPr kumimoji="1" lang="en-US" altLang="ja-JP" b="0" i="1" smtClean="0">
                              <a:latin typeface="Cambria Math" panose="02040503050406030204" pitchFamily="18" charset="0"/>
                            </a:rPr>
                            <m:t>2</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𝜖</m:t>
                              </m:r>
                            </m:e>
                            <m:sub>
                              <m:r>
                                <a:rPr kumimoji="1" lang="en-US" altLang="ja-JP" b="0" i="1" smtClean="0">
                                  <a:latin typeface="Cambria Math" panose="02040503050406030204" pitchFamily="18" charset="0"/>
                                </a:rPr>
                                <m:t>𝑡</m:t>
                              </m:r>
                            </m:sub>
                          </m:sSub>
                        </m:e>
                      </m:rad>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𝜂</m:t>
                          </m:r>
                        </m:e>
                        <m:sub>
                          <m:r>
                            <a:rPr kumimoji="1" lang="en-US" altLang="ja-JP" b="0" i="1" smtClean="0">
                              <a:latin typeface="Cambria Math" panose="02040503050406030204" pitchFamily="18" charset="0"/>
                            </a:rPr>
                            <m:t>𝑡</m:t>
                          </m:r>
                        </m:sub>
                      </m:sSub>
                    </m:oMath>
                  </m:oMathPara>
                </a14:m>
                <a:endParaRPr kumimoji="1" lang="ja-JP" altLang="en-US" dirty="0"/>
              </a:p>
            </p:txBody>
          </p:sp>
        </mc:Choice>
        <mc:Fallback xmlns="">
          <p:sp>
            <p:nvSpPr>
              <p:cNvPr id="6" name="テキスト ボックス 5">
                <a:extLst>
                  <a:ext uri="{FF2B5EF4-FFF2-40B4-BE49-F238E27FC236}">
                    <a16:creationId xmlns:a16="http://schemas.microsoft.com/office/drawing/2014/main" id="{A3384F33-E766-FDE8-A5C1-302D0FFD7CA9}"/>
                  </a:ext>
                </a:extLst>
              </p:cNvPr>
              <p:cNvSpPr txBox="1">
                <a:spLocks noRot="1" noChangeAspect="1" noMove="1" noResize="1" noEditPoints="1" noAdjustHandles="1" noChangeArrowheads="1" noChangeShapeType="1" noTextEdit="1"/>
              </p:cNvSpPr>
              <p:nvPr/>
            </p:nvSpPr>
            <p:spPr>
              <a:xfrm>
                <a:off x="2744262" y="3659702"/>
                <a:ext cx="5688545" cy="335413"/>
              </a:xfrm>
              <a:prstGeom prst="rect">
                <a:avLst/>
              </a:prstGeom>
              <a:blipFill>
                <a:blip r:embed="rId4"/>
                <a:stretch>
                  <a:fillRect b="-23636"/>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7563E201-CE1E-C660-363D-725F4A361C11}"/>
              </a:ext>
            </a:extLst>
          </p:cNvPr>
          <p:cNvSpPr txBox="1"/>
          <p:nvPr/>
        </p:nvSpPr>
        <p:spPr>
          <a:xfrm>
            <a:off x="808521" y="4758764"/>
            <a:ext cx="10953549" cy="1754326"/>
          </a:xfrm>
          <a:prstGeom prst="rect">
            <a:avLst/>
          </a:prstGeom>
          <a:noFill/>
        </p:spPr>
        <p:txBody>
          <a:bodyPr wrap="square" rtlCol="0">
            <a:spAutoFit/>
          </a:bodyPr>
          <a:lstStyle/>
          <a:p>
            <a:r>
              <a:rPr kumimoji="1" lang="ja-JP" altLang="en-US" dirty="0"/>
              <a:t>今回の論文の内容</a:t>
            </a:r>
            <a:r>
              <a:rPr kumimoji="1" lang="en-US" altLang="ja-JP" dirty="0"/>
              <a:t>:</a:t>
            </a:r>
          </a:p>
          <a:p>
            <a:r>
              <a:rPr lang="ja-JP" altLang="en-US" dirty="0"/>
              <a:t>・</a:t>
            </a:r>
            <a:r>
              <a:rPr lang="en-US" altLang="ja-JP" dirty="0" err="1"/>
              <a:t>fVI</a:t>
            </a:r>
            <a:r>
              <a:rPr lang="en-US" altLang="ja-JP" dirty="0"/>
              <a:t>, </a:t>
            </a:r>
            <a:r>
              <a:rPr lang="en-US" altLang="ja-JP" dirty="0" err="1"/>
              <a:t>fMCMC</a:t>
            </a:r>
            <a:r>
              <a:rPr lang="ja-JP" altLang="en-US" dirty="0"/>
              <a:t>のそれぞれの結果を紐づけたい</a:t>
            </a:r>
            <a:endParaRPr lang="en-US" altLang="ja-JP" dirty="0"/>
          </a:p>
          <a:p>
            <a:r>
              <a:rPr kumimoji="1" lang="ja-JP" altLang="en-US" dirty="0"/>
              <a:t>　→ </a:t>
            </a:r>
            <a:r>
              <a:rPr kumimoji="1" lang="en-US" altLang="ja-JP" dirty="0" err="1"/>
              <a:t>fVI</a:t>
            </a:r>
            <a:r>
              <a:rPr kumimoji="1" lang="ja-JP" altLang="en-US" dirty="0"/>
              <a:t>は分布</a:t>
            </a:r>
            <a:r>
              <a:rPr lang="ja-JP" altLang="en-US" dirty="0"/>
              <a:t>も明示的に求まるが</a:t>
            </a:r>
            <a:r>
              <a:rPr kumimoji="1" lang="ja-JP" altLang="en-US" dirty="0"/>
              <a:t>、</a:t>
            </a:r>
            <a:r>
              <a:rPr kumimoji="1" lang="en-US" altLang="ja-JP" dirty="0" err="1"/>
              <a:t>fMCMC</a:t>
            </a:r>
            <a:r>
              <a:rPr kumimoji="1" lang="ja-JP" altLang="en-US" dirty="0"/>
              <a:t>は分布は明示的に求まらないので、その対応付けが必要</a:t>
            </a:r>
            <a:endParaRPr kumimoji="1" lang="en-US" altLang="ja-JP" dirty="0"/>
          </a:p>
          <a:p>
            <a:endParaRPr lang="en-US" altLang="ja-JP" dirty="0"/>
          </a:p>
          <a:p>
            <a:r>
              <a:rPr lang="ja-JP" altLang="en-US" dirty="0"/>
              <a:t>・</a:t>
            </a:r>
            <a:r>
              <a:rPr lang="en-US" altLang="ja-JP" dirty="0" err="1"/>
              <a:t>fVI</a:t>
            </a:r>
            <a:r>
              <a:rPr lang="ja-JP" altLang="en-US" dirty="0"/>
              <a:t>と</a:t>
            </a:r>
            <a:r>
              <a:rPr lang="en-US" altLang="ja-JP" dirty="0" err="1"/>
              <a:t>fMCM</a:t>
            </a:r>
            <a:r>
              <a:rPr lang="ja-JP" altLang="en-US" dirty="0"/>
              <a:t>を紐づけてよいのか</a:t>
            </a:r>
            <a:endParaRPr lang="en-US" altLang="ja-JP" dirty="0"/>
          </a:p>
          <a:p>
            <a:r>
              <a:rPr kumimoji="1" lang="ja-JP" altLang="en-US" dirty="0"/>
              <a:t>　→ ポーランド空間上で同じように更新が行われることを示すことで、紐づけの妥当性を評価する</a:t>
            </a:r>
          </a:p>
        </p:txBody>
      </p:sp>
      <p:sp>
        <p:nvSpPr>
          <p:cNvPr id="8" name="テキスト ボックス 7">
            <a:extLst>
              <a:ext uri="{FF2B5EF4-FFF2-40B4-BE49-F238E27FC236}">
                <a16:creationId xmlns:a16="http://schemas.microsoft.com/office/drawing/2014/main" id="{A5F5B09C-BD34-F2D3-F98C-065C412C2175}"/>
              </a:ext>
            </a:extLst>
          </p:cNvPr>
          <p:cNvSpPr txBox="1"/>
          <p:nvPr/>
        </p:nvSpPr>
        <p:spPr>
          <a:xfrm>
            <a:off x="2545360" y="2752371"/>
            <a:ext cx="9336505" cy="307777"/>
          </a:xfrm>
          <a:prstGeom prst="rect">
            <a:avLst/>
          </a:prstGeom>
          <a:noFill/>
        </p:spPr>
        <p:txBody>
          <a:bodyPr wrap="square" rtlCol="0">
            <a:spAutoFit/>
          </a:bodyPr>
          <a:lstStyle/>
          <a:p>
            <a:r>
              <a:rPr lang="en-US" altLang="ja-JP" sz="1400" dirty="0"/>
              <a:t>※ Wasserstein</a:t>
            </a:r>
            <a:r>
              <a:rPr lang="ja-JP" altLang="en-US" sz="1400" dirty="0"/>
              <a:t>ベースの</a:t>
            </a:r>
            <a:r>
              <a:rPr lang="en-US" altLang="ja-JP" sz="1400" dirty="0" err="1"/>
              <a:t>fVI</a:t>
            </a:r>
            <a:r>
              <a:rPr lang="ja-JP" altLang="en-US" sz="1400" dirty="0"/>
              <a:t>の目的関数についてもこの論文で議論はされているが、まずは</a:t>
            </a:r>
            <a:r>
              <a:rPr lang="en-US" altLang="ja-JP" sz="1400" dirty="0"/>
              <a:t>KL</a:t>
            </a:r>
            <a:r>
              <a:rPr lang="ja-JP" altLang="en-US" sz="1400" dirty="0"/>
              <a:t>情報量で説明する</a:t>
            </a:r>
            <a:endParaRPr kumimoji="1" lang="ja-JP" altLang="en-US" sz="1400"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702F884-BB21-EDAA-D3CC-63A8FBE0D663}"/>
                  </a:ext>
                </a:extLst>
              </p:cNvPr>
              <p:cNvSpPr txBox="1"/>
              <p:nvPr/>
            </p:nvSpPr>
            <p:spPr>
              <a:xfrm>
                <a:off x="6285295" y="4245588"/>
                <a:ext cx="2747868" cy="6301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1400" b="0" i="1" smtClean="0">
                          <a:latin typeface="Cambria Math" panose="02040503050406030204" pitchFamily="18" charset="0"/>
                        </a:rPr>
                        <m:t>𝑝</m:t>
                      </m:r>
                      <m:d>
                        <m:dPr>
                          <m:ctrlPr>
                            <a:rPr kumimoji="1" lang="en-US" altLang="ja-JP" sz="1400" b="0" i="1" smtClean="0">
                              <a:latin typeface="Cambria Math" panose="02040503050406030204" pitchFamily="18" charset="0"/>
                            </a:rPr>
                          </m:ctrlPr>
                        </m:dPr>
                        <m:e>
                          <m:sSup>
                            <m:sSupPr>
                              <m:ctrlPr>
                                <a:rPr kumimoji="1" lang="en-US" altLang="ja-JP" sz="1400" b="0" i="1" smtClean="0">
                                  <a:latin typeface="Cambria Math" panose="02040503050406030204" pitchFamily="18" charset="0"/>
                                </a:rPr>
                              </m:ctrlPr>
                            </m:sSupPr>
                            <m:e>
                              <m:r>
                                <a:rPr kumimoji="1" lang="en-US" altLang="ja-JP" sz="1400" b="0" i="1" smtClean="0">
                                  <a:latin typeface="Cambria Math" panose="02040503050406030204" pitchFamily="18" charset="0"/>
                                </a:rPr>
                                <m:t>𝑦</m:t>
                              </m:r>
                            </m:e>
                            <m:sup>
                              <m:r>
                                <a:rPr kumimoji="1" lang="en-US" altLang="ja-JP" sz="1400" b="0" i="1" smtClean="0">
                                  <a:latin typeface="Cambria Math" panose="02040503050406030204" pitchFamily="18" charset="0"/>
                                </a:rPr>
                                <m:t>∗</m:t>
                              </m:r>
                            </m:sup>
                          </m:sSup>
                        </m:e>
                        <m:e>
                          <m:sSup>
                            <m:sSupPr>
                              <m:ctrlPr>
                                <a:rPr kumimoji="1" lang="en-US" altLang="ja-JP" sz="1400" b="0" i="1" smtClean="0">
                                  <a:latin typeface="Cambria Math" panose="02040503050406030204" pitchFamily="18" charset="0"/>
                                </a:rPr>
                              </m:ctrlPr>
                            </m:sSupPr>
                            <m:e>
                              <m:r>
                                <a:rPr kumimoji="1" lang="en-US" altLang="ja-JP" sz="1400" b="0" i="1" smtClean="0">
                                  <a:latin typeface="Cambria Math" panose="02040503050406030204" pitchFamily="18" charset="0"/>
                                </a:rPr>
                                <m:t>𝑥</m:t>
                              </m:r>
                            </m:e>
                            <m:sup>
                              <m:r>
                                <a:rPr kumimoji="1" lang="en-US" altLang="ja-JP" sz="1400" b="0" i="1" smtClean="0">
                                  <a:latin typeface="Cambria Math" panose="02040503050406030204" pitchFamily="18" charset="0"/>
                                </a:rPr>
                                <m:t>∗</m:t>
                              </m:r>
                            </m:sup>
                          </m:sSup>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𝐷</m:t>
                          </m:r>
                        </m:e>
                      </m:d>
                      <m:r>
                        <a:rPr kumimoji="1" lang="en-US" altLang="ja-JP" sz="1400" b="0" i="1" smtClean="0">
                          <a:latin typeface="Cambria Math" panose="02040503050406030204" pitchFamily="18" charset="0"/>
                        </a:rPr>
                        <m:t>≈</m:t>
                      </m:r>
                      <m:f>
                        <m:fPr>
                          <m:ctrlPr>
                            <a:rPr kumimoji="1" lang="en-US" altLang="ja-JP" sz="1400" b="0" i="1" smtClean="0">
                              <a:latin typeface="Cambria Math" panose="02040503050406030204" pitchFamily="18" charset="0"/>
                            </a:rPr>
                          </m:ctrlPr>
                        </m:fPr>
                        <m:num>
                          <m:r>
                            <a:rPr kumimoji="1" lang="en-US" altLang="ja-JP" sz="1400" b="0" i="1" smtClean="0">
                              <a:latin typeface="Cambria Math" panose="02040503050406030204" pitchFamily="18" charset="0"/>
                            </a:rPr>
                            <m:t>1</m:t>
                          </m:r>
                        </m:num>
                        <m:den>
                          <m:r>
                            <a:rPr kumimoji="1" lang="en-US" altLang="ja-JP" sz="1400" b="0" i="1" smtClean="0">
                              <a:latin typeface="Cambria Math" panose="02040503050406030204" pitchFamily="18" charset="0"/>
                            </a:rPr>
                            <m:t>𝐿</m:t>
                          </m:r>
                        </m:den>
                      </m:f>
                      <m:nary>
                        <m:naryPr>
                          <m:chr m:val="∑"/>
                          <m:ctrlPr>
                            <a:rPr kumimoji="1" lang="en-US" altLang="ja-JP" sz="1400" b="0" i="1" smtClean="0">
                              <a:latin typeface="Cambria Math" panose="02040503050406030204" pitchFamily="18" charset="0"/>
                            </a:rPr>
                          </m:ctrlPr>
                        </m:naryPr>
                        <m:sub>
                          <m:r>
                            <m:rPr>
                              <m:brk m:alnAt="23"/>
                            </m:rPr>
                            <a:rPr kumimoji="1" lang="en-US" altLang="ja-JP" sz="1400" b="0" i="1" smtClean="0">
                              <a:latin typeface="Cambria Math" panose="02040503050406030204" pitchFamily="18" charset="0"/>
                            </a:rPr>
                            <m:t>𝑗</m:t>
                          </m:r>
                          <m:r>
                            <a:rPr kumimoji="1" lang="en-US" altLang="ja-JP" sz="1400" b="0" i="1" smtClean="0">
                              <a:latin typeface="Cambria Math" panose="02040503050406030204" pitchFamily="18" charset="0"/>
                            </a:rPr>
                            <m:t>=1</m:t>
                          </m:r>
                        </m:sub>
                        <m:sup>
                          <m:r>
                            <a:rPr kumimoji="1" lang="en-US" altLang="ja-JP" sz="1400" b="0" i="1" smtClean="0">
                              <a:latin typeface="Cambria Math" panose="02040503050406030204" pitchFamily="18" charset="0"/>
                            </a:rPr>
                            <m:t>𝐿</m:t>
                          </m:r>
                        </m:sup>
                        <m:e>
                          <m:r>
                            <a:rPr kumimoji="1" lang="en-US" altLang="ja-JP" sz="1400" b="0" i="1" smtClean="0">
                              <a:latin typeface="Cambria Math" panose="02040503050406030204" pitchFamily="18" charset="0"/>
                            </a:rPr>
                            <m:t>𝑝</m:t>
                          </m:r>
                          <m:r>
                            <a:rPr kumimoji="1" lang="en-US" altLang="ja-JP" sz="1400" b="0" i="1" smtClean="0">
                              <a:latin typeface="Cambria Math" panose="02040503050406030204" pitchFamily="18" charset="0"/>
                            </a:rPr>
                            <m:t>(</m:t>
                          </m:r>
                          <m:sSup>
                            <m:sSupPr>
                              <m:ctrlPr>
                                <a:rPr kumimoji="1" lang="en-US" altLang="ja-JP" sz="1400" b="0" i="1" smtClean="0">
                                  <a:latin typeface="Cambria Math" panose="02040503050406030204" pitchFamily="18" charset="0"/>
                                </a:rPr>
                              </m:ctrlPr>
                            </m:sSupPr>
                            <m:e>
                              <m:r>
                                <a:rPr kumimoji="1" lang="en-US" altLang="ja-JP" sz="1400" b="0" i="1" smtClean="0">
                                  <a:latin typeface="Cambria Math" panose="02040503050406030204" pitchFamily="18" charset="0"/>
                                </a:rPr>
                                <m:t>𝑦</m:t>
                              </m:r>
                            </m:e>
                            <m:sup>
                              <m:r>
                                <a:rPr kumimoji="1" lang="en-US" altLang="ja-JP" sz="1400" b="0" i="1" smtClean="0">
                                  <a:latin typeface="Cambria Math" panose="02040503050406030204" pitchFamily="18" charset="0"/>
                                </a:rPr>
                                <m:t>∗</m:t>
                              </m:r>
                            </m:sup>
                          </m:sSup>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𝑓</m:t>
                              </m:r>
                            </m:e>
                            <m:sub>
                              <m:r>
                                <a:rPr kumimoji="1" lang="en-US" altLang="ja-JP" sz="1400" b="0" i="1" smtClean="0">
                                  <a:latin typeface="Cambria Math" panose="02040503050406030204" pitchFamily="18" charset="0"/>
                                </a:rPr>
                                <m:t>𝑗</m:t>
                              </m:r>
                            </m:sub>
                          </m:sSub>
                          <m:r>
                            <a:rPr kumimoji="1" lang="en-US" altLang="ja-JP" sz="1400" b="0" i="1" smtClean="0">
                              <a:latin typeface="Cambria Math" panose="02040503050406030204" pitchFamily="18" charset="0"/>
                            </a:rPr>
                            <m:t>(</m:t>
                          </m:r>
                          <m:sSup>
                            <m:sSupPr>
                              <m:ctrlPr>
                                <a:rPr kumimoji="1" lang="en-US" altLang="ja-JP" sz="1400" b="0" i="1" smtClean="0">
                                  <a:latin typeface="Cambria Math" panose="02040503050406030204" pitchFamily="18" charset="0"/>
                                </a:rPr>
                              </m:ctrlPr>
                            </m:sSupPr>
                            <m:e>
                              <m:r>
                                <a:rPr kumimoji="1" lang="en-US" altLang="ja-JP" sz="1400" b="0" i="1" smtClean="0">
                                  <a:latin typeface="Cambria Math" panose="02040503050406030204" pitchFamily="18" charset="0"/>
                                </a:rPr>
                                <m:t>𝑥</m:t>
                              </m:r>
                            </m:e>
                            <m:sup>
                              <m:r>
                                <a:rPr kumimoji="1" lang="en-US" altLang="ja-JP" sz="1400" b="0" i="1" smtClean="0">
                                  <a:latin typeface="Cambria Math" panose="02040503050406030204" pitchFamily="18" charset="0"/>
                                </a:rPr>
                                <m:t>∗</m:t>
                              </m:r>
                            </m:sup>
                          </m:sSup>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𝑤</m:t>
                              </m:r>
                            </m:e>
                            <m:sub>
                              <m:r>
                                <a:rPr kumimoji="1" lang="en-US" altLang="ja-JP" sz="1400" b="0" i="1" smtClean="0">
                                  <a:latin typeface="Cambria Math" panose="02040503050406030204" pitchFamily="18" charset="0"/>
                                </a:rPr>
                                <m:t>𝑗</m:t>
                              </m:r>
                            </m:sub>
                          </m:sSub>
                          <m:r>
                            <a:rPr kumimoji="1" lang="en-US" altLang="ja-JP" sz="1400" b="0" i="1" smtClean="0">
                              <a:latin typeface="Cambria Math" panose="02040503050406030204" pitchFamily="18" charset="0"/>
                            </a:rPr>
                            <m:t>))</m:t>
                          </m:r>
                        </m:e>
                      </m:nary>
                    </m:oMath>
                  </m:oMathPara>
                </a14:m>
                <a:endParaRPr kumimoji="1" lang="ja-JP" altLang="en-US" sz="1400" dirty="0"/>
              </a:p>
            </p:txBody>
          </p:sp>
        </mc:Choice>
        <mc:Fallback xmlns="">
          <p:sp>
            <p:nvSpPr>
              <p:cNvPr id="9" name="テキスト ボックス 8">
                <a:extLst>
                  <a:ext uri="{FF2B5EF4-FFF2-40B4-BE49-F238E27FC236}">
                    <a16:creationId xmlns:a16="http://schemas.microsoft.com/office/drawing/2014/main" id="{6702F884-BB21-EDAA-D3CC-63A8FBE0D663}"/>
                  </a:ext>
                </a:extLst>
              </p:cNvPr>
              <p:cNvSpPr txBox="1">
                <a:spLocks noRot="1" noChangeAspect="1" noMove="1" noResize="1" noEditPoints="1" noAdjustHandles="1" noChangeArrowheads="1" noChangeShapeType="1" noTextEdit="1"/>
              </p:cNvSpPr>
              <p:nvPr/>
            </p:nvSpPr>
            <p:spPr>
              <a:xfrm>
                <a:off x="6285295" y="4245588"/>
                <a:ext cx="2747868" cy="630173"/>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F95CC69B-481C-7847-1248-8373E6A74FFD}"/>
                  </a:ext>
                </a:extLst>
              </p:cNvPr>
              <p:cNvSpPr txBox="1"/>
              <p:nvPr/>
            </p:nvSpPr>
            <p:spPr>
              <a:xfrm>
                <a:off x="9145264" y="4522467"/>
                <a:ext cx="2616806" cy="2327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𝑓</m:t>
                          </m:r>
                        </m:e>
                        <m:sub>
                          <m:r>
                            <a:rPr kumimoji="1" lang="en-US" altLang="ja-JP" sz="1400" b="0" i="1" smtClean="0">
                              <a:latin typeface="Cambria Math" panose="02040503050406030204" pitchFamily="18" charset="0"/>
                            </a:rPr>
                            <m:t>𝑗</m:t>
                          </m:r>
                        </m:sub>
                      </m:sSub>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𝑤</m:t>
                          </m:r>
                        </m:e>
                        <m:sub>
                          <m:r>
                            <a:rPr kumimoji="1" lang="en-US" altLang="ja-JP" sz="1400" b="0" i="1" smtClean="0">
                              <a:latin typeface="Cambria Math" panose="02040503050406030204" pitchFamily="18" charset="0"/>
                            </a:rPr>
                            <m:t>𝑗</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𝑝</m:t>
                      </m:r>
                      <m:d>
                        <m:dPr>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𝑓</m:t>
                          </m:r>
                        </m:e>
                        <m:e>
                          <m:r>
                            <a:rPr kumimoji="1" lang="en-US" altLang="ja-JP" sz="1400" b="0" i="1" smtClean="0">
                              <a:latin typeface="Cambria Math" panose="02040503050406030204" pitchFamily="18" charset="0"/>
                            </a:rPr>
                            <m:t>𝐷</m:t>
                          </m:r>
                        </m:e>
                      </m:d>
                      <m:r>
                        <a:rPr kumimoji="1" lang="en-US" altLang="ja-JP" sz="1400" b="0" i="1" smtClean="0">
                          <a:latin typeface="Cambria Math" panose="02040503050406030204" pitchFamily="18" charset="0"/>
                        </a:rPr>
                        <m:t>,  </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𝑤</m:t>
                          </m:r>
                        </m:e>
                        <m:sub>
                          <m:r>
                            <a:rPr kumimoji="1" lang="en-US" altLang="ja-JP" sz="1400" b="0" i="1" smtClean="0">
                              <a:latin typeface="Cambria Math" panose="02040503050406030204" pitchFamily="18" charset="0"/>
                            </a:rPr>
                            <m:t>𝑗</m:t>
                          </m:r>
                        </m:sub>
                      </m:sSub>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𝑝</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𝑤</m:t>
                      </m:r>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𝐷</m:t>
                      </m:r>
                      <m:r>
                        <a:rPr kumimoji="1" lang="en-US" altLang="ja-JP" sz="1400" b="0" i="1" smtClean="0">
                          <a:latin typeface="Cambria Math" panose="02040503050406030204" pitchFamily="18" charset="0"/>
                        </a:rPr>
                        <m:t>)</m:t>
                      </m:r>
                    </m:oMath>
                  </m:oMathPara>
                </a14:m>
                <a:endParaRPr kumimoji="1" lang="ja-JP" altLang="en-US" sz="1400" dirty="0"/>
              </a:p>
            </p:txBody>
          </p:sp>
        </mc:Choice>
        <mc:Fallback xmlns="">
          <p:sp>
            <p:nvSpPr>
              <p:cNvPr id="10" name="テキスト ボックス 9">
                <a:extLst>
                  <a:ext uri="{FF2B5EF4-FFF2-40B4-BE49-F238E27FC236}">
                    <a16:creationId xmlns:a16="http://schemas.microsoft.com/office/drawing/2014/main" id="{F95CC69B-481C-7847-1248-8373E6A74FFD}"/>
                  </a:ext>
                </a:extLst>
              </p:cNvPr>
              <p:cNvSpPr txBox="1">
                <a:spLocks noRot="1" noChangeAspect="1" noMove="1" noResize="1" noEditPoints="1" noAdjustHandles="1" noChangeArrowheads="1" noChangeShapeType="1" noTextEdit="1"/>
              </p:cNvSpPr>
              <p:nvPr/>
            </p:nvSpPr>
            <p:spPr>
              <a:xfrm>
                <a:off x="9145264" y="4522467"/>
                <a:ext cx="2616806" cy="232756"/>
              </a:xfrm>
              <a:prstGeom prst="rect">
                <a:avLst/>
              </a:prstGeom>
              <a:blipFill>
                <a:blip r:embed="rId6"/>
                <a:stretch>
                  <a:fillRect l="-1399" r="-1632" b="-23684"/>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03570289-E051-E4AC-F3B5-96145FFAE14C}"/>
              </a:ext>
            </a:extLst>
          </p:cNvPr>
          <p:cNvSpPr txBox="1"/>
          <p:nvPr/>
        </p:nvSpPr>
        <p:spPr>
          <a:xfrm>
            <a:off x="4095984" y="4418440"/>
            <a:ext cx="2149243" cy="338554"/>
          </a:xfrm>
          <a:prstGeom prst="rect">
            <a:avLst/>
          </a:prstGeom>
          <a:noFill/>
        </p:spPr>
        <p:txBody>
          <a:bodyPr wrap="square" rtlCol="0">
            <a:spAutoFit/>
          </a:bodyPr>
          <a:lstStyle/>
          <a:p>
            <a:r>
              <a:rPr lang="en-US" altLang="ja-JP" sz="1600" dirty="0"/>
              <a:t>※ </a:t>
            </a:r>
            <a:r>
              <a:rPr lang="ja-JP" altLang="en-US" sz="1600" dirty="0"/>
              <a:t>得られる予測分布</a:t>
            </a:r>
            <a:r>
              <a:rPr lang="en-US" altLang="ja-JP" sz="1600" dirty="0"/>
              <a:t>:</a:t>
            </a:r>
            <a:endParaRPr kumimoji="1" lang="ja-JP" altLang="en-US" sz="1600" dirty="0"/>
          </a:p>
        </p:txBody>
      </p:sp>
    </p:spTree>
    <p:extLst>
      <p:ext uri="{BB962C8B-B14F-4D97-AF65-F5344CB8AC3E}">
        <p14:creationId xmlns:p14="http://schemas.microsoft.com/office/powerpoint/2010/main" val="2070392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4D75E-36A1-DD52-21A3-2FD92BAAF21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6015B7C-5A30-C2CB-4126-5680DF2919BE}"/>
              </a:ext>
            </a:extLst>
          </p:cNvPr>
          <p:cNvSpPr txBox="1"/>
          <p:nvPr/>
        </p:nvSpPr>
        <p:spPr>
          <a:xfrm>
            <a:off x="4130211" y="3013501"/>
            <a:ext cx="3931577" cy="830997"/>
          </a:xfrm>
          <a:prstGeom prst="rect">
            <a:avLst/>
          </a:prstGeom>
          <a:noFill/>
        </p:spPr>
        <p:txBody>
          <a:bodyPr wrap="square" rtlCol="0">
            <a:spAutoFit/>
          </a:bodyPr>
          <a:lstStyle/>
          <a:p>
            <a:r>
              <a:rPr kumimoji="1" lang="en-US" altLang="ja-JP" sz="4800" dirty="0"/>
              <a:t>Our Method</a:t>
            </a:r>
            <a:endParaRPr kumimoji="1" lang="ja-JP" altLang="en-US" sz="4800" dirty="0"/>
          </a:p>
        </p:txBody>
      </p:sp>
    </p:spTree>
    <p:extLst>
      <p:ext uri="{BB962C8B-B14F-4D97-AF65-F5344CB8AC3E}">
        <p14:creationId xmlns:p14="http://schemas.microsoft.com/office/powerpoint/2010/main" val="35879659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8E76E20-44E7-608D-C88E-905BE1040BE9}"/>
              </a:ext>
            </a:extLst>
          </p:cNvPr>
          <p:cNvSpPr txBox="1"/>
          <p:nvPr/>
        </p:nvSpPr>
        <p:spPr>
          <a:xfrm>
            <a:off x="342471" y="441790"/>
            <a:ext cx="7107483" cy="523220"/>
          </a:xfrm>
          <a:prstGeom prst="rect">
            <a:avLst/>
          </a:prstGeom>
          <a:noFill/>
        </p:spPr>
        <p:txBody>
          <a:bodyPr wrap="square" rtlCol="0">
            <a:spAutoFit/>
          </a:bodyPr>
          <a:lstStyle/>
          <a:p>
            <a:r>
              <a:rPr kumimoji="1" lang="en-US" altLang="ja-JP" sz="2800" dirty="0"/>
              <a:t>Our Method: </a:t>
            </a:r>
            <a:r>
              <a:rPr kumimoji="1" lang="en-US" altLang="ja-JP" sz="2800" dirty="0" err="1"/>
              <a:t>fVI</a:t>
            </a:r>
            <a:r>
              <a:rPr kumimoji="1" lang="ja-JP" altLang="en-US" sz="2800" dirty="0"/>
              <a:t>と</a:t>
            </a:r>
            <a:r>
              <a:rPr kumimoji="1" lang="en-US" altLang="ja-JP" sz="2800" dirty="0" err="1"/>
              <a:t>fMCMC</a:t>
            </a:r>
            <a:r>
              <a:rPr kumimoji="1" lang="ja-JP" altLang="en-US" sz="2800" dirty="0"/>
              <a:t>の</a:t>
            </a:r>
            <a:r>
              <a:rPr kumimoji="1" lang="en-US" altLang="ja-JP" sz="2800" dirty="0"/>
              <a:t>hybrid</a:t>
            </a:r>
            <a:r>
              <a:rPr kumimoji="1" lang="ja-JP" altLang="en-US" sz="2800" dirty="0"/>
              <a:t>な手法</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0302A7B2-F3D2-D8AA-A576-37A7BCB17EE8}"/>
                  </a:ext>
                </a:extLst>
              </p:cNvPr>
              <p:cNvSpPr txBox="1"/>
              <p:nvPr/>
            </p:nvSpPr>
            <p:spPr>
              <a:xfrm>
                <a:off x="866273" y="1039528"/>
                <a:ext cx="8922619" cy="438518"/>
              </a:xfrm>
              <a:prstGeom prst="rect">
                <a:avLst/>
              </a:prstGeom>
              <a:noFill/>
            </p:spPr>
            <p:txBody>
              <a:bodyPr wrap="square" rtlCol="0">
                <a:spAutoFit/>
              </a:bodyPr>
              <a:lstStyle/>
              <a:p>
                <a:r>
                  <a:rPr kumimoji="1" lang="ja-JP" altLang="en-US" sz="2000" dirty="0"/>
                  <a:t>初期分布</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𝑄</m:t>
                        </m:r>
                      </m:e>
                      <m:sub>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𝑓</m:t>
                            </m:r>
                          </m:e>
                          <m:sub>
                            <m:r>
                              <a:rPr kumimoji="1" lang="en-US" altLang="ja-JP" sz="2000" b="0" i="1" smtClean="0">
                                <a:latin typeface="Cambria Math" panose="02040503050406030204" pitchFamily="18" charset="0"/>
                              </a:rPr>
                              <m:t>𝑠</m:t>
                            </m:r>
                            <m:r>
                              <a:rPr kumimoji="1" lang="en-US" altLang="ja-JP" sz="2000" b="0" i="1" smtClean="0">
                                <a:latin typeface="Cambria Math" panose="02040503050406030204" pitchFamily="18" charset="0"/>
                              </a:rPr>
                              <m:t>0</m:t>
                            </m:r>
                          </m:sub>
                        </m:sSub>
                      </m:sub>
                    </m:sSub>
                  </m:oMath>
                </a14:m>
                <a:r>
                  <a:rPr kumimoji="1" lang="ja-JP" altLang="en-US" sz="2000" dirty="0"/>
                  <a:t>を適当に決めて、</a:t>
                </a:r>
                <a:r>
                  <a:rPr kumimoji="1" lang="en-US" altLang="ja-JP" sz="2000" dirty="0"/>
                  <a:t>V-stage, M-stage, T-stage</a:t>
                </a:r>
                <a:r>
                  <a:rPr kumimoji="1" lang="ja-JP" altLang="en-US" sz="2000" dirty="0"/>
                  <a:t>の更新を繰り返す</a:t>
                </a:r>
                <a:r>
                  <a:rPr kumimoji="1" lang="en-US" altLang="ja-JP" sz="2000" dirty="0"/>
                  <a:t>:</a:t>
                </a:r>
                <a:endParaRPr kumimoji="1" lang="ja-JP" altLang="en-US" sz="2000" dirty="0"/>
              </a:p>
            </p:txBody>
          </p:sp>
        </mc:Choice>
        <mc:Fallback xmlns="">
          <p:sp>
            <p:nvSpPr>
              <p:cNvPr id="3" name="テキスト ボックス 2">
                <a:extLst>
                  <a:ext uri="{FF2B5EF4-FFF2-40B4-BE49-F238E27FC236}">
                    <a16:creationId xmlns:a16="http://schemas.microsoft.com/office/drawing/2014/main" id="{0302A7B2-F3D2-D8AA-A576-37A7BCB17EE8}"/>
                  </a:ext>
                </a:extLst>
              </p:cNvPr>
              <p:cNvSpPr txBox="1">
                <a:spLocks noRot="1" noChangeAspect="1" noMove="1" noResize="1" noEditPoints="1" noAdjustHandles="1" noChangeArrowheads="1" noChangeShapeType="1" noTextEdit="1"/>
              </p:cNvSpPr>
              <p:nvPr/>
            </p:nvSpPr>
            <p:spPr>
              <a:xfrm>
                <a:off x="866273" y="1039528"/>
                <a:ext cx="8922619" cy="438518"/>
              </a:xfrm>
              <a:prstGeom prst="rect">
                <a:avLst/>
              </a:prstGeom>
              <a:blipFill>
                <a:blip r:embed="rId2"/>
                <a:stretch>
                  <a:fillRect l="-683" t="-5634" r="-68" b="-197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18486E5A-8D47-D1EA-72D6-CD6D2AA422D3}"/>
                  </a:ext>
                </a:extLst>
              </p:cNvPr>
              <p:cNvSpPr txBox="1"/>
              <p:nvPr/>
            </p:nvSpPr>
            <p:spPr>
              <a:xfrm>
                <a:off x="866273" y="1687175"/>
                <a:ext cx="10856335" cy="740908"/>
              </a:xfrm>
              <a:prstGeom prst="rect">
                <a:avLst/>
              </a:prstGeom>
              <a:noFill/>
            </p:spPr>
            <p:txBody>
              <a:bodyPr wrap="square">
                <a:spAutoFit/>
              </a:bodyPr>
              <a:lstStyle/>
              <a:p>
                <a:r>
                  <a:rPr kumimoji="1" lang="en-US" altLang="ja-JP" dirty="0"/>
                  <a:t>V-stage: </a:t>
                </a:r>
                <a:r>
                  <a:rPr kumimoji="1" lang="ja-JP" altLang="en-US" dirty="0"/>
                  <a:t>初期分布</a:t>
                </a:r>
                <a14:m>
                  <m:oMath xmlns:m="http://schemas.openxmlformats.org/officeDocument/2006/math">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𝑄</m:t>
                        </m:r>
                      </m:e>
                      <m:sub>
                        <m:sSub>
                          <m:sSubPr>
                            <m:ctrlPr>
                              <a:rPr kumimoji="1" lang="en-US" altLang="ja-JP" sz="1800" b="0" i="1" smtClean="0">
                                <a:latin typeface="Cambria Math" panose="02040503050406030204" pitchFamily="18" charset="0"/>
                              </a:rPr>
                            </m:ctrlPr>
                          </m:sSubPr>
                          <m:e>
                            <m:r>
                              <a:rPr kumimoji="1" lang="en-US" altLang="ja-JP" sz="1800" b="0" i="1" smtClean="0">
                                <a:latin typeface="Cambria Math" panose="02040503050406030204" pitchFamily="18" charset="0"/>
                              </a:rPr>
                              <m:t>𝑓</m:t>
                            </m:r>
                          </m:e>
                          <m:sub>
                            <m:r>
                              <a:rPr kumimoji="1" lang="en-US" altLang="ja-JP" sz="1800" b="0" i="1" smtClean="0">
                                <a:latin typeface="Cambria Math" panose="02040503050406030204" pitchFamily="18" charset="0"/>
                              </a:rPr>
                              <m:t>𝑠</m:t>
                            </m:r>
                            <m:r>
                              <a:rPr kumimoji="1" lang="en-US" altLang="ja-JP" sz="1800" b="0" i="1" smtClean="0">
                                <a:latin typeface="Cambria Math" panose="02040503050406030204" pitchFamily="18" charset="0"/>
                              </a:rPr>
                              <m:t>0</m:t>
                            </m:r>
                          </m:sub>
                        </m:sSub>
                      </m:sub>
                    </m:sSub>
                  </m:oMath>
                </a14:m>
                <a:r>
                  <a:rPr kumimoji="1" lang="ja-JP" altLang="en-US" dirty="0"/>
                  <a:t>をもとに、</a:t>
                </a:r>
                <a:r>
                  <a:rPr kumimoji="1" lang="en-US" altLang="ja-JP" dirty="0" err="1"/>
                  <a:t>fVI</a:t>
                </a:r>
                <a:r>
                  <a:rPr kumimoji="1" lang="ja-JP" altLang="en-US" dirty="0"/>
                  <a:t>による最適化を</a:t>
                </a:r>
                <a14:m>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ℒ</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sub>
                    </m:sSub>
                  </m:oMath>
                </a14:m>
                <a:r>
                  <a:rPr lang="ja-JP" altLang="en-US" dirty="0"/>
                  <a:t>で行って、</a:t>
                </a:r>
                <a:r>
                  <a:rPr lang="en-US" altLang="ja-JP" dirty="0"/>
                  <a:t> </a:t>
                </a:r>
                <a14:m>
                  <m:oMath xmlns:m="http://schemas.openxmlformats.org/officeDocument/2006/math">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i="1">
                                <a:latin typeface="Cambria Math" panose="02040503050406030204" pitchFamily="18" charset="0"/>
                              </a:rPr>
                              <m:t>𝑠</m:t>
                            </m:r>
                            <m:r>
                              <a:rPr lang="en-US" altLang="ja-JP" i="1">
                                <a:latin typeface="Cambria Math" panose="02040503050406030204" pitchFamily="18" charset="0"/>
                              </a:rPr>
                              <m:t>1</m:t>
                            </m:r>
                          </m:sub>
                        </m:sSub>
                      </m:sub>
                    </m:sSub>
                    <m:r>
                      <a:rPr lang="en-US" altLang="ja-JP" b="0" i="1" smtClean="0">
                        <a:latin typeface="Cambria Math" panose="02040503050406030204" pitchFamily="18" charset="0"/>
                      </a:rPr>
                      <m:t>, </m:t>
                    </m:r>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b="0" i="1" smtClean="0">
                                <a:latin typeface="Cambria Math" panose="02040503050406030204" pitchFamily="18" charset="0"/>
                              </a:rPr>
                              <m:t>1</m:t>
                            </m:r>
                          </m:sub>
                        </m:sSub>
                      </m:sub>
                    </m:sSub>
                  </m:oMath>
                </a14:m>
                <a:r>
                  <a:rPr lang="ja-JP" altLang="en-US" dirty="0"/>
                  <a:t>を得る</a:t>
                </a:r>
                <a:r>
                  <a:rPr lang="en-US" altLang="ja-JP" dirty="0"/>
                  <a:t>(</a:t>
                </a:r>
                <a:r>
                  <a:rPr lang="en-US" altLang="ja-JP" dirty="0" err="1"/>
                  <a:t>fVI</a:t>
                </a:r>
                <a:r>
                  <a:rPr lang="ja-JP" altLang="en-US" dirty="0"/>
                  <a:t>を行う</a:t>
                </a:r>
                <a:r>
                  <a:rPr lang="en-US" altLang="ja-JP" dirty="0"/>
                  <a:t>)</a:t>
                </a:r>
              </a:p>
              <a:p>
                <a:r>
                  <a:rPr lang="ja-JP" altLang="en-US" sz="1400" dirty="0"/>
                  <a:t>　→ </a:t>
                </a:r>
                <a14:m>
                  <m:oMath xmlns:m="http://schemas.openxmlformats.org/officeDocument/2006/math">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r>
                          <a:rPr lang="en-US" altLang="ja-JP" sz="1400" i="1">
                            <a:latin typeface="Cambria Math" panose="02040503050406030204" pitchFamily="18" charset="0"/>
                          </a:rPr>
                          <m:t>⋅;</m:t>
                        </m:r>
                        <m:r>
                          <a:rPr lang="en-US" altLang="ja-JP" sz="1400" i="1">
                            <a:latin typeface="Cambria Math" panose="02040503050406030204" pitchFamily="18" charset="0"/>
                          </a:rPr>
                          <m:t>𝑤</m:t>
                        </m:r>
                      </m:e>
                    </m:d>
                    <m:r>
                      <a:rPr lang="en-US" altLang="ja-JP" sz="1400" i="1">
                        <a:latin typeface="Cambria Math" panose="02040503050406030204" pitchFamily="18" charset="0"/>
                      </a:rPr>
                      <m:t>≈</m:t>
                    </m:r>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r>
                          <a:rPr lang="en-US" altLang="ja-JP" sz="1400" i="1">
                            <a:latin typeface="Cambria Math" panose="02040503050406030204" pitchFamily="18" charset="0"/>
                          </a:rPr>
                          <m:t>⋅;</m:t>
                        </m:r>
                        <m:r>
                          <a:rPr lang="en-US" altLang="ja-JP" sz="1400" i="1">
                            <a:latin typeface="Cambria Math" panose="02040503050406030204" pitchFamily="18" charset="0"/>
                          </a:rPr>
                          <m:t>𝑚</m:t>
                        </m:r>
                      </m:e>
                    </m:d>
                    <m:r>
                      <a:rPr lang="en-US" altLang="ja-JP" sz="1400" i="1">
                        <a:latin typeface="Cambria Math" panose="02040503050406030204" pitchFamily="18" charset="0"/>
                      </a:rPr>
                      <m:t>+</m:t>
                    </m:r>
                    <m:f>
                      <m:fPr>
                        <m:ctrlPr>
                          <a:rPr lang="en-US" altLang="ja-JP" sz="1400" i="1">
                            <a:latin typeface="Cambria Math" panose="02040503050406030204" pitchFamily="18" charset="0"/>
                          </a:rPr>
                        </m:ctrlPr>
                      </m:fPr>
                      <m:num>
                        <m:r>
                          <a:rPr lang="en-US" altLang="ja-JP" sz="1400" i="1">
                            <a:latin typeface="Cambria Math" panose="02040503050406030204" pitchFamily="18" charset="0"/>
                          </a:rPr>
                          <m:t>𝜕</m:t>
                        </m:r>
                      </m:num>
                      <m:den>
                        <m:r>
                          <a:rPr lang="en-US" altLang="ja-JP" sz="1400" i="1">
                            <a:latin typeface="Cambria Math" panose="02040503050406030204" pitchFamily="18" charset="0"/>
                          </a:rPr>
                          <m:t>𝜕</m:t>
                        </m:r>
                        <m:r>
                          <a:rPr lang="en-US" altLang="ja-JP" sz="1400" i="1">
                            <a:latin typeface="Cambria Math" panose="02040503050406030204" pitchFamily="18" charset="0"/>
                          </a:rPr>
                          <m:t>𝑤</m:t>
                        </m:r>
                      </m:den>
                    </m:f>
                    <m:r>
                      <a:rPr lang="en-US" altLang="ja-JP" sz="1400" i="1">
                        <a:latin typeface="Cambria Math" panose="02040503050406030204" pitchFamily="18" charset="0"/>
                      </a:rPr>
                      <m:t>𝑓</m:t>
                    </m:r>
                    <m:r>
                      <a:rPr lang="en-US" altLang="ja-JP" sz="1400" i="1">
                        <a:latin typeface="Cambria Math" panose="02040503050406030204" pitchFamily="18" charset="0"/>
                      </a:rPr>
                      <m:t>(⋅;</m:t>
                    </m:r>
                    <m:r>
                      <a:rPr lang="en-US" altLang="ja-JP" sz="1400" i="1">
                        <a:latin typeface="Cambria Math" panose="02040503050406030204" pitchFamily="18" charset="0"/>
                      </a:rPr>
                      <m:t>𝑚</m:t>
                    </m:r>
                    <m:r>
                      <a:rPr lang="en-US" altLang="ja-JP" sz="1400" i="1">
                        <a:latin typeface="Cambria Math" panose="02040503050406030204" pitchFamily="18" charset="0"/>
                      </a:rPr>
                      <m:t>)(</m:t>
                    </m:r>
                    <m:r>
                      <a:rPr lang="en-US" altLang="ja-JP" sz="1400" i="1">
                        <a:latin typeface="Cambria Math" panose="02040503050406030204" pitchFamily="18" charset="0"/>
                      </a:rPr>
                      <m:t>𝑤</m:t>
                    </m:r>
                    <m:r>
                      <a:rPr lang="en-US" altLang="ja-JP" sz="1400" i="1">
                        <a:latin typeface="Cambria Math" panose="02040503050406030204" pitchFamily="18" charset="0"/>
                      </a:rPr>
                      <m:t>−</m:t>
                    </m:r>
                    <m:r>
                      <a:rPr lang="en-US" altLang="ja-JP" sz="1400" i="1">
                        <a:latin typeface="Cambria Math" panose="02040503050406030204" pitchFamily="18" charset="0"/>
                      </a:rPr>
                      <m:t>𝑚</m:t>
                    </m:r>
                    <m:r>
                      <a:rPr lang="en-US" altLang="ja-JP" sz="1400" i="1">
                        <a:latin typeface="Cambria Math" panose="02040503050406030204" pitchFamily="18" charset="0"/>
                      </a:rPr>
                      <m:t>)</m:t>
                    </m:r>
                  </m:oMath>
                </a14:m>
                <a:r>
                  <a:rPr lang="ja-JP" altLang="en-US" sz="1400" dirty="0"/>
                  <a:t>という近似をしていて、</a:t>
                </a:r>
                <a14:m>
                  <m:oMath xmlns:m="http://schemas.openxmlformats.org/officeDocument/2006/math">
                    <m:r>
                      <a:rPr lang="en-US" altLang="ja-JP" sz="1400" b="0" i="1" smtClean="0">
                        <a:latin typeface="Cambria Math" panose="02040503050406030204" pitchFamily="18" charset="0"/>
                      </a:rPr>
                      <m:t>𝑤</m:t>
                    </m:r>
                    <m:r>
                      <a:rPr lang="en-US" altLang="ja-JP" sz="1400" b="0" i="1" smtClean="0">
                        <a:latin typeface="Cambria Math" panose="02040503050406030204" pitchFamily="18" charset="0"/>
                      </a:rPr>
                      <m:t>~</m:t>
                    </m:r>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𝑄</m:t>
                        </m:r>
                      </m:e>
                      <m:sub>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𝑤</m:t>
                            </m:r>
                          </m:e>
                          <m:sub>
                            <m:r>
                              <a:rPr lang="en-US" altLang="ja-JP" sz="1400" b="0" i="1" smtClean="0">
                                <a:latin typeface="Cambria Math" panose="02040503050406030204" pitchFamily="18" charset="0"/>
                              </a:rPr>
                              <m:t>𝑠</m:t>
                            </m:r>
                            <m:r>
                              <a:rPr lang="en-US" altLang="ja-JP" sz="1400" b="0" i="1" smtClean="0">
                                <a:latin typeface="Cambria Math" panose="02040503050406030204" pitchFamily="18" charset="0"/>
                              </a:rPr>
                              <m:t>1</m:t>
                            </m:r>
                          </m:sub>
                        </m:sSub>
                      </m:sub>
                    </m:sSub>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𝑤</m:t>
                    </m:r>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𝑚</m:t>
                    </m:r>
                    <m:r>
                      <a:rPr lang="en-US" altLang="ja-JP" sz="1400" b="0" i="1" smtClean="0">
                        <a:latin typeface="Cambria Math" panose="02040503050406030204" pitchFamily="18" charset="0"/>
                      </a:rPr>
                      <m:t>,</m:t>
                    </m:r>
                    <m:r>
                      <m:rPr>
                        <m:sty m:val="p"/>
                      </m:rPr>
                      <a:rPr lang="en-US" altLang="ja-JP" sz="1400" b="0" i="0" smtClean="0">
                        <a:latin typeface="Cambria Math" panose="02040503050406030204" pitchFamily="18" charset="0"/>
                      </a:rPr>
                      <m:t>Σ</m:t>
                    </m:r>
                    <m:r>
                      <a:rPr lang="en-US" altLang="ja-JP" sz="1400" b="0" i="1" smtClean="0">
                        <a:latin typeface="Cambria Math" panose="02040503050406030204" pitchFamily="18" charset="0"/>
                      </a:rPr>
                      <m:t>)</m:t>
                    </m:r>
                  </m:oMath>
                </a14:m>
                <a:r>
                  <a:rPr lang="ja-JP" altLang="en-US" sz="1400" dirty="0"/>
                  <a:t>なので</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1</m:t>
                            </m:r>
                          </m:sub>
                        </m:sSub>
                      </m:sub>
                    </m:sSub>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𝐺𝑃</m:t>
                    </m:r>
                    <m:d>
                      <m:dPr>
                        <m:ctrlPr>
                          <a:rPr lang="en-US" altLang="ja-JP" sz="1400" b="0" i="1" smtClean="0">
                            <a:latin typeface="Cambria Math" panose="02040503050406030204" pitchFamily="18" charset="0"/>
                          </a:rPr>
                        </m:ctrlPr>
                      </m:dPr>
                      <m:e>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𝑓</m:t>
                            </m:r>
                          </m:e>
                          <m:sub>
                            <m:r>
                              <a:rPr lang="en-US" altLang="ja-JP" sz="1400" b="0" i="1" smtClean="0">
                                <a:latin typeface="Cambria Math" panose="02040503050406030204" pitchFamily="18" charset="0"/>
                              </a:rPr>
                              <m:t>𝑠</m:t>
                            </m:r>
                            <m:r>
                              <a:rPr lang="en-US" altLang="ja-JP" sz="1400" b="0" i="1" smtClean="0">
                                <a:latin typeface="Cambria Math" panose="02040503050406030204" pitchFamily="18" charset="0"/>
                              </a:rPr>
                              <m:t>1</m:t>
                            </m:r>
                          </m:sub>
                        </m:sSub>
                      </m:e>
                      <m:e>
                        <m:r>
                          <a:rPr lang="en-US" altLang="ja-JP" sz="1400" b="0" i="1" smtClean="0">
                            <a:latin typeface="Cambria Math" panose="02040503050406030204" pitchFamily="18" charset="0"/>
                          </a:rPr>
                          <m:t>𝑓</m:t>
                        </m:r>
                        <m:d>
                          <m:dPr>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𝑚</m:t>
                            </m:r>
                          </m:e>
                        </m:d>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𝐽</m:t>
                        </m:r>
                        <m:r>
                          <a:rPr lang="en-US" altLang="ja-JP" sz="1400" b="0" i="1" smtClean="0">
                            <a:latin typeface="Cambria Math" panose="02040503050406030204" pitchFamily="18" charset="0"/>
                          </a:rPr>
                          <m:t>𝛴</m:t>
                        </m:r>
                        <m:sSup>
                          <m:sSupPr>
                            <m:ctrlPr>
                              <a:rPr lang="en-US" altLang="ja-JP" sz="1400" b="0" i="1" smtClean="0">
                                <a:latin typeface="Cambria Math" panose="02040503050406030204" pitchFamily="18" charset="0"/>
                              </a:rPr>
                            </m:ctrlPr>
                          </m:sSupPr>
                          <m:e>
                            <m:r>
                              <a:rPr lang="en-US" altLang="ja-JP" sz="1400" b="0" i="1" smtClean="0">
                                <a:latin typeface="Cambria Math" panose="02040503050406030204" pitchFamily="18" charset="0"/>
                              </a:rPr>
                              <m:t>𝐽</m:t>
                            </m:r>
                          </m:e>
                          <m:sup>
                            <m:r>
                              <a:rPr lang="en-US" altLang="ja-JP" sz="1400" b="0" i="1" smtClean="0">
                                <a:latin typeface="Cambria Math" panose="02040503050406030204" pitchFamily="18" charset="0"/>
                              </a:rPr>
                              <m:t>𝑇</m:t>
                            </m:r>
                          </m:sup>
                        </m:sSup>
                      </m:e>
                    </m:d>
                    <m:r>
                      <a:rPr lang="en-US" altLang="ja-JP" sz="1400" b="0" i="1" smtClean="0">
                        <a:latin typeface="Cambria Math" panose="02040503050406030204" pitchFamily="18" charset="0"/>
                      </a:rPr>
                      <m:t>,    </m:t>
                    </m:r>
                    <m:r>
                      <a:rPr lang="en-US" altLang="ja-JP" sz="1400" b="0" i="1" smtClean="0">
                        <a:latin typeface="Cambria Math" panose="02040503050406030204" pitchFamily="18" charset="0"/>
                      </a:rPr>
                      <m:t>𝐽</m:t>
                    </m:r>
                    <m:r>
                      <a:rPr lang="en-US" altLang="ja-JP" sz="1400" b="0" i="1" smtClean="0">
                        <a:latin typeface="Cambria Math" panose="02040503050406030204" pitchFamily="18" charset="0"/>
                      </a:rPr>
                      <m:t>=</m:t>
                    </m:r>
                    <m:f>
                      <m:fPr>
                        <m:ctrlPr>
                          <a:rPr lang="en-US" altLang="ja-JP" sz="1400" i="1">
                            <a:latin typeface="Cambria Math" panose="02040503050406030204" pitchFamily="18" charset="0"/>
                          </a:rPr>
                        </m:ctrlPr>
                      </m:fPr>
                      <m:num>
                        <m:r>
                          <a:rPr lang="en-US" altLang="ja-JP" sz="1400" i="1">
                            <a:latin typeface="Cambria Math" panose="02040503050406030204" pitchFamily="18" charset="0"/>
                          </a:rPr>
                          <m:t>𝜕</m:t>
                        </m:r>
                      </m:num>
                      <m:den>
                        <m:r>
                          <a:rPr lang="en-US" altLang="ja-JP" sz="1400" i="1">
                            <a:latin typeface="Cambria Math" panose="02040503050406030204" pitchFamily="18" charset="0"/>
                          </a:rPr>
                          <m:t>𝜕</m:t>
                        </m:r>
                        <m:r>
                          <a:rPr lang="en-US" altLang="ja-JP" sz="1400" i="1">
                            <a:latin typeface="Cambria Math" panose="02040503050406030204" pitchFamily="18" charset="0"/>
                          </a:rPr>
                          <m:t>𝑤</m:t>
                        </m:r>
                      </m:den>
                    </m:f>
                    <m:r>
                      <a:rPr lang="en-US" altLang="ja-JP" sz="1400" i="1">
                        <a:latin typeface="Cambria Math" panose="02040503050406030204" pitchFamily="18" charset="0"/>
                      </a:rPr>
                      <m:t>𝑓</m:t>
                    </m:r>
                    <m:r>
                      <a:rPr lang="en-US" altLang="ja-JP" sz="1400" i="1">
                        <a:latin typeface="Cambria Math" panose="02040503050406030204" pitchFamily="18" charset="0"/>
                      </a:rPr>
                      <m:t>(⋅;</m:t>
                    </m:r>
                    <m:r>
                      <a:rPr lang="en-US" altLang="ja-JP" sz="1400" i="1">
                        <a:latin typeface="Cambria Math" panose="02040503050406030204" pitchFamily="18" charset="0"/>
                      </a:rPr>
                      <m:t>𝑚</m:t>
                    </m:r>
                    <m:r>
                      <a:rPr lang="en-US" altLang="ja-JP" sz="1400" i="1">
                        <a:latin typeface="Cambria Math" panose="02040503050406030204" pitchFamily="18" charset="0"/>
                      </a:rPr>
                      <m:t>)</m:t>
                    </m:r>
                  </m:oMath>
                </a14:m>
                <a:endParaRPr lang="en-US" altLang="ja-JP" dirty="0"/>
              </a:p>
            </p:txBody>
          </p:sp>
        </mc:Choice>
        <mc:Fallback xmlns="">
          <p:sp>
            <p:nvSpPr>
              <p:cNvPr id="5" name="テキスト ボックス 4">
                <a:extLst>
                  <a:ext uri="{FF2B5EF4-FFF2-40B4-BE49-F238E27FC236}">
                    <a16:creationId xmlns:a16="http://schemas.microsoft.com/office/drawing/2014/main" id="{18486E5A-8D47-D1EA-72D6-CD6D2AA422D3}"/>
                  </a:ext>
                </a:extLst>
              </p:cNvPr>
              <p:cNvSpPr txBox="1">
                <a:spLocks noRot="1" noChangeAspect="1" noMove="1" noResize="1" noEditPoints="1" noAdjustHandles="1" noChangeArrowheads="1" noChangeShapeType="1" noTextEdit="1"/>
              </p:cNvSpPr>
              <p:nvPr/>
            </p:nvSpPr>
            <p:spPr>
              <a:xfrm>
                <a:off x="866273" y="1687175"/>
                <a:ext cx="10856335" cy="740908"/>
              </a:xfrm>
              <a:prstGeom prst="rect">
                <a:avLst/>
              </a:prstGeom>
              <a:blipFill>
                <a:blip r:embed="rId3"/>
                <a:stretch>
                  <a:fillRect l="-449" t="-3306" b="-24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8CD3663-49F9-F6D7-D0CC-F0AEA9B27DD0}"/>
                  </a:ext>
                </a:extLst>
              </p:cNvPr>
              <p:cNvSpPr txBox="1"/>
              <p:nvPr/>
            </p:nvSpPr>
            <p:spPr>
              <a:xfrm>
                <a:off x="866273" y="3081943"/>
                <a:ext cx="10856335" cy="937244"/>
              </a:xfrm>
              <a:prstGeom prst="rect">
                <a:avLst/>
              </a:prstGeom>
              <a:noFill/>
            </p:spPr>
            <p:txBody>
              <a:bodyPr wrap="square">
                <a:spAutoFit/>
              </a:bodyPr>
              <a:lstStyle/>
              <a:p>
                <a:r>
                  <a:rPr lang="en-US" altLang="ja-JP" dirty="0"/>
                  <a:t>M</a:t>
                </a:r>
                <a:r>
                  <a:rPr kumimoji="1" lang="en-US" altLang="ja-JP" dirty="0"/>
                  <a:t>-stage: </a:t>
                </a:r>
                <a14:m>
                  <m:oMath xmlns:m="http://schemas.openxmlformats.org/officeDocument/2006/math">
                    <m:sSub>
                      <m:sSubPr>
                        <m:ctrlPr>
                          <a:rPr lang="en-US" altLang="ja-JP" i="1" smtClean="0">
                            <a:latin typeface="Cambria Math" panose="02040503050406030204" pitchFamily="18" charset="0"/>
                          </a:rPr>
                        </m:ctrlPr>
                      </m:sSubPr>
                      <m:e>
                        <m:r>
                          <a:rPr lang="en-US" altLang="ja-JP" b="0" i="1" smtClean="0">
                            <a:latin typeface="Cambria Math" panose="02040503050406030204" pitchFamily="18" charset="0"/>
                          </a:rPr>
                          <m:t>𝑤</m:t>
                        </m:r>
                        <m:r>
                          <a:rPr lang="en-US" altLang="ja-JP" b="0" i="1" smtClean="0">
                            <a:latin typeface="Cambria Math" panose="02040503050406030204" pitchFamily="18" charset="0"/>
                          </a:rPr>
                          <m:t>~</m:t>
                        </m:r>
                        <m:r>
                          <a:rPr lang="en-US" altLang="ja-JP" i="1">
                            <a:latin typeface="Cambria Math" panose="02040503050406030204" pitchFamily="18" charset="0"/>
                          </a:rPr>
                          <m:t>𝑄</m:t>
                        </m:r>
                      </m:e>
                      <m:sub>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i="1">
                                <a:latin typeface="Cambria Math" panose="02040503050406030204" pitchFamily="18" charset="0"/>
                              </a:rPr>
                              <m:t>𝑠</m:t>
                            </m:r>
                            <m:r>
                              <a:rPr lang="en-US" altLang="ja-JP" i="1">
                                <a:latin typeface="Cambria Math" panose="02040503050406030204" pitchFamily="18" charset="0"/>
                              </a:rPr>
                              <m:t>1</m:t>
                            </m:r>
                          </m:sub>
                        </m:sSub>
                      </m:sub>
                    </m:sSub>
                  </m:oMath>
                </a14:m>
                <a:r>
                  <a:rPr lang="ja-JP" altLang="en-US" dirty="0"/>
                  <a:t>を初期のサンプリングとして、</a:t>
                </a:r>
                <a:r>
                  <a:rPr lang="en-US" altLang="ja-JP" dirty="0" err="1"/>
                  <a:t>fSGLD</a:t>
                </a:r>
                <a:r>
                  <a:rPr lang="ja-JP" altLang="en-US" dirty="0"/>
                  <a:t>を行い、</a:t>
                </a:r>
                <a:r>
                  <a:rPr lang="en-US" altLang="ja-JP" dirty="0"/>
                  <a:t>N</a:t>
                </a:r>
                <a:r>
                  <a:rPr lang="ja-JP" altLang="en-US" dirty="0"/>
                  <a:t>個のサンプリング</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𝑠</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{1:</m:t>
                        </m:r>
                        <m:r>
                          <a:rPr lang="en-US" altLang="ja-JP" b="0" i="1" smtClean="0">
                            <a:latin typeface="Cambria Math" panose="02040503050406030204" pitchFamily="18" charset="0"/>
                          </a:rPr>
                          <m:t>𝑁</m:t>
                        </m:r>
                        <m:r>
                          <a:rPr lang="en-US" altLang="ja-JP" b="0" i="1" smtClean="0">
                            <a:latin typeface="Cambria Math" panose="02040503050406030204" pitchFamily="18" charset="0"/>
                          </a:rPr>
                          <m:t>}</m:t>
                        </m:r>
                      </m:sub>
                    </m:sSub>
                  </m:oMath>
                </a14:m>
                <a:r>
                  <a:rPr lang="ja-JP" altLang="en-US" dirty="0"/>
                  <a:t>及び、そこから導出される</a:t>
                </a:r>
                <a14:m>
                  <m:oMath xmlns:m="http://schemas.openxmlformats.org/officeDocument/2006/math">
                    <m:sSub>
                      <m:sSubPr>
                        <m:ctrlPr>
                          <a:rPr lang="en-US" altLang="ja-JP" i="1">
                            <a:latin typeface="Cambria Math" panose="02040503050406030204" pitchFamily="18" charset="0"/>
                          </a:rPr>
                        </m:ctrlPr>
                      </m:sSubPr>
                      <m:e>
                        <m:r>
                          <a:rPr lang="en-US" altLang="ja-JP" b="0" i="1" smtClean="0">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r>
                          <a:rPr lang="en-US" altLang="ja-JP" i="1">
                            <a:latin typeface="Cambria Math" panose="02040503050406030204" pitchFamily="18" charset="0"/>
                          </a:rPr>
                          <m:t>{1:</m:t>
                        </m:r>
                        <m:r>
                          <a:rPr lang="en-US" altLang="ja-JP" i="1">
                            <a:latin typeface="Cambria Math" panose="02040503050406030204" pitchFamily="18" charset="0"/>
                          </a:rPr>
                          <m:t>𝑁</m:t>
                        </m:r>
                        <m:r>
                          <a:rPr lang="en-US" altLang="ja-JP" i="1">
                            <a:latin typeface="Cambria Math" panose="02040503050406030204" pitchFamily="18" charset="0"/>
                          </a:rPr>
                          <m:t>}</m:t>
                        </m:r>
                      </m:sub>
                    </m:sSub>
                  </m:oMath>
                </a14:m>
                <a:r>
                  <a:rPr lang="ja-JP" altLang="en-US" dirty="0"/>
                  <a:t>を得る</a:t>
                </a:r>
                <a:endParaRPr lang="en-US" altLang="ja-JP" dirty="0"/>
              </a:p>
              <a:p>
                <a:r>
                  <a:rPr lang="ja-JP" altLang="en-US" sz="1400" dirty="0"/>
                  <a:t>　→ </a:t>
                </a:r>
                <a14:m>
                  <m:oMath xmlns:m="http://schemas.openxmlformats.org/officeDocument/2006/math">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𝑤</m:t>
                        </m:r>
                      </m:e>
                      <m:sub>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𝑠</m:t>
                            </m:r>
                          </m:e>
                          <m:sub>
                            <m:r>
                              <a:rPr lang="en-US" altLang="ja-JP" sz="1400" b="0" i="1" smtClean="0">
                                <a:latin typeface="Cambria Math" panose="02040503050406030204" pitchFamily="18" charset="0"/>
                              </a:rPr>
                              <m:t>2</m:t>
                            </m:r>
                          </m:sub>
                        </m:sSub>
                        <m:r>
                          <a:rPr lang="en-US" altLang="ja-JP" sz="1400" b="0" i="1" smtClean="0">
                            <a:latin typeface="Cambria Math" panose="02040503050406030204" pitchFamily="18" charset="0"/>
                          </a:rPr>
                          <m:t>{1:</m:t>
                        </m:r>
                        <m:r>
                          <a:rPr lang="en-US" altLang="ja-JP" sz="1400" b="0" i="1" smtClean="0">
                            <a:latin typeface="Cambria Math" panose="02040503050406030204" pitchFamily="18" charset="0"/>
                          </a:rPr>
                          <m:t>𝑁</m:t>
                        </m:r>
                        <m:r>
                          <a:rPr lang="en-US" altLang="ja-JP" sz="1400" b="0" i="1" smtClean="0">
                            <a:latin typeface="Cambria Math" panose="02040503050406030204" pitchFamily="18" charset="0"/>
                          </a:rPr>
                          <m:t>}</m:t>
                        </m:r>
                      </m:sub>
                    </m:sSub>
                    <m:r>
                      <a:rPr lang="en-US" altLang="ja-JP" sz="1400" b="0" i="1" smtClean="0">
                        <a:latin typeface="Cambria Math" panose="02040503050406030204" pitchFamily="18" charset="0"/>
                      </a:rPr>
                      <m:t>~</m:t>
                    </m:r>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𝑄</m:t>
                        </m:r>
                      </m:e>
                      <m:sub>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𝑤</m:t>
                            </m:r>
                          </m:e>
                          <m:sub>
                            <m:r>
                              <a:rPr lang="en-US" altLang="ja-JP" sz="1400" b="0" i="1" smtClean="0">
                                <a:latin typeface="Cambria Math" panose="02040503050406030204" pitchFamily="18" charset="0"/>
                              </a:rPr>
                              <m:t>𝑠</m:t>
                            </m:r>
                            <m:r>
                              <a:rPr lang="en-US" altLang="ja-JP" sz="1400" b="0" i="1" smtClean="0">
                                <a:latin typeface="Cambria Math" panose="02040503050406030204" pitchFamily="18" charset="0"/>
                              </a:rPr>
                              <m:t>2</m:t>
                            </m:r>
                          </m:sub>
                        </m:sSub>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𝑓</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𝑠</m:t>
                            </m:r>
                          </m:e>
                          <m:sub>
                            <m:r>
                              <a:rPr lang="en-US" altLang="ja-JP" sz="1400" i="1">
                                <a:latin typeface="Cambria Math" panose="02040503050406030204" pitchFamily="18" charset="0"/>
                              </a:rPr>
                              <m:t>2</m:t>
                            </m:r>
                          </m:sub>
                        </m:sSub>
                        <m:r>
                          <a:rPr lang="en-US" altLang="ja-JP" sz="1400" i="1">
                            <a:latin typeface="Cambria Math" panose="02040503050406030204" pitchFamily="18" charset="0"/>
                          </a:rPr>
                          <m:t>{1:</m:t>
                        </m:r>
                        <m:r>
                          <a:rPr lang="en-US" altLang="ja-JP" sz="1400" i="1">
                            <a:latin typeface="Cambria Math" panose="02040503050406030204" pitchFamily="18" charset="0"/>
                          </a:rPr>
                          <m:t>𝑁</m:t>
                        </m:r>
                        <m:r>
                          <a:rPr lang="en-US" altLang="ja-JP" sz="1400" i="1">
                            <a:latin typeface="Cambria Math" panose="02040503050406030204" pitchFamily="18" charset="0"/>
                          </a:rPr>
                          <m:t>}</m:t>
                        </m:r>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2</m:t>
                            </m:r>
                          </m:sub>
                        </m:sSub>
                      </m:sub>
                    </m:sSub>
                  </m:oMath>
                </a14:m>
                <a:r>
                  <a:rPr lang="ja-JP" altLang="en-US" sz="1400" dirty="0"/>
                  <a:t>だが、</a:t>
                </a:r>
                <a:r>
                  <a:rPr lang="en-US" altLang="ja-JP" sz="1400" dirty="0">
                    <a:solidFill>
                      <a:srgbClr val="FF0000"/>
                    </a:solidFill>
                  </a:rPr>
                  <a:t>Q</a:t>
                </a:r>
                <a:r>
                  <a:rPr lang="ja-JP" altLang="en-US" sz="1400" dirty="0">
                    <a:solidFill>
                      <a:srgbClr val="FF0000"/>
                    </a:solidFill>
                  </a:rPr>
                  <a:t>の明示的な形は与えられない</a:t>
                </a:r>
                <a:endParaRPr lang="en-US" altLang="ja-JP" sz="1400" dirty="0">
                  <a:solidFill>
                    <a:srgbClr val="FF0000"/>
                  </a:solidFill>
                </a:endParaRPr>
              </a:p>
            </p:txBody>
          </p:sp>
        </mc:Choice>
        <mc:Fallback xmlns="">
          <p:sp>
            <p:nvSpPr>
              <p:cNvPr id="6" name="テキスト ボックス 5">
                <a:extLst>
                  <a:ext uri="{FF2B5EF4-FFF2-40B4-BE49-F238E27FC236}">
                    <a16:creationId xmlns:a16="http://schemas.microsoft.com/office/drawing/2014/main" id="{08CD3663-49F9-F6D7-D0CC-F0AEA9B27DD0}"/>
                  </a:ext>
                </a:extLst>
              </p:cNvPr>
              <p:cNvSpPr txBox="1">
                <a:spLocks noRot="1" noChangeAspect="1" noMove="1" noResize="1" noEditPoints="1" noAdjustHandles="1" noChangeArrowheads="1" noChangeShapeType="1" noTextEdit="1"/>
              </p:cNvSpPr>
              <p:nvPr/>
            </p:nvSpPr>
            <p:spPr>
              <a:xfrm>
                <a:off x="866273" y="3081943"/>
                <a:ext cx="10856335" cy="937244"/>
              </a:xfrm>
              <a:prstGeom prst="rect">
                <a:avLst/>
              </a:prstGeom>
              <a:blipFill>
                <a:blip r:embed="rId4"/>
                <a:stretch>
                  <a:fillRect l="-449" t="-2614" b="-45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BE7009B7-63FB-3E6B-F658-07198DF3CBF2}"/>
                  </a:ext>
                </a:extLst>
              </p:cNvPr>
              <p:cNvSpPr txBox="1"/>
              <p:nvPr/>
            </p:nvSpPr>
            <p:spPr>
              <a:xfrm>
                <a:off x="866272" y="4607396"/>
                <a:ext cx="10856335" cy="664734"/>
              </a:xfrm>
              <a:prstGeom prst="rect">
                <a:avLst/>
              </a:prstGeom>
              <a:noFill/>
            </p:spPr>
            <p:txBody>
              <a:bodyPr wrap="square">
                <a:spAutoFit/>
              </a:bodyPr>
              <a:lstStyle/>
              <a:p>
                <a:r>
                  <a:rPr kumimoji="1" lang="en-US" altLang="ja-JP" dirty="0"/>
                  <a:t>T-stage:</a:t>
                </a:r>
                <a:r>
                  <a:rPr lang="ja-JP" altLang="en-US" dirty="0"/>
                  <a:t> </a:t>
                </a:r>
                <a:r>
                  <a:rPr kumimoji="1" lang="en-US" altLang="ja-JP" dirty="0"/>
                  <a:t>M-stage</a:t>
                </a:r>
                <a:r>
                  <a:rPr kumimoji="1" lang="ja-JP" altLang="en-US" dirty="0"/>
                  <a:t>の分布を明示的に与えるため、</a:t>
                </a:r>
                <a:r>
                  <a:rPr lang="ja-JP" altLang="en-US" dirty="0"/>
                  <a:t>以下の全単射な写像を考える</a:t>
                </a:r>
                <a:endParaRPr kumimoji="1" lang="en-US" altLang="ja-JP" dirty="0"/>
              </a:p>
              <a:p>
                <a:pPr/>
                <a14:m>
                  <m:oMathPara xmlns:m="http://schemas.openxmlformats.org/officeDocument/2006/math">
                    <m:oMathParaPr>
                      <m:jc m:val="centerGroup"/>
                    </m:oMathParaPr>
                    <m:oMath xmlns:m="http://schemas.openxmlformats.org/officeDocument/2006/math">
                      <m:sSubSup>
                        <m:sSubSupPr>
                          <m:ctrlPr>
                            <a:rPr kumimoji="1" lang="en-US" altLang="ja-JP" b="0" i="1" smtClean="0">
                              <a:latin typeface="Cambria Math" panose="02040503050406030204" pitchFamily="18" charset="0"/>
                            </a:rPr>
                          </m:ctrlPr>
                        </m:sSubSupPr>
                        <m:e>
                          <m:r>
                            <a:rPr kumimoji="1" lang="en-US" altLang="ja-JP" b="0" i="1" smtClean="0">
                              <a:latin typeface="Cambria Math" panose="02040503050406030204" pitchFamily="18" charset="0"/>
                            </a:rPr>
                            <m:t>𝐹</m:t>
                          </m:r>
                        </m:e>
                        <m:sub>
                          <m:r>
                            <a:rPr kumimoji="1" lang="en-US" altLang="ja-JP" b="0" i="1" smtClean="0">
                              <a:latin typeface="Cambria Math" panose="02040503050406030204" pitchFamily="18" charset="0"/>
                            </a:rPr>
                            <m:t>𝜆</m:t>
                          </m:r>
                        </m:sub>
                        <m:sup>
                          <m:r>
                            <a:rPr kumimoji="1" lang="en-US" altLang="ja-JP" b="0" i="1" smtClean="0">
                              <a:latin typeface="Cambria Math" panose="02040503050406030204" pitchFamily="18" charset="0"/>
                            </a:rPr>
                            <m:t>−1</m:t>
                          </m:r>
                        </m:sup>
                      </m:sSubSup>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2</m:t>
                          </m:r>
                        </m:sub>
                      </m:sSub>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2</m:t>
                              </m:r>
                            </m:sub>
                          </m:sSub>
                        </m:e>
                      </m:d>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oMath>
                  </m:oMathPara>
                </a14:m>
                <a:endParaRPr kumimoji="1" lang="en-US" altLang="ja-JP" dirty="0"/>
              </a:p>
            </p:txBody>
          </p:sp>
        </mc:Choice>
        <mc:Fallback xmlns="">
          <p:sp>
            <p:nvSpPr>
              <p:cNvPr id="7" name="テキスト ボックス 6">
                <a:extLst>
                  <a:ext uri="{FF2B5EF4-FFF2-40B4-BE49-F238E27FC236}">
                    <a16:creationId xmlns:a16="http://schemas.microsoft.com/office/drawing/2014/main" id="{BE7009B7-63FB-3E6B-F658-07198DF3CBF2}"/>
                  </a:ext>
                </a:extLst>
              </p:cNvPr>
              <p:cNvSpPr txBox="1">
                <a:spLocks noRot="1" noChangeAspect="1" noMove="1" noResize="1" noEditPoints="1" noAdjustHandles="1" noChangeArrowheads="1" noChangeShapeType="1" noTextEdit="1"/>
              </p:cNvSpPr>
              <p:nvPr/>
            </p:nvSpPr>
            <p:spPr>
              <a:xfrm>
                <a:off x="866272" y="4607396"/>
                <a:ext cx="10856335" cy="664734"/>
              </a:xfrm>
              <a:prstGeom prst="rect">
                <a:avLst/>
              </a:prstGeom>
              <a:blipFill>
                <a:blip r:embed="rId5"/>
                <a:stretch>
                  <a:fillRect l="-449" t="-5505" b="-6422"/>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464BA240-1851-5E4F-E170-3B62B5E4C102}"/>
              </a:ext>
            </a:extLst>
          </p:cNvPr>
          <p:cNvSpPr txBox="1"/>
          <p:nvPr/>
        </p:nvSpPr>
        <p:spPr>
          <a:xfrm>
            <a:off x="8235055" y="2375114"/>
            <a:ext cx="3090672" cy="461665"/>
          </a:xfrm>
          <a:prstGeom prst="rect">
            <a:avLst/>
          </a:prstGeom>
          <a:noFill/>
        </p:spPr>
        <p:txBody>
          <a:bodyPr wrap="square" rtlCol="0">
            <a:spAutoFit/>
          </a:bodyPr>
          <a:lstStyle/>
          <a:p>
            <a:r>
              <a:rPr lang="en-US" altLang="ja-JP" sz="1200" dirty="0"/>
              <a:t>※ </a:t>
            </a:r>
            <a:r>
              <a:rPr kumimoji="1" lang="ja-JP" altLang="en-US" sz="1200" dirty="0"/>
              <a:t>無限次元なので</a:t>
            </a:r>
            <a:r>
              <a:rPr kumimoji="1" lang="en-US" altLang="ja-JP" sz="1200" dirty="0"/>
              <a:t>GP</a:t>
            </a:r>
            <a:r>
              <a:rPr kumimoji="1" lang="ja-JP" altLang="en-US" sz="1200" dirty="0"/>
              <a:t>と表記しているが、有限個の入力で見ると、多変量正規分布</a:t>
            </a:r>
          </a:p>
        </p:txBody>
      </p:sp>
      <p:sp>
        <p:nvSpPr>
          <p:cNvPr id="4" name="正方形/長方形 3">
            <a:extLst>
              <a:ext uri="{FF2B5EF4-FFF2-40B4-BE49-F238E27FC236}">
                <a16:creationId xmlns:a16="http://schemas.microsoft.com/office/drawing/2014/main" id="{5CBE4DD5-7D9C-62F8-8FCF-553FFCEC48F1}"/>
              </a:ext>
            </a:extLst>
          </p:cNvPr>
          <p:cNvSpPr/>
          <p:nvPr/>
        </p:nvSpPr>
        <p:spPr>
          <a:xfrm>
            <a:off x="750013" y="1618870"/>
            <a:ext cx="10972594" cy="1307738"/>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9698649-FE4A-19DD-A377-E25E1D662F3B}"/>
              </a:ext>
            </a:extLst>
          </p:cNvPr>
          <p:cNvSpPr/>
          <p:nvPr/>
        </p:nvSpPr>
        <p:spPr>
          <a:xfrm>
            <a:off x="750013" y="3053919"/>
            <a:ext cx="10972594" cy="113793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1C66FAED-4ABB-E181-03B2-B2E716D072BB}"/>
                  </a:ext>
                </a:extLst>
              </p:cNvPr>
              <p:cNvSpPr txBox="1"/>
              <p:nvPr/>
            </p:nvSpPr>
            <p:spPr>
              <a:xfrm>
                <a:off x="821872" y="5366972"/>
                <a:ext cx="10548256" cy="646331"/>
              </a:xfrm>
              <a:prstGeom prst="rect">
                <a:avLst/>
              </a:prstGeom>
              <a:noFill/>
            </p:spPr>
            <p:txBody>
              <a:bodyPr wrap="square">
                <a:spAutoFit/>
              </a:bodyPr>
              <a:lstStyle/>
              <a:p>
                <a:r>
                  <a:rPr lang="en-US" altLang="ja-JP" dirty="0"/>
                  <a:t>M-stage</a:t>
                </a:r>
                <a:r>
                  <a:rPr lang="ja-JP" altLang="en-US" dirty="0"/>
                  <a:t>で得られたサンプルにこの全単射を適用すると、</a:t>
                </a:r>
                <a:r>
                  <a:rPr lang="en-US" altLang="ja-JP" dirty="0"/>
                  <a:t>V-stage</a:t>
                </a:r>
                <a:r>
                  <a:rPr lang="ja-JP" altLang="en-US" dirty="0"/>
                  <a:t>上の確率変数になるようにパラメータ</a:t>
                </a:r>
                <a14:m>
                  <m:oMath xmlns:m="http://schemas.openxmlformats.org/officeDocument/2006/math">
                    <m:r>
                      <a:rPr kumimoji="1" lang="en-US" altLang="ja-JP" b="0" i="1" smtClean="0">
                        <a:latin typeface="Cambria Math" panose="02040503050406030204" pitchFamily="18" charset="0"/>
                      </a:rPr>
                      <m:t>𝜆</m:t>
                    </m:r>
                  </m:oMath>
                </a14:m>
                <a:r>
                  <a:rPr lang="ja-JP" altLang="en-US" dirty="0"/>
                  <a:t>の最適化を行う</a:t>
                </a:r>
              </a:p>
            </p:txBody>
          </p:sp>
        </mc:Choice>
        <mc:Fallback xmlns="">
          <p:sp>
            <p:nvSpPr>
              <p:cNvPr id="15" name="テキスト ボックス 14">
                <a:extLst>
                  <a:ext uri="{FF2B5EF4-FFF2-40B4-BE49-F238E27FC236}">
                    <a16:creationId xmlns:a16="http://schemas.microsoft.com/office/drawing/2014/main" id="{1C66FAED-4ABB-E181-03B2-B2E716D072BB}"/>
                  </a:ext>
                </a:extLst>
              </p:cNvPr>
              <p:cNvSpPr txBox="1">
                <a:spLocks noRot="1" noChangeAspect="1" noMove="1" noResize="1" noEditPoints="1" noAdjustHandles="1" noChangeArrowheads="1" noChangeShapeType="1" noTextEdit="1"/>
              </p:cNvSpPr>
              <p:nvPr/>
            </p:nvSpPr>
            <p:spPr>
              <a:xfrm>
                <a:off x="821872" y="5366972"/>
                <a:ext cx="10548256" cy="646331"/>
              </a:xfrm>
              <a:prstGeom prst="rect">
                <a:avLst/>
              </a:prstGeom>
              <a:blipFill>
                <a:blip r:embed="rId6"/>
                <a:stretch>
                  <a:fillRect l="-520" t="-4717" b="-15094"/>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7899DACC-983D-0B9A-631A-90F7CDA39787}"/>
              </a:ext>
            </a:extLst>
          </p:cNvPr>
          <p:cNvSpPr/>
          <p:nvPr/>
        </p:nvSpPr>
        <p:spPr>
          <a:xfrm>
            <a:off x="750013" y="4552200"/>
            <a:ext cx="10972594" cy="157645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6339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6EBE0DF8-CDA1-A455-E4FF-964070D1240F}"/>
                  </a:ext>
                </a:extLst>
              </p:cNvPr>
              <p:cNvSpPr txBox="1"/>
              <p:nvPr/>
            </p:nvSpPr>
            <p:spPr>
              <a:xfrm>
                <a:off x="3002361" y="820387"/>
                <a:ext cx="5649074" cy="7602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b="0" i="1" smtClean="0">
                                  <a:latin typeface="Cambria Math" panose="02040503050406030204" pitchFamily="18" charset="0"/>
                                </a:rPr>
                                <m:t>2</m:t>
                              </m:r>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sub>
                      </m:sSub>
                      <m:d>
                        <m:dPr>
                          <m:ctrlPr>
                            <a:rPr lang="en-US" altLang="ja-JP" b="0" i="1" smtClean="0">
                              <a:latin typeface="Cambria Math" panose="02040503050406030204" pitchFamily="18" charset="0"/>
                            </a:rPr>
                          </m:ctrlPr>
                        </m:dPr>
                        <m:e>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e>
                      </m:d>
                      <m:r>
                        <a:rPr lang="en-US" altLang="ja-JP" b="0" i="1" smtClean="0">
                          <a:latin typeface="Cambria Math" panose="02040503050406030204" pitchFamily="18" charset="0"/>
                        </a:rPr>
                        <m:t>=</m:t>
                      </m:r>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i="1">
                                  <a:latin typeface="Cambria Math" panose="02040503050406030204" pitchFamily="18" charset="0"/>
                                </a:rPr>
                                <m:t>1</m:t>
                              </m:r>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sub>
                      </m:sSub>
                      <m:r>
                        <a:rPr lang="en-US" altLang="ja-JP" b="0" i="1" smtClean="0">
                          <a:latin typeface="Cambria Math" panose="02040503050406030204" pitchFamily="18" charset="0"/>
                        </a:rPr>
                        <m:t>(</m:t>
                      </m:r>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r>
                        <a:rPr lang="en-US" altLang="ja-JP" i="1">
                          <a:latin typeface="Cambria Math" panose="02040503050406030204" pitchFamily="18" charset="0"/>
                          <a:ea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m:t>
                          </m:r>
                        </m:num>
                        <m:den>
                          <m:r>
                            <a:rPr lang="en-US" altLang="ja-JP" b="0" i="1" smtClean="0">
                              <a:latin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den>
                      </m:f>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d>
                        <m:dPr>
                          <m:ctrlPr>
                            <a:rPr lang="en-US" altLang="ja-JP" i="1" smtClean="0">
                              <a:latin typeface="Cambria Math" panose="02040503050406030204" pitchFamily="18" charset="0"/>
                            </a:rPr>
                          </m:ctrlPr>
                        </m:dPr>
                        <m:e>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e>
                      </m:d>
                    </m:oMath>
                  </m:oMathPara>
                </a14:m>
                <a:endParaRPr lang="ja-JP" altLang="en-US" dirty="0"/>
              </a:p>
            </p:txBody>
          </p:sp>
        </mc:Choice>
        <mc:Fallback xmlns="">
          <p:sp>
            <p:nvSpPr>
              <p:cNvPr id="13" name="テキスト ボックス 12">
                <a:extLst>
                  <a:ext uri="{FF2B5EF4-FFF2-40B4-BE49-F238E27FC236}">
                    <a16:creationId xmlns:a16="http://schemas.microsoft.com/office/drawing/2014/main" id="{6EBE0DF8-CDA1-A455-E4FF-964070D1240F}"/>
                  </a:ext>
                </a:extLst>
              </p:cNvPr>
              <p:cNvSpPr txBox="1">
                <a:spLocks noRot="1" noChangeAspect="1" noMove="1" noResize="1" noEditPoints="1" noAdjustHandles="1" noChangeArrowheads="1" noChangeShapeType="1" noTextEdit="1"/>
              </p:cNvSpPr>
              <p:nvPr/>
            </p:nvSpPr>
            <p:spPr>
              <a:xfrm>
                <a:off x="3002361" y="820387"/>
                <a:ext cx="5649074" cy="760208"/>
              </a:xfrm>
              <a:prstGeom prst="rect">
                <a:avLst/>
              </a:prstGeom>
              <a:blipFill>
                <a:blip r:embed="rId2"/>
                <a:stretch>
                  <a:fillRect/>
                </a:stretch>
              </a:blipFill>
            </p:spPr>
            <p:txBody>
              <a:bodyPr/>
              <a:lstStyle/>
              <a:p>
                <a:r>
                  <a:rPr lang="ja-JP" altLang="en-US">
                    <a:noFill/>
                  </a:rPr>
                  <a:t> </a:t>
                </a:r>
              </a:p>
            </p:txBody>
          </p:sp>
        </mc:Fallback>
      </mc:AlternateContent>
      <p:sp>
        <p:nvSpPr>
          <p:cNvPr id="16" name="テキスト ボックス 15">
            <a:extLst>
              <a:ext uri="{FF2B5EF4-FFF2-40B4-BE49-F238E27FC236}">
                <a16:creationId xmlns:a16="http://schemas.microsoft.com/office/drawing/2014/main" id="{BAF26CB9-D3BC-F4BD-1C24-4C5386141820}"/>
              </a:ext>
            </a:extLst>
          </p:cNvPr>
          <p:cNvSpPr txBox="1"/>
          <p:nvPr/>
        </p:nvSpPr>
        <p:spPr>
          <a:xfrm>
            <a:off x="6363006" y="1789591"/>
            <a:ext cx="4365171" cy="369332"/>
          </a:xfrm>
          <a:prstGeom prst="rect">
            <a:avLst/>
          </a:prstGeom>
          <a:noFill/>
        </p:spPr>
        <p:txBody>
          <a:bodyPr wrap="square" rtlCol="0">
            <a:spAutoFit/>
          </a:bodyPr>
          <a:lstStyle/>
          <a:p>
            <a:r>
              <a:rPr kumimoji="1" lang="ja-JP" altLang="en-US" dirty="0"/>
              <a:t>確率変数の変換で出てくるヤコビ行列</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C07C5E4D-77F1-6015-5EBC-1C96D4B0C1D4}"/>
                  </a:ext>
                </a:extLst>
              </p:cNvPr>
              <p:cNvSpPr txBox="1"/>
              <p:nvPr/>
            </p:nvSpPr>
            <p:spPr>
              <a:xfrm>
                <a:off x="745601" y="435923"/>
                <a:ext cx="8221894" cy="384464"/>
              </a:xfrm>
              <a:prstGeom prst="rect">
                <a:avLst/>
              </a:prstGeom>
              <a:noFill/>
            </p:spPr>
            <p:txBody>
              <a:bodyPr wrap="square">
                <a:spAutoFit/>
              </a:bodyPr>
              <a:lstStyle/>
              <a:p>
                <a:r>
                  <a:rPr lang="ja-JP" altLang="en-US" dirty="0"/>
                  <a:t>有限な</a:t>
                </a:r>
                <a:r>
                  <a:rPr kumimoji="1" lang="en-US" altLang="ja-JP" dirty="0"/>
                  <a:t>M</a:t>
                </a:r>
                <a:r>
                  <a:rPr kumimoji="1" lang="ja-JP" altLang="en-US" dirty="0"/>
                  <a:t>個の入力点</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r>
                      <a:rPr kumimoji="1" lang="en-US" altLang="ja-JP" b="0" i="1" smtClean="0">
                        <a:latin typeface="Cambria Math" panose="02040503050406030204" pitchFamily="18" charset="0"/>
                      </a:rPr>
                      <m:t>=</m:t>
                    </m:r>
                    <m:sSubSup>
                      <m:sSubSupPr>
                        <m:ctrlPr>
                          <a:rPr kumimoji="1" lang="en-US" altLang="ja-JP" b="0" i="1" smtClean="0">
                            <a:latin typeface="Cambria Math" panose="02040503050406030204" pitchFamily="18" charset="0"/>
                          </a:rPr>
                        </m:ctrlPr>
                      </m:sSubSupPr>
                      <m:e>
                        <m:d>
                          <m:dPr>
                            <m:begChr m:val="{"/>
                            <m:endChr m:val="}"/>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𝑖</m:t>
                                </m:r>
                              </m:sub>
                            </m:sSub>
                          </m:e>
                        </m:d>
                      </m:e>
                      <m:sub>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𝑀</m:t>
                        </m:r>
                      </m:sup>
                    </m:sSubSup>
                  </m:oMath>
                </a14:m>
                <a:r>
                  <a:rPr kumimoji="1" lang="ja-JP" altLang="en-US" dirty="0"/>
                  <a:t>に限定</a:t>
                </a:r>
                <a:r>
                  <a:rPr lang="ja-JP" altLang="en-US" dirty="0"/>
                  <a:t>して関数のサンプルを評価すると、</a:t>
                </a:r>
              </a:p>
            </p:txBody>
          </p:sp>
        </mc:Choice>
        <mc:Fallback xmlns="">
          <p:sp>
            <p:nvSpPr>
              <p:cNvPr id="3" name="テキスト ボックス 2">
                <a:extLst>
                  <a:ext uri="{FF2B5EF4-FFF2-40B4-BE49-F238E27FC236}">
                    <a16:creationId xmlns:a16="http://schemas.microsoft.com/office/drawing/2014/main" id="{C07C5E4D-77F1-6015-5EBC-1C96D4B0C1D4}"/>
                  </a:ext>
                </a:extLst>
              </p:cNvPr>
              <p:cNvSpPr txBox="1">
                <a:spLocks noRot="1" noChangeAspect="1" noMove="1" noResize="1" noEditPoints="1" noAdjustHandles="1" noChangeArrowheads="1" noChangeShapeType="1" noTextEdit="1"/>
              </p:cNvSpPr>
              <p:nvPr/>
            </p:nvSpPr>
            <p:spPr>
              <a:xfrm>
                <a:off x="745601" y="435923"/>
                <a:ext cx="8221894" cy="384464"/>
              </a:xfrm>
              <a:prstGeom prst="rect">
                <a:avLst/>
              </a:prstGeom>
              <a:blipFill>
                <a:blip r:embed="rId3"/>
                <a:stretch>
                  <a:fillRect l="-593" t="-4762" b="-25397"/>
                </a:stretch>
              </a:blipFill>
            </p:spPr>
            <p:txBody>
              <a:bodyPr/>
              <a:lstStyle/>
              <a:p>
                <a:r>
                  <a:rPr lang="ja-JP" altLang="en-US">
                    <a:noFill/>
                  </a:rPr>
                  <a:t> </a:t>
                </a:r>
              </a:p>
            </p:txBody>
          </p:sp>
        </mc:Fallback>
      </mc:AlternateContent>
      <p:cxnSp>
        <p:nvCxnSpPr>
          <p:cNvPr id="5" name="直線コネクタ 4">
            <a:extLst>
              <a:ext uri="{FF2B5EF4-FFF2-40B4-BE49-F238E27FC236}">
                <a16:creationId xmlns:a16="http://schemas.microsoft.com/office/drawing/2014/main" id="{EDE1DE83-192A-8C20-E474-B8EE4F5D14C5}"/>
              </a:ext>
            </a:extLst>
          </p:cNvPr>
          <p:cNvCxnSpPr>
            <a:cxnSpLocks/>
          </p:cNvCxnSpPr>
          <p:nvPr/>
        </p:nvCxnSpPr>
        <p:spPr>
          <a:xfrm>
            <a:off x="6554912" y="1619494"/>
            <a:ext cx="1589988" cy="24330"/>
          </a:xfrm>
          <a:prstGeom prst="line">
            <a:avLst/>
          </a:prstGeom>
          <a:ln w="571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78DACBCE-3BFB-C458-10F7-B9EB606239E7}"/>
                  </a:ext>
                </a:extLst>
              </p:cNvPr>
              <p:cNvSpPr txBox="1"/>
              <p:nvPr/>
            </p:nvSpPr>
            <p:spPr>
              <a:xfrm>
                <a:off x="873303" y="2325852"/>
                <a:ext cx="9780998" cy="484492"/>
              </a:xfrm>
              <a:prstGeom prst="rect">
                <a:avLst/>
              </a:prstGeom>
              <a:noFill/>
            </p:spPr>
            <p:txBody>
              <a:bodyPr wrap="square" rtlCol="0">
                <a:spAutoFit/>
              </a:bodyPr>
              <a:lstStyle/>
              <a:p>
                <a:r>
                  <a:rPr kumimoji="1" lang="ja-JP" altLang="en-US" dirty="0"/>
                  <a:t>左辺の</a:t>
                </a:r>
                <a14:m>
                  <m:oMath xmlns:m="http://schemas.openxmlformats.org/officeDocument/2006/math">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b="0" i="1" smtClean="0">
                                <a:latin typeface="Cambria Math" panose="02040503050406030204" pitchFamily="18" charset="0"/>
                              </a:rPr>
                              <m:t>2</m:t>
                            </m:r>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sub>
                    </m:sSub>
                  </m:oMath>
                </a14:m>
                <a:r>
                  <a:rPr kumimoji="1" lang="ja-JP" altLang="en-US" dirty="0"/>
                  <a:t>は依然分からないが、右辺は</a:t>
                </a:r>
                <a14:m>
                  <m:oMath xmlns:m="http://schemas.openxmlformats.org/officeDocument/2006/math">
                    <m:sSubSup>
                      <m:sSubSupPr>
                        <m:ctrlPr>
                          <a:rPr lang="en-US" altLang="ja-JP" i="1" smtClean="0">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oMath>
                </a14:m>
                <a:r>
                  <a:rPr kumimoji="1" lang="ja-JP" altLang="en-US" dirty="0"/>
                  <a:t>の関数形を与えれば、目的関数に書き下せる</a:t>
                </a:r>
              </a:p>
            </p:txBody>
          </p:sp>
        </mc:Choice>
        <mc:Fallback xmlns="">
          <p:sp>
            <p:nvSpPr>
              <p:cNvPr id="6" name="テキスト ボックス 5">
                <a:extLst>
                  <a:ext uri="{FF2B5EF4-FFF2-40B4-BE49-F238E27FC236}">
                    <a16:creationId xmlns:a16="http://schemas.microsoft.com/office/drawing/2014/main" id="{78DACBCE-3BFB-C458-10F7-B9EB606239E7}"/>
                  </a:ext>
                </a:extLst>
              </p:cNvPr>
              <p:cNvSpPr txBox="1">
                <a:spLocks noRot="1" noChangeAspect="1" noMove="1" noResize="1" noEditPoints="1" noAdjustHandles="1" noChangeArrowheads="1" noChangeShapeType="1" noTextEdit="1"/>
              </p:cNvSpPr>
              <p:nvPr/>
            </p:nvSpPr>
            <p:spPr>
              <a:xfrm>
                <a:off x="873303" y="2325852"/>
                <a:ext cx="9780998" cy="484492"/>
              </a:xfrm>
              <a:prstGeom prst="rect">
                <a:avLst/>
              </a:prstGeom>
              <a:blipFill>
                <a:blip r:embed="rId4"/>
                <a:stretch>
                  <a:fillRect l="-498" t="-3797" b="-253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73A02F4-C56A-210E-8A0D-D4A0B00605CE}"/>
                  </a:ext>
                </a:extLst>
              </p:cNvPr>
              <p:cNvSpPr txBox="1"/>
              <p:nvPr/>
            </p:nvSpPr>
            <p:spPr>
              <a:xfrm>
                <a:off x="2869783" y="3416789"/>
                <a:ext cx="6736554" cy="6290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i="1">
                                  <a:latin typeface="Cambria Math" panose="02040503050406030204" pitchFamily="18" charset="0"/>
                                </a:rPr>
                                <m:t>1</m:t>
                              </m:r>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sub>
                      </m:sSub>
                      <m:r>
                        <a:rPr lang="en-US" altLang="ja-JP" b="0" i="1" smtClean="0">
                          <a:latin typeface="Cambria Math" panose="02040503050406030204" pitchFamily="18" charset="0"/>
                        </a:rPr>
                        <m:t>(</m:t>
                      </m:r>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r>
                        <a:rPr lang="en-US" altLang="ja-JP" i="1">
                          <a:latin typeface="Cambria Math" panose="02040503050406030204" pitchFamily="18" charset="0"/>
                          <a:ea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r>
                        <a:rPr lang="en-US" altLang="ja-JP" b="0" i="1" smtClean="0">
                          <a:latin typeface="Cambria Math" panose="02040503050406030204" pitchFamily="18" charset="0"/>
                        </a:rPr>
                        <m:t>)=</m:t>
                      </m:r>
                      <m:r>
                        <a:rPr lang="en-US" altLang="ja-JP" b="0" i="1" smtClean="0">
                          <a:latin typeface="Cambria Math" panose="02040503050406030204" pitchFamily="18" charset="0"/>
                        </a:rPr>
                        <m:t>𝑁</m:t>
                      </m:r>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𝑎</m:t>
                          </m:r>
                        </m:den>
                      </m:f>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𝑓</m:t>
                          </m:r>
                        </m:e>
                        <m:sub>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𝑠</m:t>
                              </m:r>
                            </m:e>
                            <m:sub>
                              <m:r>
                                <a:rPr lang="en-US" altLang="ja-JP" b="0" i="1" smtClean="0">
                                  <a:latin typeface="Cambria Math" panose="02040503050406030204" pitchFamily="18" charset="0"/>
                                </a:rPr>
                                <m:t>2</m:t>
                              </m:r>
                            </m:sub>
                          </m:sSub>
                        </m:sub>
                      </m:sSub>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e>
                      </m:d>
                      <m:r>
                        <a:rPr lang="en-US" altLang="ja-JP" b="0" i="1" smtClean="0">
                          <a:latin typeface="Cambria Math" panose="02040503050406030204" pitchFamily="18" charset="0"/>
                        </a:rPr>
                        <m:t>−</m:t>
                      </m:r>
                      <m:r>
                        <a:rPr lang="en-US" altLang="ja-JP" b="0" i="1" smtClean="0">
                          <a:latin typeface="Cambria Math" panose="02040503050406030204" pitchFamily="18" charset="0"/>
                        </a:rPr>
                        <m:t>𝑏</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𝜔</m:t>
                      </m:r>
                      <m:r>
                        <a:rPr lang="en-US" altLang="ja-JP" b="0" i="1" smtClean="0">
                          <a:latin typeface="Cambria Math" panose="02040503050406030204" pitchFamily="18" charset="0"/>
                        </a:rPr>
                        <m:t>)|</m:t>
                      </m:r>
                      <m:r>
                        <a:rPr lang="en-US" altLang="ja-JP" b="0" i="1" smtClean="0">
                          <a:latin typeface="Cambria Math" panose="02040503050406030204" pitchFamily="18" charset="0"/>
                        </a:rPr>
                        <m:t>𝑓</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𝑚</m:t>
                          </m:r>
                        </m:e>
                      </m:d>
                      <m:r>
                        <a:rPr lang="en-US" altLang="ja-JP" i="1">
                          <a:latin typeface="Cambria Math" panose="02040503050406030204" pitchFamily="18" charset="0"/>
                        </a:rPr>
                        <m:t>, </m:t>
                      </m:r>
                      <m:r>
                        <a:rPr lang="en-US" altLang="ja-JP" i="1">
                          <a:latin typeface="Cambria Math" panose="02040503050406030204" pitchFamily="18" charset="0"/>
                        </a:rPr>
                        <m:t>𝐽</m:t>
                      </m:r>
                      <m:r>
                        <a:rPr lang="en-US" altLang="ja-JP" i="1">
                          <a:latin typeface="Cambria Math" panose="02040503050406030204" pitchFamily="18" charset="0"/>
                        </a:rPr>
                        <m:t>𝛴</m:t>
                      </m:r>
                      <m:sSup>
                        <m:sSupPr>
                          <m:ctrlPr>
                            <a:rPr lang="en-US" altLang="ja-JP" i="1">
                              <a:latin typeface="Cambria Math" panose="02040503050406030204" pitchFamily="18" charset="0"/>
                            </a:rPr>
                          </m:ctrlPr>
                        </m:sSupPr>
                        <m:e>
                          <m:r>
                            <a:rPr lang="en-US" altLang="ja-JP" i="1">
                              <a:latin typeface="Cambria Math" panose="02040503050406030204" pitchFamily="18" charset="0"/>
                            </a:rPr>
                            <m:t>𝐽</m:t>
                          </m:r>
                        </m:e>
                        <m:sup>
                          <m:r>
                            <a:rPr lang="en-US" altLang="ja-JP" i="1">
                              <a:latin typeface="Cambria Math" panose="02040503050406030204" pitchFamily="18" charset="0"/>
                            </a:rPr>
                            <m:t>𝑇</m:t>
                          </m:r>
                        </m:sup>
                      </m:sSup>
                      <m:r>
                        <a:rPr lang="en-US" altLang="ja-JP" b="0" i="1" smtClean="0">
                          <a:latin typeface="Cambria Math" panose="02040503050406030204" pitchFamily="18" charset="0"/>
                        </a:rPr>
                        <m:t>)</m:t>
                      </m:r>
                    </m:oMath>
                  </m:oMathPara>
                </a14:m>
                <a:endParaRPr kumimoji="1" lang="en-US" altLang="ja-JP" dirty="0"/>
              </a:p>
            </p:txBody>
          </p:sp>
        </mc:Choice>
        <mc:Fallback xmlns="">
          <p:sp>
            <p:nvSpPr>
              <p:cNvPr id="9" name="テキスト ボックス 8">
                <a:extLst>
                  <a:ext uri="{FF2B5EF4-FFF2-40B4-BE49-F238E27FC236}">
                    <a16:creationId xmlns:a16="http://schemas.microsoft.com/office/drawing/2014/main" id="{E73A02F4-C56A-210E-8A0D-D4A0B00605CE}"/>
                  </a:ext>
                </a:extLst>
              </p:cNvPr>
              <p:cNvSpPr txBox="1">
                <a:spLocks noRot="1" noChangeAspect="1" noMove="1" noResize="1" noEditPoints="1" noAdjustHandles="1" noChangeArrowheads="1" noChangeShapeType="1" noTextEdit="1"/>
              </p:cNvSpPr>
              <p:nvPr/>
            </p:nvSpPr>
            <p:spPr>
              <a:xfrm>
                <a:off x="2869783" y="3416789"/>
                <a:ext cx="6736554" cy="629018"/>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EF64C9F-5006-B710-FAAE-65685A1D1EBF}"/>
                  </a:ext>
                </a:extLst>
              </p:cNvPr>
              <p:cNvSpPr txBox="1"/>
              <p:nvPr/>
            </p:nvSpPr>
            <p:spPr>
              <a:xfrm>
                <a:off x="5210954" y="4073639"/>
                <a:ext cx="6275553" cy="1212833"/>
              </a:xfrm>
              <a:prstGeom prst="rect">
                <a:avLst/>
              </a:prstGeom>
              <a:noFill/>
            </p:spPr>
            <p:txBody>
              <a:bodyPr wrap="square" rtlCol="0">
                <a:spAutoFit/>
              </a:bodyPr>
              <a:lstStyle/>
              <a:p>
                <a14:m>
                  <m:oMath xmlns:m="http://schemas.openxmlformats.org/officeDocument/2006/math">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𝑄</m:t>
                        </m:r>
                      </m:e>
                      <m:sub>
                        <m:sSubSup>
                          <m:sSubSupPr>
                            <m:ctrlPr>
                              <a:rPr lang="en-US" altLang="ja-JP" sz="1400" b="0" i="1" smtClean="0">
                                <a:latin typeface="Cambria Math" panose="02040503050406030204" pitchFamily="18" charset="0"/>
                              </a:rPr>
                            </m:ctrlPr>
                          </m:sSubSup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1</m:t>
                            </m:r>
                          </m:sub>
                          <m:sup>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𝑋</m:t>
                                </m:r>
                              </m:e>
                              <m:sub>
                                <m:r>
                                  <a:rPr lang="en-US" altLang="ja-JP" sz="1400" b="0" i="1" smtClean="0">
                                    <a:latin typeface="Cambria Math" panose="02040503050406030204" pitchFamily="18" charset="0"/>
                                  </a:rPr>
                                  <m:t>𝑀</m:t>
                                </m:r>
                              </m:sub>
                            </m:sSub>
                          </m:sup>
                        </m:sSubSup>
                      </m:sub>
                    </m:sSub>
                    <m:r>
                      <a:rPr lang="en-US" altLang="ja-JP" sz="1400" b="0" i="1" smtClean="0">
                        <a:latin typeface="Cambria Math" panose="02040503050406030204" pitchFamily="18" charset="0"/>
                      </a:rPr>
                      <m:t>(</m:t>
                    </m:r>
                    <m:sSubSup>
                      <m:sSubSupPr>
                        <m:ctrlPr>
                          <a:rPr lang="en-US" altLang="ja-JP" sz="1400" i="1">
                            <a:latin typeface="Cambria Math" panose="02040503050406030204" pitchFamily="18" charset="0"/>
                          </a:rPr>
                        </m:ctrlPr>
                      </m:sSubSupPr>
                      <m:e>
                        <m:r>
                          <a:rPr lang="en-US" altLang="ja-JP" sz="1400" i="1">
                            <a:latin typeface="Cambria Math" panose="02040503050406030204" pitchFamily="18" charset="0"/>
                          </a:rPr>
                          <m:t>𝐹</m:t>
                        </m:r>
                      </m:e>
                      <m:sub>
                        <m:r>
                          <a:rPr lang="en-US" altLang="ja-JP" sz="1400" i="1">
                            <a:latin typeface="Cambria Math" panose="02040503050406030204" pitchFamily="18" charset="0"/>
                          </a:rPr>
                          <m:t>𝜆</m:t>
                        </m:r>
                      </m:sub>
                      <m:sup>
                        <m:r>
                          <a:rPr lang="en-US" altLang="ja-JP" sz="1400" i="1">
                            <a:latin typeface="Cambria Math" panose="02040503050406030204" pitchFamily="18" charset="0"/>
                          </a:rPr>
                          <m:t>−1</m:t>
                        </m:r>
                      </m:sup>
                    </m:sSubSup>
                    <m:r>
                      <a:rPr lang="en-US" altLang="ja-JP" sz="1400" i="1">
                        <a:latin typeface="Cambria Math" panose="02040503050406030204" pitchFamily="18" charset="0"/>
                        <a:ea typeface="Cambria Math" panose="02040503050406030204" pitchFamily="18" charset="0"/>
                      </a:rPr>
                      <m:t>∘</m:t>
                    </m:r>
                    <m:sSubSup>
                      <m:sSubSupPr>
                        <m:ctrlPr>
                          <a:rPr lang="en-US" altLang="ja-JP" sz="1400" b="0" i="1" smtClean="0">
                            <a:latin typeface="Cambria Math" panose="02040503050406030204" pitchFamily="18" charset="0"/>
                          </a:rPr>
                        </m:ctrlPr>
                      </m:sSubSupPr>
                      <m:e>
                        <m:r>
                          <a:rPr lang="en-US" altLang="ja-JP" sz="1400" i="1">
                            <a:latin typeface="Cambria Math" panose="02040503050406030204" pitchFamily="18" charset="0"/>
                          </a:rPr>
                          <m:t>𝑓</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𝑠</m:t>
                            </m:r>
                          </m:e>
                          <m:sub>
                            <m:r>
                              <a:rPr lang="en-US" altLang="ja-JP" sz="1400" i="1">
                                <a:latin typeface="Cambria Math" panose="02040503050406030204" pitchFamily="18" charset="0"/>
                              </a:rPr>
                              <m:t>2</m:t>
                            </m:r>
                          </m:sub>
                        </m:sSub>
                      </m:sub>
                      <m:sup>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𝑋</m:t>
                            </m:r>
                          </m:e>
                          <m:sub>
                            <m:r>
                              <a:rPr lang="en-US" altLang="ja-JP" sz="1400" b="0" i="1" smtClean="0">
                                <a:latin typeface="Cambria Math" panose="02040503050406030204" pitchFamily="18" charset="0"/>
                              </a:rPr>
                              <m:t>𝑀</m:t>
                            </m:r>
                          </m:sub>
                        </m:sSub>
                      </m:sup>
                    </m:sSubSup>
                    <m:r>
                      <a:rPr lang="en-US" altLang="ja-JP" sz="1400" b="0" i="1" smtClean="0">
                        <a:latin typeface="Cambria Math" panose="02040503050406030204" pitchFamily="18" charset="0"/>
                      </a:rPr>
                      <m:t>)</m:t>
                    </m:r>
                  </m:oMath>
                </a14:m>
                <a:r>
                  <a:rPr lang="ja-JP" altLang="en-US" sz="1400" dirty="0"/>
                  <a:t>を丁寧に書くと、</a:t>
                </a:r>
                <a:r>
                  <a:rPr lang="en-US" altLang="ja-JP" sz="1400" dirty="0"/>
                  <a:t>M</a:t>
                </a:r>
                <a:r>
                  <a:rPr lang="ja-JP" altLang="en-US" sz="1400" dirty="0"/>
                  <a:t>次元多変量正規分布の確率密度関数で、</a:t>
                </a:r>
                <a:endParaRPr lang="en-US" altLang="ja-JP" sz="1400" dirty="0"/>
              </a:p>
              <a:p>
                <a:r>
                  <a:rPr lang="ja-JP" altLang="en-US" sz="1400" dirty="0"/>
                  <a:t>平均が</a:t>
                </a:r>
                <a14:m>
                  <m:oMath xmlns:m="http://schemas.openxmlformats.org/officeDocument/2006/math">
                    <m:sSup>
                      <m:sSupPr>
                        <m:ctrlPr>
                          <a:rPr lang="en-US" altLang="ja-JP" sz="1400" b="0" i="1" smtClean="0">
                            <a:latin typeface="Cambria Math" panose="02040503050406030204" pitchFamily="18" charset="0"/>
                          </a:rPr>
                        </m:ctrlPr>
                      </m:sSupPr>
                      <m:e>
                        <m:d>
                          <m:dPr>
                            <m:begChr m:val="["/>
                            <m:endChr m:val="]"/>
                            <m:ctrlPr>
                              <a:rPr lang="en-US" altLang="ja-JP" sz="1400" b="0" i="1" smtClean="0">
                                <a:latin typeface="Cambria Math" panose="02040503050406030204" pitchFamily="18" charset="0"/>
                              </a:rPr>
                            </m:ctrlPr>
                          </m:dPr>
                          <m:e>
                            <m:r>
                              <a:rPr lang="en-US" altLang="ja-JP" sz="1400" b="0" i="1" smtClean="0">
                                <a:latin typeface="Cambria Math" panose="02040503050406030204" pitchFamily="18" charset="0"/>
                              </a:rPr>
                              <m:t>𝑓</m:t>
                            </m:r>
                            <m:d>
                              <m:dPr>
                                <m:ctrlPr>
                                  <a:rPr lang="en-US" altLang="ja-JP" sz="1400" b="0" i="1" smtClean="0">
                                    <a:latin typeface="Cambria Math" panose="02040503050406030204" pitchFamily="18" charset="0"/>
                                  </a:rPr>
                                </m:ctrlPr>
                              </m:dPr>
                              <m:e>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𝑥</m:t>
                                    </m:r>
                                  </m:e>
                                  <m:sub>
                                    <m:r>
                                      <a:rPr lang="en-US" altLang="ja-JP" sz="1400" b="0" i="1" smtClean="0">
                                        <a:latin typeface="Cambria Math" panose="02040503050406030204" pitchFamily="18" charset="0"/>
                                      </a:rPr>
                                      <m:t>1</m:t>
                                    </m:r>
                                  </m:sub>
                                </m:sSub>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𝑚</m:t>
                                </m:r>
                              </m:e>
                            </m:d>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𝑓</m:t>
                            </m:r>
                            <m:d>
                              <m:dPr>
                                <m:ctrlPr>
                                  <a:rPr lang="en-US" altLang="ja-JP" sz="1400" b="0" i="1" smtClean="0">
                                    <a:latin typeface="Cambria Math" panose="02040503050406030204" pitchFamily="18" charset="0"/>
                                  </a:rPr>
                                </m:ctrlPr>
                              </m:dPr>
                              <m:e>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𝑥</m:t>
                                    </m:r>
                                  </m:e>
                                  <m:sub>
                                    <m:r>
                                      <a:rPr lang="en-US" altLang="ja-JP" sz="1400" b="0" i="1" smtClean="0">
                                        <a:latin typeface="Cambria Math" panose="02040503050406030204" pitchFamily="18" charset="0"/>
                                      </a:rPr>
                                      <m:t>𝑀</m:t>
                                    </m:r>
                                  </m:sub>
                                </m:sSub>
                                <m:r>
                                  <a:rPr lang="en-US" altLang="ja-JP" sz="1400" b="0" i="1" smtClean="0">
                                    <a:latin typeface="Cambria Math" panose="02040503050406030204" pitchFamily="18" charset="0"/>
                                  </a:rPr>
                                  <m:t>;</m:t>
                                </m:r>
                                <m:r>
                                  <a:rPr lang="en-US" altLang="ja-JP" sz="1400" b="0" i="1" smtClean="0">
                                    <a:latin typeface="Cambria Math" panose="02040503050406030204" pitchFamily="18" charset="0"/>
                                  </a:rPr>
                                  <m:t>𝑚</m:t>
                                </m:r>
                              </m:e>
                            </m:d>
                          </m:e>
                        </m:d>
                      </m:e>
                      <m:sup>
                        <m:r>
                          <a:rPr lang="en-US" altLang="ja-JP" sz="1400" b="0" i="1" smtClean="0">
                            <a:latin typeface="Cambria Math" panose="02040503050406030204" pitchFamily="18" charset="0"/>
                          </a:rPr>
                          <m:t>𝑇</m:t>
                        </m:r>
                      </m:sup>
                    </m:sSup>
                  </m:oMath>
                </a14:m>
                <a:endParaRPr lang="en-US" altLang="ja-JP" sz="1400" b="0" dirty="0"/>
              </a:p>
              <a:p>
                <a:r>
                  <a:rPr lang="ja-JP" altLang="en-US" sz="1400" dirty="0"/>
                  <a:t>分散共分散行列が</a:t>
                </a:r>
                <a14:m>
                  <m:oMath xmlns:m="http://schemas.openxmlformats.org/officeDocument/2006/math">
                    <m:r>
                      <a:rPr lang="en-US" altLang="ja-JP" sz="1400" b="0" i="1" smtClean="0">
                        <a:latin typeface="Cambria Math" panose="02040503050406030204" pitchFamily="18" charset="0"/>
                      </a:rPr>
                      <m:t>𝐽</m:t>
                    </m:r>
                    <m:r>
                      <a:rPr lang="en-US" altLang="ja-JP" sz="1400" b="0" i="1" smtClean="0">
                        <a:latin typeface="Cambria Math" panose="02040503050406030204" pitchFamily="18" charset="0"/>
                      </a:rPr>
                      <m:t>=</m:t>
                    </m:r>
                    <m:d>
                      <m:dPr>
                        <m:begChr m:val="["/>
                        <m:endChr m:val="]"/>
                        <m:ctrlPr>
                          <a:rPr lang="en-US" altLang="ja-JP" sz="1400" b="0" i="1" smtClean="0">
                            <a:latin typeface="Cambria Math" panose="02040503050406030204" pitchFamily="18" charset="0"/>
                          </a:rPr>
                        </m:ctrlPr>
                      </m:dPr>
                      <m:e>
                        <m:f>
                          <m:fPr>
                            <m:ctrlPr>
                              <a:rPr lang="en-US" altLang="ja-JP" sz="1400" i="1">
                                <a:latin typeface="Cambria Math" panose="02040503050406030204" pitchFamily="18" charset="0"/>
                              </a:rPr>
                            </m:ctrlPr>
                          </m:fPr>
                          <m:num>
                            <m:r>
                              <a:rPr lang="en-US" altLang="ja-JP" sz="1400" i="1">
                                <a:latin typeface="Cambria Math" panose="02040503050406030204" pitchFamily="18" charset="0"/>
                              </a:rPr>
                              <m:t>𝜕</m:t>
                            </m:r>
                          </m:num>
                          <m:den>
                            <m:r>
                              <a:rPr lang="en-US" altLang="ja-JP" sz="1400" i="1">
                                <a:latin typeface="Cambria Math" panose="02040503050406030204" pitchFamily="18" charset="0"/>
                              </a:rPr>
                              <m:t>𝜕</m:t>
                            </m:r>
                            <m:r>
                              <a:rPr lang="en-US" altLang="ja-JP" sz="1400" i="1">
                                <a:latin typeface="Cambria Math" panose="02040503050406030204" pitchFamily="18" charset="0"/>
                              </a:rPr>
                              <m:t>𝑤</m:t>
                            </m:r>
                          </m:den>
                        </m:f>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𝑥</m:t>
                                </m:r>
                              </m:e>
                              <m:sub>
                                <m:r>
                                  <a:rPr lang="en-US" altLang="ja-JP" sz="1400" i="1">
                                    <a:latin typeface="Cambria Math" panose="02040503050406030204" pitchFamily="18" charset="0"/>
                                  </a:rPr>
                                  <m:t>1</m:t>
                                </m:r>
                              </m:sub>
                            </m:sSub>
                            <m:r>
                              <a:rPr lang="en-US" altLang="ja-JP" sz="1400" i="1">
                                <a:latin typeface="Cambria Math" panose="02040503050406030204" pitchFamily="18" charset="0"/>
                              </a:rPr>
                              <m:t>;</m:t>
                            </m:r>
                            <m:r>
                              <a:rPr lang="en-US" altLang="ja-JP" sz="1400" i="1">
                                <a:latin typeface="Cambria Math" panose="02040503050406030204" pitchFamily="18" charset="0"/>
                              </a:rPr>
                              <m:t>𝑚</m:t>
                            </m:r>
                          </m:e>
                        </m:d>
                        <m:r>
                          <a:rPr lang="en-US" altLang="ja-JP" sz="1400" b="0" i="1" smtClean="0">
                            <a:latin typeface="Cambria Math" panose="02040503050406030204" pitchFamily="18" charset="0"/>
                          </a:rPr>
                          <m:t>,…,</m:t>
                        </m:r>
                        <m:f>
                          <m:fPr>
                            <m:ctrlPr>
                              <a:rPr lang="en-US" altLang="ja-JP" sz="1400" i="1">
                                <a:latin typeface="Cambria Math" panose="02040503050406030204" pitchFamily="18" charset="0"/>
                              </a:rPr>
                            </m:ctrlPr>
                          </m:fPr>
                          <m:num>
                            <m:r>
                              <a:rPr lang="en-US" altLang="ja-JP" sz="1400" i="1">
                                <a:latin typeface="Cambria Math" panose="02040503050406030204" pitchFamily="18" charset="0"/>
                              </a:rPr>
                              <m:t>𝜕</m:t>
                            </m:r>
                          </m:num>
                          <m:den>
                            <m:r>
                              <a:rPr lang="en-US" altLang="ja-JP" sz="1400" i="1">
                                <a:latin typeface="Cambria Math" panose="02040503050406030204" pitchFamily="18" charset="0"/>
                              </a:rPr>
                              <m:t>𝜕</m:t>
                            </m:r>
                            <m:r>
                              <a:rPr lang="en-US" altLang="ja-JP" sz="1400" i="1">
                                <a:latin typeface="Cambria Math" panose="02040503050406030204" pitchFamily="18" charset="0"/>
                              </a:rPr>
                              <m:t>𝑤</m:t>
                            </m:r>
                          </m:den>
                        </m:f>
                        <m:r>
                          <a:rPr lang="en-US" altLang="ja-JP" sz="1400" i="1">
                            <a:latin typeface="Cambria Math" panose="02040503050406030204" pitchFamily="18" charset="0"/>
                          </a:rPr>
                          <m:t>𝑓</m:t>
                        </m:r>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𝑥</m:t>
                            </m:r>
                          </m:e>
                          <m:sub>
                            <m:r>
                              <a:rPr lang="en-US" altLang="ja-JP" sz="1400" b="0" i="1" smtClean="0">
                                <a:latin typeface="Cambria Math" panose="02040503050406030204" pitchFamily="18" charset="0"/>
                              </a:rPr>
                              <m:t>𝑀</m:t>
                            </m:r>
                          </m:sub>
                        </m:sSub>
                        <m:r>
                          <a:rPr lang="en-US" altLang="ja-JP" sz="1400" i="1">
                            <a:latin typeface="Cambria Math" panose="02040503050406030204" pitchFamily="18" charset="0"/>
                          </a:rPr>
                          <m:t>;</m:t>
                        </m:r>
                        <m:r>
                          <a:rPr lang="en-US" altLang="ja-JP" sz="1400" i="1">
                            <a:latin typeface="Cambria Math" panose="02040503050406030204" pitchFamily="18" charset="0"/>
                          </a:rPr>
                          <m:t>𝑚</m:t>
                        </m:r>
                        <m:r>
                          <a:rPr lang="en-US" altLang="ja-JP" sz="1400" i="1">
                            <a:latin typeface="Cambria Math" panose="02040503050406030204" pitchFamily="18" charset="0"/>
                          </a:rPr>
                          <m:t>)</m:t>
                        </m:r>
                      </m:e>
                    </m:d>
                  </m:oMath>
                </a14:m>
                <a:r>
                  <a:rPr kumimoji="1" lang="ja-JP" altLang="en-US" sz="1400" dirty="0"/>
                  <a:t>を掛けたもので</a:t>
                </a:r>
                <a:endParaRPr kumimoji="1" lang="en-US" altLang="ja-JP" sz="1400" dirty="0"/>
              </a:p>
              <a:p>
                <a14:m>
                  <m:oMath xmlns:m="http://schemas.openxmlformats.org/officeDocument/2006/math">
                    <m:sSubSup>
                      <m:sSubSupPr>
                        <m:ctrlPr>
                          <a:rPr lang="en-US" altLang="ja-JP" sz="1400" i="1" smtClean="0">
                            <a:latin typeface="Cambria Math" panose="02040503050406030204" pitchFamily="18" charset="0"/>
                          </a:rPr>
                        </m:ctrlPr>
                      </m:sSubSupPr>
                      <m:e>
                        <m:r>
                          <a:rPr lang="en-US" altLang="ja-JP" sz="1400" i="1">
                            <a:latin typeface="Cambria Math" panose="02040503050406030204" pitchFamily="18" charset="0"/>
                          </a:rPr>
                          <m:t>𝐹</m:t>
                        </m:r>
                      </m:e>
                      <m:sub>
                        <m:r>
                          <a:rPr lang="en-US" altLang="ja-JP" sz="1400" i="1">
                            <a:latin typeface="Cambria Math" panose="02040503050406030204" pitchFamily="18" charset="0"/>
                          </a:rPr>
                          <m:t>𝜆</m:t>
                        </m:r>
                      </m:sub>
                      <m:sup>
                        <m:r>
                          <a:rPr lang="en-US" altLang="ja-JP" sz="1400" i="1">
                            <a:latin typeface="Cambria Math" panose="02040503050406030204" pitchFamily="18" charset="0"/>
                          </a:rPr>
                          <m:t>−1</m:t>
                        </m:r>
                      </m:sup>
                    </m:sSubSup>
                    <m:r>
                      <a:rPr lang="en-US" altLang="ja-JP" sz="1400" i="1">
                        <a:latin typeface="Cambria Math" panose="02040503050406030204" pitchFamily="18" charset="0"/>
                        <a:ea typeface="Cambria Math" panose="02040503050406030204" pitchFamily="18" charset="0"/>
                      </a:rPr>
                      <m:t>∘</m:t>
                    </m:r>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𝑓</m:t>
                        </m:r>
                      </m:e>
                      <m:sub>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𝑠</m:t>
                            </m:r>
                          </m:e>
                          <m:sub>
                            <m:r>
                              <a:rPr lang="en-US" altLang="ja-JP" sz="1400" b="0" i="1" smtClean="0">
                                <a:latin typeface="Cambria Math" panose="02040503050406030204" pitchFamily="18" charset="0"/>
                              </a:rPr>
                              <m:t>2</m:t>
                            </m:r>
                          </m:sub>
                        </m:sSub>
                      </m:sub>
                    </m:sSub>
                    <m:d>
                      <m:dPr>
                        <m:ctrlPr>
                          <a:rPr lang="en-US" altLang="ja-JP" sz="1400" b="0" i="1" smtClean="0">
                            <a:latin typeface="Cambria Math" panose="02040503050406030204" pitchFamily="18" charset="0"/>
                          </a:rPr>
                        </m:ctrlPr>
                      </m:dPr>
                      <m:e>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𝑥</m:t>
                            </m:r>
                          </m:e>
                          <m:sub>
                            <m:r>
                              <a:rPr lang="en-US" altLang="ja-JP" sz="1400" b="0" i="1" smtClean="0">
                                <a:latin typeface="Cambria Math" panose="02040503050406030204" pitchFamily="18" charset="0"/>
                              </a:rPr>
                              <m:t>1</m:t>
                            </m:r>
                          </m:sub>
                        </m:sSub>
                      </m:e>
                    </m:d>
                    <m:r>
                      <a:rPr lang="en-US" altLang="ja-JP" sz="1400" b="0" i="1" smtClean="0">
                        <a:latin typeface="Cambria Math" panose="02040503050406030204" pitchFamily="18" charset="0"/>
                      </a:rPr>
                      <m:t>,…,</m:t>
                    </m:r>
                    <m:sSubSup>
                      <m:sSubSupPr>
                        <m:ctrlPr>
                          <a:rPr lang="en-US" altLang="ja-JP" sz="1400" i="1" smtClean="0">
                            <a:latin typeface="Cambria Math" panose="02040503050406030204" pitchFamily="18" charset="0"/>
                          </a:rPr>
                        </m:ctrlPr>
                      </m:sSubSupPr>
                      <m:e>
                        <m:r>
                          <a:rPr lang="en-US" altLang="ja-JP" sz="1400" i="1">
                            <a:latin typeface="Cambria Math" panose="02040503050406030204" pitchFamily="18" charset="0"/>
                          </a:rPr>
                          <m:t>𝐹</m:t>
                        </m:r>
                      </m:e>
                      <m:sub>
                        <m:r>
                          <a:rPr lang="en-US" altLang="ja-JP" sz="1400" i="1">
                            <a:latin typeface="Cambria Math" panose="02040503050406030204" pitchFamily="18" charset="0"/>
                          </a:rPr>
                          <m:t>𝜆</m:t>
                        </m:r>
                      </m:sub>
                      <m:sup>
                        <m:r>
                          <a:rPr lang="en-US" altLang="ja-JP" sz="1400" i="1">
                            <a:latin typeface="Cambria Math" panose="02040503050406030204" pitchFamily="18" charset="0"/>
                          </a:rPr>
                          <m:t>−1</m:t>
                        </m:r>
                      </m:sup>
                    </m:sSubSup>
                    <m:r>
                      <a:rPr lang="en-US" altLang="ja-JP" sz="1400" i="1">
                        <a:latin typeface="Cambria Math" panose="02040503050406030204" pitchFamily="18" charset="0"/>
                        <a:ea typeface="Cambria Math" panose="02040503050406030204" pitchFamily="18" charset="0"/>
                      </a:rPr>
                      <m:t>∘</m:t>
                    </m:r>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𝑓</m:t>
                        </m:r>
                      </m:e>
                      <m:sub>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𝑠</m:t>
                            </m:r>
                          </m:e>
                          <m:sub>
                            <m:r>
                              <a:rPr lang="en-US" altLang="ja-JP" sz="1400" b="0" i="1" smtClean="0">
                                <a:latin typeface="Cambria Math" panose="02040503050406030204" pitchFamily="18" charset="0"/>
                              </a:rPr>
                              <m:t>2</m:t>
                            </m:r>
                          </m:sub>
                        </m:sSub>
                      </m:sub>
                    </m:sSub>
                    <m:d>
                      <m:dPr>
                        <m:ctrlPr>
                          <a:rPr lang="en-US" altLang="ja-JP" sz="1400" b="0" i="1" smtClean="0">
                            <a:latin typeface="Cambria Math" panose="02040503050406030204" pitchFamily="18" charset="0"/>
                          </a:rPr>
                        </m:ctrlPr>
                      </m:dPr>
                      <m:e>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𝑥</m:t>
                            </m:r>
                          </m:e>
                          <m:sub>
                            <m:r>
                              <a:rPr lang="en-US" altLang="ja-JP" sz="1400" b="0" i="1" smtClean="0">
                                <a:latin typeface="Cambria Math" panose="02040503050406030204" pitchFamily="18" charset="0"/>
                              </a:rPr>
                              <m:t>𝑀</m:t>
                            </m:r>
                          </m:sub>
                        </m:sSub>
                      </m:e>
                    </m:d>
                  </m:oMath>
                </a14:m>
                <a:r>
                  <a:rPr kumimoji="1" lang="ja-JP" altLang="en-US" sz="1400" dirty="0"/>
                  <a:t>における値を表している</a:t>
                </a:r>
              </a:p>
            </p:txBody>
          </p:sp>
        </mc:Choice>
        <mc:Fallback xmlns="">
          <p:sp>
            <p:nvSpPr>
              <p:cNvPr id="10" name="テキスト ボックス 9">
                <a:extLst>
                  <a:ext uri="{FF2B5EF4-FFF2-40B4-BE49-F238E27FC236}">
                    <a16:creationId xmlns:a16="http://schemas.microsoft.com/office/drawing/2014/main" id="{4EF64C9F-5006-B710-FAAE-65685A1D1EBF}"/>
                  </a:ext>
                </a:extLst>
              </p:cNvPr>
              <p:cNvSpPr txBox="1">
                <a:spLocks noRot="1" noChangeAspect="1" noMove="1" noResize="1" noEditPoints="1" noAdjustHandles="1" noChangeArrowheads="1" noChangeShapeType="1" noTextEdit="1"/>
              </p:cNvSpPr>
              <p:nvPr/>
            </p:nvSpPr>
            <p:spPr>
              <a:xfrm>
                <a:off x="5210954" y="4073639"/>
                <a:ext cx="6275553" cy="1212833"/>
              </a:xfrm>
              <a:prstGeom prst="rect">
                <a:avLst/>
              </a:prstGeom>
              <a:blipFill>
                <a:blip r:embed="rId6"/>
                <a:stretch>
                  <a:fillRect l="-292" r="-3207" b="-35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B6FA7967-2D75-DF0D-0DBB-41017E5E6F31}"/>
                  </a:ext>
                </a:extLst>
              </p:cNvPr>
              <p:cNvSpPr txBox="1"/>
              <p:nvPr/>
            </p:nvSpPr>
            <p:spPr>
              <a:xfrm>
                <a:off x="2943659" y="2721927"/>
                <a:ext cx="3986934"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ja-JP" i="1" smtClean="0">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d>
                        <m:dPr>
                          <m:ctrlPr>
                            <a:rPr lang="en-US" altLang="ja-JP" b="0" i="1" smtClean="0">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i="1">
                                  <a:latin typeface="Cambria Math" panose="02040503050406030204" pitchFamily="18" charset="0"/>
                                </a:rPr>
                                <m:t>2</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𝑎</m:t>
                          </m:r>
                        </m:den>
                      </m:f>
                      <m:sSub>
                        <m:sSubPr>
                          <m:ctrlPr>
                            <a:rPr lang="en-US" altLang="ja-JP" i="1">
                              <a:latin typeface="Cambria Math" panose="02040503050406030204" pitchFamily="18" charset="0"/>
                            </a:rPr>
                          </m:ctrlPr>
                        </m:sSub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i="1">
                              <a:latin typeface="Cambria Math" panose="02040503050406030204" pitchFamily="18" charset="0"/>
                            </a:rPr>
                            <m:t>2</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𝑥</m:t>
                          </m:r>
                        </m:e>
                      </m:d>
                      <m:r>
                        <a:rPr lang="en-US" altLang="ja-JP" b="0" i="1" smtClean="0">
                          <a:latin typeface="Cambria Math" panose="02040503050406030204" pitchFamily="18" charset="0"/>
                        </a:rPr>
                        <m:t>−</m:t>
                      </m:r>
                      <m:r>
                        <a:rPr lang="en-US" altLang="ja-JP" b="0" i="1" smtClean="0">
                          <a:latin typeface="Cambria Math" panose="02040503050406030204" pitchFamily="18" charset="0"/>
                        </a:rPr>
                        <m:t>𝑏</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𝜔</m:t>
                      </m:r>
                      <m:r>
                        <a:rPr lang="en-US" altLang="ja-JP" b="0" i="1" smtClean="0">
                          <a:latin typeface="Cambria Math" panose="02040503050406030204" pitchFamily="18" charset="0"/>
                        </a:rPr>
                        <m:t>)</m:t>
                      </m:r>
                    </m:oMath>
                  </m:oMathPara>
                </a14:m>
                <a:endParaRPr lang="ja-JP" altLang="en-US" dirty="0"/>
              </a:p>
            </p:txBody>
          </p:sp>
        </mc:Choice>
        <mc:Fallback xmlns="">
          <p:sp>
            <p:nvSpPr>
              <p:cNvPr id="14" name="テキスト ボックス 13">
                <a:extLst>
                  <a:ext uri="{FF2B5EF4-FFF2-40B4-BE49-F238E27FC236}">
                    <a16:creationId xmlns:a16="http://schemas.microsoft.com/office/drawing/2014/main" id="{B6FA7967-2D75-DF0D-0DBB-41017E5E6F31}"/>
                  </a:ext>
                </a:extLst>
              </p:cNvPr>
              <p:cNvSpPr txBox="1">
                <a:spLocks noRot="1" noChangeAspect="1" noMove="1" noResize="1" noEditPoints="1" noAdjustHandles="1" noChangeArrowheads="1" noChangeShapeType="1" noTextEdit="1"/>
              </p:cNvSpPr>
              <p:nvPr/>
            </p:nvSpPr>
            <p:spPr>
              <a:xfrm>
                <a:off x="2943659" y="2721927"/>
                <a:ext cx="3986934" cy="612732"/>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3C009EB2-4C10-4FA8-0B41-7F307E9FC643}"/>
                  </a:ext>
                </a:extLst>
              </p:cNvPr>
              <p:cNvSpPr txBox="1"/>
              <p:nvPr/>
            </p:nvSpPr>
            <p:spPr>
              <a:xfrm>
                <a:off x="6930593" y="3028293"/>
                <a:ext cx="5044394" cy="276999"/>
              </a:xfrm>
              <a:prstGeom prst="rect">
                <a:avLst/>
              </a:prstGeom>
              <a:noFill/>
            </p:spPr>
            <p:txBody>
              <a:bodyPr wrap="none" lIns="0" tIns="0" rIns="0" bIns="0" rtlCol="0">
                <a:spAutoFit/>
              </a:bodyPr>
              <a:lstStyle/>
              <a:p>
                <a14:m>
                  <m:oMath xmlns:m="http://schemas.openxmlformats.org/officeDocument/2006/math">
                    <m:r>
                      <a:rPr kumimoji="1" lang="en-US" altLang="ja-JP" b="0" i="1" smtClean="0">
                        <a:latin typeface="Cambria Math" panose="02040503050406030204" pitchFamily="18" charset="0"/>
                      </a:rPr>
                      <m:t>𝜆</m:t>
                    </m:r>
                    <m:r>
                      <a:rPr kumimoji="1" lang="en-US" altLang="ja-JP" b="0" i="1" smtClean="0">
                        <a:latin typeface="Cambria Math" panose="02040503050406030204" pitchFamily="18" charset="0"/>
                      </a:rPr>
                      <m:t>=</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𝜔</m:t>
                        </m:r>
                      </m:e>
                    </m:d>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m:t>
                    </m:r>
                    <m:r>
                      <a:rPr lang="ja-JP" altLang="en-US" i="1">
                        <a:latin typeface="Cambria Math" panose="02040503050406030204" pitchFamily="18" charset="0"/>
                      </a:rPr>
                      <m:t>バイアス関数</m:t>
                    </m:r>
                  </m:oMath>
                </a14:m>
                <a:r>
                  <a:rPr kumimoji="1" lang="en-US" altLang="ja-JP" dirty="0"/>
                  <a:t>, 4</a:t>
                </a:r>
                <a:r>
                  <a:rPr kumimoji="1" lang="ja-JP" altLang="en-US" dirty="0"/>
                  <a:t>層の</a:t>
                </a:r>
                <a:r>
                  <a:rPr kumimoji="1" lang="en-US" altLang="ja-JP" dirty="0"/>
                  <a:t>Neural Net</a:t>
                </a:r>
                <a:r>
                  <a:rPr kumimoji="1" lang="ja-JP" altLang="en-US" dirty="0"/>
                  <a:t>とか</a:t>
                </a:r>
              </a:p>
            </p:txBody>
          </p:sp>
        </mc:Choice>
        <mc:Fallback xmlns="">
          <p:sp>
            <p:nvSpPr>
              <p:cNvPr id="15" name="テキスト ボックス 14">
                <a:extLst>
                  <a:ext uri="{FF2B5EF4-FFF2-40B4-BE49-F238E27FC236}">
                    <a16:creationId xmlns:a16="http://schemas.microsoft.com/office/drawing/2014/main" id="{3C009EB2-4C10-4FA8-0B41-7F307E9FC643}"/>
                  </a:ext>
                </a:extLst>
              </p:cNvPr>
              <p:cNvSpPr txBox="1">
                <a:spLocks noRot="1" noChangeAspect="1" noMove="1" noResize="1" noEditPoints="1" noAdjustHandles="1" noChangeArrowheads="1" noChangeShapeType="1" noTextEdit="1"/>
              </p:cNvSpPr>
              <p:nvPr/>
            </p:nvSpPr>
            <p:spPr>
              <a:xfrm>
                <a:off x="6930593" y="3028293"/>
                <a:ext cx="5044394" cy="276999"/>
              </a:xfrm>
              <a:prstGeom prst="rect">
                <a:avLst/>
              </a:prstGeom>
              <a:blipFill>
                <a:blip r:embed="rId8"/>
                <a:stretch>
                  <a:fillRect l="-1693" t="-26667" r="-1935" b="-5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E49447F4-8B08-7E7D-E193-B376DFBBCBB3}"/>
                  </a:ext>
                </a:extLst>
              </p:cNvPr>
              <p:cNvSpPr txBox="1"/>
              <p:nvPr/>
            </p:nvSpPr>
            <p:spPr>
              <a:xfrm>
                <a:off x="1694442" y="5391204"/>
                <a:ext cx="8610538" cy="7602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ja-JP" i="1" smtClean="0">
                          <a:latin typeface="Cambria Math" panose="02040503050406030204" pitchFamily="18" charset="0"/>
                          <a:ea typeface="Cambria Math" panose="02040503050406030204" pitchFamily="18" charset="0"/>
                        </a:rPr>
                        <m:t>ℒ</m:t>
                      </m:r>
                      <m:d>
                        <m:dPr>
                          <m:ctrlPr>
                            <a:rPr lang="en-US" altLang="ja-JP" b="0" i="1" smtClean="0">
                              <a:latin typeface="Cambria Math" panose="02040503050406030204" pitchFamily="18" charset="0"/>
                              <a:ea typeface="Cambria Math" panose="02040503050406030204" pitchFamily="18" charset="0"/>
                            </a:rPr>
                          </m:ctrlPr>
                        </m:dPr>
                        <m:e>
                          <m:r>
                            <a:rPr lang="en-US" altLang="ja-JP" b="0" i="1" smtClean="0">
                              <a:latin typeface="Cambria Math" panose="02040503050406030204" pitchFamily="18" charset="0"/>
                              <a:ea typeface="Cambria Math" panose="02040503050406030204" pitchFamily="18" charset="0"/>
                            </a:rPr>
                            <m:t>𝑎</m:t>
                          </m:r>
                          <m:r>
                            <a:rPr lang="en-US" altLang="ja-JP" b="0" i="1" smtClean="0">
                              <a:latin typeface="Cambria Math" panose="02040503050406030204" pitchFamily="18" charset="0"/>
                              <a:ea typeface="Cambria Math" panose="02040503050406030204" pitchFamily="18" charset="0"/>
                            </a:rPr>
                            <m:t>,</m:t>
                          </m:r>
                          <m:r>
                            <a:rPr lang="en-US" altLang="ja-JP" b="0" i="1" smtClean="0">
                              <a:latin typeface="Cambria Math" panose="02040503050406030204" pitchFamily="18" charset="0"/>
                              <a:ea typeface="Cambria Math" panose="02040503050406030204" pitchFamily="18" charset="0"/>
                            </a:rPr>
                            <m:t>𝜔</m:t>
                          </m:r>
                        </m:e>
                      </m:d>
                      <m:r>
                        <a:rPr lang="en-US" altLang="ja-JP" b="0" i="1" smtClean="0">
                          <a:latin typeface="Cambria Math" panose="02040503050406030204" pitchFamily="18" charset="0"/>
                          <a:ea typeface="Cambria Math" panose="02040503050406030204" pitchFamily="18" charset="0"/>
                        </a:rPr>
                        <m:t>≔</m:t>
                      </m:r>
                      <m:func>
                        <m:funcPr>
                          <m:ctrlPr>
                            <a:rPr lang="en-US" altLang="ja-JP" b="0" i="1" smtClean="0">
                              <a:latin typeface="Cambria Math" panose="02040503050406030204" pitchFamily="18" charset="0"/>
                              <a:ea typeface="Cambria Math" panose="02040503050406030204" pitchFamily="18" charset="0"/>
                            </a:rPr>
                          </m:ctrlPr>
                        </m:funcPr>
                        <m:fName>
                          <m:r>
                            <m:rPr>
                              <m:sty m:val="p"/>
                            </m:rPr>
                            <a:rPr lang="en-US" altLang="ja-JP" b="0" i="0" smtClean="0">
                              <a:latin typeface="Cambria Math" panose="02040503050406030204" pitchFamily="18" charset="0"/>
                              <a:ea typeface="Cambria Math" panose="02040503050406030204" pitchFamily="18" charset="0"/>
                            </a:rPr>
                            <m:t>log</m:t>
                          </m:r>
                        </m:fName>
                        <m:e>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b="0" i="1" smtClean="0">
                                      <a:latin typeface="Cambria Math" panose="02040503050406030204" pitchFamily="18" charset="0"/>
                                    </a:rPr>
                                    <m:t>2</m:t>
                                  </m:r>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sub>
                          </m:sSub>
                          <m:d>
                            <m:dPr>
                              <m:ctrlPr>
                                <a:rPr lang="en-US" altLang="ja-JP" b="0" i="1" smtClean="0">
                                  <a:latin typeface="Cambria Math" panose="02040503050406030204" pitchFamily="18" charset="0"/>
                                </a:rPr>
                              </m:ctrlPr>
                            </m:dPr>
                            <m:e>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e>
                          </m:d>
                        </m:e>
                      </m:func>
                      <m:r>
                        <a:rPr lang="en-US" altLang="ja-JP" b="0" i="1" smtClean="0">
                          <a:latin typeface="Cambria Math" panose="02040503050406030204" pitchFamily="18" charset="0"/>
                        </a:rPr>
                        <m:t>=</m:t>
                      </m:r>
                      <m:func>
                        <m:funcPr>
                          <m:ctrlPr>
                            <a:rPr lang="en-US" altLang="ja-JP" b="0" i="1" smtClean="0">
                              <a:latin typeface="Cambria Math" panose="02040503050406030204" pitchFamily="18" charset="0"/>
                            </a:rPr>
                          </m:ctrlPr>
                        </m:funcPr>
                        <m:fName>
                          <m:r>
                            <m:rPr>
                              <m:sty m:val="p"/>
                            </m:rPr>
                            <a:rPr lang="en-US" altLang="ja-JP" b="0" i="0" smtClean="0">
                              <a:latin typeface="Cambria Math" panose="02040503050406030204" pitchFamily="18" charset="0"/>
                            </a:rPr>
                            <m:t>log</m:t>
                          </m:r>
                        </m:fName>
                        <m:e>
                          <m:sSub>
                            <m:sSubPr>
                              <m:ctrlPr>
                                <a:rPr lang="en-US" altLang="ja-JP" i="1" smtClean="0">
                                  <a:latin typeface="Cambria Math" panose="02040503050406030204" pitchFamily="18" charset="0"/>
                                </a:rPr>
                              </m:ctrlPr>
                            </m:sSubPr>
                            <m:e>
                              <m:r>
                                <a:rPr lang="en-US" altLang="ja-JP" i="1">
                                  <a:latin typeface="Cambria Math" panose="02040503050406030204" pitchFamily="18" charset="0"/>
                                </a:rPr>
                                <m:t>𝑄</m:t>
                              </m:r>
                            </m:e>
                            <m:sub>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r>
                                    <a:rPr lang="en-US" altLang="ja-JP" i="1">
                                      <a:latin typeface="Cambria Math" panose="02040503050406030204" pitchFamily="18" charset="0"/>
                                    </a:rPr>
                                    <m:t>𝑠</m:t>
                                  </m:r>
                                  <m:r>
                                    <a:rPr lang="en-US" altLang="ja-JP" i="1">
                                      <a:latin typeface="Cambria Math" panose="02040503050406030204" pitchFamily="18" charset="0"/>
                                    </a:rPr>
                                    <m:t>1</m:t>
                                  </m:r>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sub>
                          </m:sSub>
                          <m:d>
                            <m:dPr>
                              <m:ctrlPr>
                                <a:rPr lang="en-US" altLang="ja-JP" b="0" i="1" smtClean="0">
                                  <a:latin typeface="Cambria Math" panose="02040503050406030204" pitchFamily="18" charset="0"/>
                                </a:rPr>
                              </m:ctrlPr>
                            </m:dPr>
                            <m:e>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r>
                                <a:rPr lang="en-US" altLang="ja-JP" i="1">
                                  <a:latin typeface="Cambria Math" panose="02040503050406030204" pitchFamily="18" charset="0"/>
                                  <a:ea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e>
                          </m:d>
                        </m:e>
                      </m:func>
                      <m:r>
                        <a:rPr lang="en-US" altLang="ja-JP" b="0" i="1" smtClean="0">
                          <a:latin typeface="Cambria Math" panose="02040503050406030204" pitchFamily="18" charset="0"/>
                        </a:rPr>
                        <m:t>+</m:t>
                      </m:r>
                      <m:func>
                        <m:funcPr>
                          <m:ctrlPr>
                            <a:rPr lang="en-US" altLang="ja-JP" b="0" i="1" smtClean="0">
                              <a:latin typeface="Cambria Math" panose="02040503050406030204" pitchFamily="18" charset="0"/>
                            </a:rPr>
                          </m:ctrlPr>
                        </m:funcPr>
                        <m:fName>
                          <m:r>
                            <m:rPr>
                              <m:sty m:val="p"/>
                            </m:rPr>
                            <a:rPr lang="en-US" altLang="ja-JP" b="0" i="0" smtClean="0">
                              <a:latin typeface="Cambria Math" panose="02040503050406030204" pitchFamily="18" charset="0"/>
                            </a:rPr>
                            <m:t>log</m:t>
                          </m:r>
                        </m:fName>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m:t>
                              </m:r>
                            </m:num>
                            <m:den>
                              <m:r>
                                <a:rPr lang="en-US" altLang="ja-JP" b="0" i="1" smtClean="0">
                                  <a:latin typeface="Cambria Math" panose="02040503050406030204" pitchFamily="18" charset="0"/>
                                </a:rPr>
                                <m:t>𝜕</m:t>
                              </m:r>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den>
                          </m:f>
                          <m:sSubSup>
                            <m:sSubSupPr>
                              <m:ctrlPr>
                                <a:rPr lang="en-US" altLang="ja-JP" i="1">
                                  <a:latin typeface="Cambria Math" panose="02040503050406030204" pitchFamily="18" charset="0"/>
                                </a:rPr>
                              </m:ctrlPr>
                            </m:sSubSupPr>
                            <m:e>
                              <m:r>
                                <a:rPr lang="en-US" altLang="ja-JP" i="1">
                                  <a:latin typeface="Cambria Math" panose="02040503050406030204" pitchFamily="18" charset="0"/>
                                </a:rPr>
                                <m:t>𝐹</m:t>
                              </m:r>
                            </m:e>
                            <m:sub>
                              <m:r>
                                <a:rPr lang="en-US" altLang="ja-JP" i="1">
                                  <a:latin typeface="Cambria Math" panose="02040503050406030204" pitchFamily="18" charset="0"/>
                                </a:rPr>
                                <m:t>𝜆</m:t>
                              </m:r>
                            </m:sub>
                            <m:sup>
                              <m:r>
                                <a:rPr lang="en-US" altLang="ja-JP" i="1">
                                  <a:latin typeface="Cambria Math" panose="02040503050406030204" pitchFamily="18" charset="0"/>
                                </a:rPr>
                                <m:t>−1</m:t>
                              </m:r>
                            </m:sup>
                          </m:sSubSup>
                          <m:d>
                            <m:dPr>
                              <m:ctrlPr>
                                <a:rPr lang="en-US" altLang="ja-JP" i="1" smtClean="0">
                                  <a:latin typeface="Cambria Math" panose="02040503050406030204" pitchFamily="18" charset="0"/>
                                </a:rPr>
                              </m:ctrlPr>
                            </m:dPr>
                            <m:e>
                              <m:sSubSup>
                                <m:sSubSupPr>
                                  <m:ctrlPr>
                                    <a:rPr lang="en-US" altLang="ja-JP" b="0" i="1" smtClean="0">
                                      <a:latin typeface="Cambria Math" panose="02040503050406030204" pitchFamily="18" charset="0"/>
                                    </a:rPr>
                                  </m:ctrlPr>
                                </m:sSubSupPr>
                                <m:e>
                                  <m:r>
                                    <a:rPr lang="en-US" altLang="ja-JP" i="1">
                                      <a:latin typeface="Cambria Math" panose="02040503050406030204" pitchFamily="18" charset="0"/>
                                    </a:rPr>
                                    <m:t>𝑓</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𝑠</m:t>
                                      </m:r>
                                    </m:e>
                                    <m:sub>
                                      <m:r>
                                        <a:rPr lang="en-US" altLang="ja-JP" i="1">
                                          <a:latin typeface="Cambria Math" panose="02040503050406030204" pitchFamily="18" charset="0"/>
                                        </a:rPr>
                                        <m:t>2</m:t>
                                      </m:r>
                                    </m:sub>
                                  </m:sSub>
                                </m:sub>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bSup>
                            </m:e>
                          </m:d>
                        </m:e>
                      </m:func>
                    </m:oMath>
                  </m:oMathPara>
                </a14:m>
                <a:endParaRPr lang="ja-JP" altLang="en-US" dirty="0"/>
              </a:p>
            </p:txBody>
          </p:sp>
        </mc:Choice>
        <mc:Fallback xmlns="">
          <p:sp>
            <p:nvSpPr>
              <p:cNvPr id="17" name="テキスト ボックス 16">
                <a:extLst>
                  <a:ext uri="{FF2B5EF4-FFF2-40B4-BE49-F238E27FC236}">
                    <a16:creationId xmlns:a16="http://schemas.microsoft.com/office/drawing/2014/main" id="{E49447F4-8B08-7E7D-E193-B376DFBBCBB3}"/>
                  </a:ext>
                </a:extLst>
              </p:cNvPr>
              <p:cNvSpPr txBox="1">
                <a:spLocks noRot="1" noChangeAspect="1" noMove="1" noResize="1" noEditPoints="1" noAdjustHandles="1" noChangeArrowheads="1" noChangeShapeType="1" noTextEdit="1"/>
              </p:cNvSpPr>
              <p:nvPr/>
            </p:nvSpPr>
            <p:spPr>
              <a:xfrm>
                <a:off x="1694442" y="5391204"/>
                <a:ext cx="8610538" cy="760208"/>
              </a:xfrm>
              <a:prstGeom prst="rect">
                <a:avLst/>
              </a:prstGeom>
              <a:blipFill>
                <a:blip r:embed="rId9"/>
                <a:stretch>
                  <a:fillRect/>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F2BABD5-D9D9-5870-6CB3-624FCE960F7F}"/>
              </a:ext>
            </a:extLst>
          </p:cNvPr>
          <p:cNvSpPr txBox="1"/>
          <p:nvPr/>
        </p:nvSpPr>
        <p:spPr>
          <a:xfrm>
            <a:off x="3806857" y="6256144"/>
            <a:ext cx="5496109" cy="400110"/>
          </a:xfrm>
          <a:prstGeom prst="rect">
            <a:avLst/>
          </a:prstGeom>
          <a:noFill/>
        </p:spPr>
        <p:txBody>
          <a:bodyPr wrap="square" rtlCol="0">
            <a:spAutoFit/>
          </a:bodyPr>
          <a:lstStyle/>
          <a:p>
            <a:r>
              <a:rPr kumimoji="1" lang="en-US" altLang="ja-JP" sz="2000" dirty="0"/>
              <a:t>Normalization Flow</a:t>
            </a:r>
            <a:r>
              <a:rPr kumimoji="1" lang="ja-JP" altLang="en-US" sz="2000" dirty="0"/>
              <a:t>をしていると思えばよい</a:t>
            </a:r>
          </a:p>
        </p:txBody>
      </p:sp>
    </p:spTree>
    <p:extLst>
      <p:ext uri="{BB962C8B-B14F-4D97-AF65-F5344CB8AC3E}">
        <p14:creationId xmlns:p14="http://schemas.microsoft.com/office/powerpoint/2010/main" val="426236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2CF9823-7675-8ED6-AB52-2B0710A929E3}"/>
              </a:ext>
            </a:extLst>
          </p:cNvPr>
          <p:cNvSpPr txBox="1"/>
          <p:nvPr/>
        </p:nvSpPr>
        <p:spPr>
          <a:xfrm>
            <a:off x="794353" y="338279"/>
            <a:ext cx="10887363" cy="707886"/>
          </a:xfrm>
          <a:prstGeom prst="rect">
            <a:avLst/>
          </a:prstGeom>
          <a:noFill/>
        </p:spPr>
        <p:txBody>
          <a:bodyPr wrap="square" rtlCol="0">
            <a:spAutoFit/>
          </a:bodyPr>
          <a:lstStyle/>
          <a:p>
            <a:r>
              <a:rPr kumimoji="1" lang="ja-JP" altLang="en-US" sz="2000" dirty="0"/>
              <a:t>繰り返しのステップ</a:t>
            </a:r>
            <a:r>
              <a:rPr kumimoji="1" lang="en-US" altLang="ja-JP" sz="2000" dirty="0"/>
              <a:t>: </a:t>
            </a:r>
            <a:r>
              <a:rPr kumimoji="1" lang="ja-JP" altLang="en-US" sz="2000" dirty="0"/>
              <a:t>実際に実装しようとすると、分かりづら</a:t>
            </a:r>
            <a:r>
              <a:rPr lang="ja-JP" altLang="en-US" sz="2000" dirty="0"/>
              <a:t>く</a:t>
            </a:r>
            <a:r>
              <a:rPr kumimoji="1" lang="ja-JP" altLang="en-US" sz="2000" dirty="0"/>
              <a:t>感じたので、ステップを記載</a:t>
            </a:r>
            <a:endParaRPr kumimoji="1" lang="en-US" altLang="ja-JP" sz="2000" dirty="0"/>
          </a:p>
          <a:p>
            <a:r>
              <a:rPr kumimoji="1" lang="ja-JP" altLang="en-US" sz="2000" dirty="0"/>
              <a:t>各ステップにおける「入力→出力」という形式で表記している</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18A42231-1B4F-123B-0EF1-A4399CC50CF0}"/>
                  </a:ext>
                </a:extLst>
              </p:cNvPr>
              <p:cNvSpPr txBox="1"/>
              <p:nvPr/>
            </p:nvSpPr>
            <p:spPr>
              <a:xfrm>
                <a:off x="180017" y="1111570"/>
                <a:ext cx="2348799" cy="604396"/>
              </a:xfrm>
              <a:prstGeom prst="rect">
                <a:avLst/>
              </a:prstGeom>
              <a:noFill/>
            </p:spPr>
            <p:txBody>
              <a:bodyPr wrap="square" rtlCol="0">
                <a:spAutoFit/>
              </a:bodyPr>
              <a:lstStyle/>
              <a:p>
                <a:r>
                  <a:rPr kumimoji="1" lang="en-US" altLang="ja-JP" dirty="0"/>
                  <a:t>1. V-stage</a:t>
                </a:r>
                <a:r>
                  <a:rPr kumimoji="1" lang="ja-JP" altLang="en-US" dirty="0"/>
                  <a:t> </a:t>
                </a:r>
                <a:r>
                  <a:rPr kumimoji="1" lang="en-US" altLang="ja-JP" dirty="0"/>
                  <a:t>1:</a:t>
                </a:r>
              </a:p>
              <a:p>
                <a:r>
                  <a:rPr lang="en-US" altLang="ja-JP"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0</m:t>
                        </m:r>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𝑤</m:t>
                            </m:r>
                          </m:e>
                          <m:sub>
                            <m:r>
                              <a:rPr lang="en-US" altLang="ja-JP" sz="1400" i="1" smtClean="0">
                                <a:latin typeface="Cambria Math" panose="02040503050406030204" pitchFamily="18" charset="0"/>
                              </a:rPr>
                              <m:t>𝑠</m:t>
                            </m:r>
                            <m:r>
                              <a:rPr lang="en-US" altLang="ja-JP" sz="1400" i="1">
                                <a:latin typeface="Cambria Math" panose="02040503050406030204" pitchFamily="18" charset="0"/>
                              </a:rPr>
                              <m:t>0</m:t>
                            </m:r>
                          </m:sub>
                        </m:sSub>
                      </m:sub>
                    </m:sSub>
                    <m:r>
                      <a:rPr lang="en-US" altLang="ja-JP" sz="1400" b="0" i="0" smtClean="0">
                        <a:latin typeface="Cambria Math" panose="02040503050406030204" pitchFamily="18" charset="0"/>
                      </a:rPr>
                      <m:t>  </m:t>
                    </m:r>
                    <m:r>
                      <a:rPr lang="ja-JP" altLang="en-US" sz="1400" i="1">
                        <a:latin typeface="Cambria Math" panose="02040503050406030204" pitchFamily="18" charset="0"/>
                      </a:rPr>
                      <m:t>→</m:t>
                    </m:r>
                    <m:r>
                      <a:rPr lang="en-US" altLang="ja-JP" sz="1400" b="0" i="1" smtClean="0">
                        <a:latin typeface="Cambria Math" panose="02040503050406030204" pitchFamily="18" charset="0"/>
                      </a:rPr>
                      <m:t>  </m:t>
                    </m:r>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1</m:t>
                            </m:r>
                          </m:sub>
                        </m:sSub>
                      </m:sub>
                    </m:sSub>
                    <m:r>
                      <a:rPr lang="en-US" altLang="ja-JP" sz="1400" b="0" i="1" smtClean="0">
                        <a:latin typeface="Cambria Math" panose="02040503050406030204" pitchFamily="18" charset="0"/>
                      </a:rPr>
                      <m:t>,  </m:t>
                    </m:r>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1</m:t>
                            </m:r>
                          </m:sub>
                        </m:sSub>
                      </m:sub>
                    </m:sSub>
                  </m:oMath>
                </a14:m>
                <a:r>
                  <a:rPr kumimoji="1" lang="en-US" altLang="ja-JP" sz="1400" dirty="0"/>
                  <a:t> </a:t>
                </a:r>
                <a:endParaRPr kumimoji="1" lang="ja-JP" altLang="en-US" sz="1400" dirty="0"/>
              </a:p>
            </p:txBody>
          </p:sp>
        </mc:Choice>
        <mc:Fallback xmlns="">
          <p:sp>
            <p:nvSpPr>
              <p:cNvPr id="3" name="テキスト ボックス 2">
                <a:extLst>
                  <a:ext uri="{FF2B5EF4-FFF2-40B4-BE49-F238E27FC236}">
                    <a16:creationId xmlns:a16="http://schemas.microsoft.com/office/drawing/2014/main" id="{18A42231-1B4F-123B-0EF1-A4399CC50CF0}"/>
                  </a:ext>
                </a:extLst>
              </p:cNvPr>
              <p:cNvSpPr txBox="1">
                <a:spLocks noRot="1" noChangeAspect="1" noMove="1" noResize="1" noEditPoints="1" noAdjustHandles="1" noChangeArrowheads="1" noChangeShapeType="1" noTextEdit="1"/>
              </p:cNvSpPr>
              <p:nvPr/>
            </p:nvSpPr>
            <p:spPr>
              <a:xfrm>
                <a:off x="180017" y="1111570"/>
                <a:ext cx="2348799" cy="604396"/>
              </a:xfrm>
              <a:prstGeom prst="rect">
                <a:avLst/>
              </a:prstGeom>
              <a:blipFill>
                <a:blip r:embed="rId2"/>
                <a:stretch>
                  <a:fillRect l="-2338" t="-5051" b="-101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09C8347-29D1-765B-0532-4C0AFB281D9A}"/>
                  </a:ext>
                </a:extLst>
              </p:cNvPr>
              <p:cNvSpPr txBox="1"/>
              <p:nvPr/>
            </p:nvSpPr>
            <p:spPr>
              <a:xfrm>
                <a:off x="4644191" y="1111570"/>
                <a:ext cx="2348798" cy="605871"/>
              </a:xfrm>
              <a:prstGeom prst="rect">
                <a:avLst/>
              </a:prstGeom>
              <a:noFill/>
            </p:spPr>
            <p:txBody>
              <a:bodyPr wrap="square" rtlCol="0">
                <a:spAutoFit/>
              </a:bodyPr>
              <a:lstStyle/>
              <a:p>
                <a:r>
                  <a:rPr lang="en-US" altLang="ja-JP" dirty="0"/>
                  <a:t>2. M</a:t>
                </a:r>
                <a:r>
                  <a:rPr kumimoji="1" lang="en-US" altLang="ja-JP" dirty="0"/>
                  <a:t>-stage</a:t>
                </a:r>
                <a:r>
                  <a:rPr kumimoji="1" lang="ja-JP" altLang="en-US" dirty="0"/>
                  <a:t> </a:t>
                </a:r>
                <a:r>
                  <a:rPr kumimoji="1" lang="en-US" altLang="ja-JP" dirty="0"/>
                  <a:t>1: </a:t>
                </a:r>
              </a:p>
              <a:p>
                <a:r>
                  <a:rPr lang="en-US" altLang="ja-JP"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1</m:t>
                        </m:r>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1</m:t>
                            </m:r>
                          </m:sub>
                        </m:sSub>
                      </m:sub>
                    </m:sSub>
                    <m:r>
                      <a:rPr lang="en-US" altLang="ja-JP" sz="1400" b="0" i="0" smtClean="0">
                        <a:latin typeface="Cambria Math" panose="02040503050406030204" pitchFamily="18" charset="0"/>
                      </a:rPr>
                      <m:t> </m:t>
                    </m:r>
                    <m:r>
                      <a:rPr lang="ja-JP" altLang="en-US" sz="1400" i="1">
                        <a:latin typeface="Cambria Math" panose="02040503050406030204" pitchFamily="18" charset="0"/>
                      </a:rPr>
                      <m:t>→</m:t>
                    </m:r>
                    <m:r>
                      <a:rPr lang="en-US" altLang="ja-JP" sz="1400" b="0" i="1" smtClean="0">
                        <a:latin typeface="Cambria Math" panose="02040503050406030204" pitchFamily="18" charset="0"/>
                      </a:rPr>
                      <m:t> </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𝑠</m:t>
                            </m:r>
                          </m:e>
                          <m:sub>
                            <m:r>
                              <a:rPr lang="en-US" altLang="ja-JP" sz="1400" i="1">
                                <a:latin typeface="Cambria Math" panose="02040503050406030204" pitchFamily="18" charset="0"/>
                              </a:rPr>
                              <m:t>2</m:t>
                            </m:r>
                          </m:sub>
                        </m:sSub>
                        <m:r>
                          <a:rPr lang="en-US" altLang="ja-JP" sz="1400" i="1">
                            <a:latin typeface="Cambria Math" panose="02040503050406030204" pitchFamily="18" charset="0"/>
                          </a:rPr>
                          <m:t>{1:</m:t>
                        </m:r>
                        <m:r>
                          <a:rPr lang="en-US" altLang="ja-JP" sz="1400" i="1">
                            <a:latin typeface="Cambria Math" panose="02040503050406030204" pitchFamily="18" charset="0"/>
                          </a:rPr>
                          <m:t>𝑁</m:t>
                        </m:r>
                        <m:r>
                          <a:rPr lang="en-US" altLang="ja-JP" sz="1400" i="1">
                            <a:latin typeface="Cambria Math" panose="02040503050406030204" pitchFamily="18" charset="0"/>
                          </a:rPr>
                          <m:t>}</m:t>
                        </m:r>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2</m:t>
                            </m:r>
                          </m:sub>
                        </m:sSub>
                      </m:sub>
                    </m:sSub>
                  </m:oMath>
                </a14:m>
                <a:endParaRPr kumimoji="1" lang="ja-JP" altLang="en-US" sz="1400" dirty="0"/>
              </a:p>
            </p:txBody>
          </p:sp>
        </mc:Choice>
        <mc:Fallback xmlns="">
          <p:sp>
            <p:nvSpPr>
              <p:cNvPr id="5" name="テキスト ボックス 4">
                <a:extLst>
                  <a:ext uri="{FF2B5EF4-FFF2-40B4-BE49-F238E27FC236}">
                    <a16:creationId xmlns:a16="http://schemas.microsoft.com/office/drawing/2014/main" id="{A09C8347-29D1-765B-0532-4C0AFB281D9A}"/>
                  </a:ext>
                </a:extLst>
              </p:cNvPr>
              <p:cNvSpPr txBox="1">
                <a:spLocks noRot="1" noChangeAspect="1" noMove="1" noResize="1" noEditPoints="1" noAdjustHandles="1" noChangeArrowheads="1" noChangeShapeType="1" noTextEdit="1"/>
              </p:cNvSpPr>
              <p:nvPr/>
            </p:nvSpPr>
            <p:spPr>
              <a:xfrm>
                <a:off x="4644191" y="1111570"/>
                <a:ext cx="2348798" cy="605871"/>
              </a:xfrm>
              <a:prstGeom prst="rect">
                <a:avLst/>
              </a:prstGeom>
              <a:blipFill>
                <a:blip r:embed="rId3"/>
                <a:stretch>
                  <a:fillRect l="-2338" t="-5000" b="-2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FF53B1EF-FEFA-EECE-94D3-44B39AE4F5CA}"/>
                  </a:ext>
                </a:extLst>
              </p:cNvPr>
              <p:cNvSpPr txBox="1"/>
              <p:nvPr/>
            </p:nvSpPr>
            <p:spPr>
              <a:xfrm>
                <a:off x="8251434" y="1102520"/>
                <a:ext cx="2910092" cy="646331"/>
              </a:xfrm>
              <a:prstGeom prst="rect">
                <a:avLst/>
              </a:prstGeom>
              <a:noFill/>
            </p:spPr>
            <p:txBody>
              <a:bodyPr wrap="none" rtlCol="0">
                <a:spAutoFit/>
              </a:bodyPr>
              <a:lstStyle/>
              <a:p>
                <a:r>
                  <a:rPr kumimoji="1" lang="en-US" altLang="ja-JP" dirty="0"/>
                  <a:t>3. T-stage</a:t>
                </a:r>
                <a:r>
                  <a:rPr kumimoji="1" lang="ja-JP" altLang="en-US" dirty="0"/>
                  <a:t> </a:t>
                </a:r>
                <a:r>
                  <a:rPr kumimoji="1" lang="en-US" altLang="ja-JP" dirty="0"/>
                  <a:t>1: </a:t>
                </a:r>
              </a:p>
              <a:p>
                <a:r>
                  <a:rPr lang="en-US" altLang="ja-JP"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1</m:t>
                            </m:r>
                          </m:sub>
                        </m:sSub>
                      </m:sub>
                    </m:sSub>
                    <m:r>
                      <a:rPr lang="en-US" altLang="ja-JP" sz="1400" b="0" i="0" smtClean="0">
                        <a:latin typeface="Cambria Math" panose="02040503050406030204" pitchFamily="18" charset="0"/>
                      </a:rPr>
                      <m:t>,  </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𝑠</m:t>
                            </m:r>
                          </m:e>
                          <m:sub>
                            <m:r>
                              <a:rPr lang="en-US" altLang="ja-JP" sz="1400" i="1">
                                <a:latin typeface="Cambria Math" panose="02040503050406030204" pitchFamily="18" charset="0"/>
                              </a:rPr>
                              <m:t>2</m:t>
                            </m:r>
                          </m:sub>
                        </m:sSub>
                        <m:r>
                          <a:rPr lang="en-US" altLang="ja-JP" sz="1400" i="1">
                            <a:latin typeface="Cambria Math" panose="02040503050406030204" pitchFamily="18" charset="0"/>
                          </a:rPr>
                          <m:t>{1:</m:t>
                        </m:r>
                        <m:r>
                          <a:rPr lang="en-US" altLang="ja-JP" sz="1400" i="1">
                            <a:latin typeface="Cambria Math" panose="02040503050406030204" pitchFamily="18" charset="0"/>
                          </a:rPr>
                          <m:t>𝑁</m:t>
                        </m:r>
                        <m:r>
                          <a:rPr lang="en-US" altLang="ja-JP" sz="1400" i="1">
                            <a:latin typeface="Cambria Math" panose="02040503050406030204" pitchFamily="18" charset="0"/>
                          </a:rPr>
                          <m:t>}</m:t>
                        </m:r>
                      </m:sub>
                    </m:sSub>
                    <m:r>
                      <a:rPr lang="en-US" altLang="ja-JP" sz="1400" b="0" i="0" smtClean="0">
                        <a:latin typeface="Cambria Math" panose="02040503050406030204" pitchFamily="18" charset="0"/>
                      </a:rPr>
                      <m:t> </m:t>
                    </m:r>
                    <m:r>
                      <a:rPr lang="ja-JP" altLang="en-US" sz="1400" i="1">
                        <a:latin typeface="Cambria Math" panose="02040503050406030204" pitchFamily="18" charset="0"/>
                      </a:rPr>
                      <m:t>→</m:t>
                    </m:r>
                    <m:r>
                      <a:rPr lang="en-US" altLang="ja-JP" sz="1400" b="0" i="1" smtClean="0">
                        <a:latin typeface="Cambria Math" panose="02040503050406030204" pitchFamily="18" charset="0"/>
                      </a:rPr>
                      <m:t> </m:t>
                    </m:r>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𝐹</m:t>
                        </m:r>
                      </m:e>
                      <m:sub>
                        <m:sSub>
                          <m:sSubPr>
                            <m:ctrlPr>
                              <a:rPr lang="en-US" altLang="ja-JP" sz="1400" b="0" i="1" smtClean="0">
                                <a:latin typeface="Cambria Math" panose="02040503050406030204" pitchFamily="18" charset="0"/>
                              </a:rPr>
                            </m:ctrlPr>
                          </m:sSubPr>
                          <m:e>
                            <m:r>
                              <a:rPr lang="en-US" altLang="ja-JP" sz="1400" b="0" i="1" smtClean="0">
                                <a:latin typeface="Cambria Math" panose="02040503050406030204" pitchFamily="18" charset="0"/>
                              </a:rPr>
                              <m:t>𝜆</m:t>
                            </m:r>
                          </m:e>
                          <m:sub>
                            <m:r>
                              <a:rPr lang="en-US" altLang="ja-JP" sz="1400" b="0" i="1" smtClean="0">
                                <a:latin typeface="Cambria Math" panose="02040503050406030204" pitchFamily="18" charset="0"/>
                              </a:rPr>
                              <m:t>1</m:t>
                            </m:r>
                          </m:sub>
                        </m:sSub>
                      </m:sub>
                    </m:sSub>
                    <m:r>
                      <a:rPr lang="en-US" altLang="ja-JP" sz="1400" b="0" i="1" smtClean="0">
                        <a:latin typeface="Cambria Math" panose="02040503050406030204" pitchFamily="18" charset="0"/>
                      </a:rPr>
                      <m:t>∘</m:t>
                    </m:r>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1</m:t>
                            </m:r>
                          </m:sub>
                        </m:sSub>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2</m:t>
                            </m:r>
                          </m:sub>
                        </m:sSub>
                      </m:sub>
                    </m:sSub>
                    <m:r>
                      <a:rPr lang="en-US" altLang="ja-JP" sz="1400" b="0" i="1" smtClean="0">
                        <a:latin typeface="Cambria Math" panose="02040503050406030204" pitchFamily="18" charset="0"/>
                      </a:rPr>
                      <m:t>)</m:t>
                    </m:r>
                  </m:oMath>
                </a14:m>
                <a:r>
                  <a:rPr kumimoji="1" lang="en-US" altLang="ja-JP" sz="1400" dirty="0"/>
                  <a:t> </a:t>
                </a:r>
                <a:endParaRPr kumimoji="1" lang="ja-JP" altLang="en-US" sz="1400" dirty="0"/>
              </a:p>
            </p:txBody>
          </p:sp>
        </mc:Choice>
        <mc:Fallback xmlns="">
          <p:sp>
            <p:nvSpPr>
              <p:cNvPr id="6" name="テキスト ボックス 5">
                <a:extLst>
                  <a:ext uri="{FF2B5EF4-FFF2-40B4-BE49-F238E27FC236}">
                    <a16:creationId xmlns:a16="http://schemas.microsoft.com/office/drawing/2014/main" id="{FF53B1EF-FEFA-EECE-94D3-44B39AE4F5CA}"/>
                  </a:ext>
                </a:extLst>
              </p:cNvPr>
              <p:cNvSpPr txBox="1">
                <a:spLocks noRot="1" noChangeAspect="1" noMove="1" noResize="1" noEditPoints="1" noAdjustHandles="1" noChangeArrowheads="1" noChangeShapeType="1" noTextEdit="1"/>
              </p:cNvSpPr>
              <p:nvPr/>
            </p:nvSpPr>
            <p:spPr>
              <a:xfrm>
                <a:off x="8251434" y="1102520"/>
                <a:ext cx="2910092" cy="646331"/>
              </a:xfrm>
              <a:prstGeom prst="rect">
                <a:avLst/>
              </a:prstGeom>
              <a:blipFill>
                <a:blip r:embed="rId4"/>
                <a:stretch>
                  <a:fillRect l="-1887" t="-5660" b="-18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6B5443A-78C4-3C06-3CA9-55367921720E}"/>
                  </a:ext>
                </a:extLst>
              </p:cNvPr>
              <p:cNvSpPr txBox="1"/>
              <p:nvPr/>
            </p:nvSpPr>
            <p:spPr>
              <a:xfrm>
                <a:off x="180017" y="2290410"/>
                <a:ext cx="3880387" cy="604333"/>
              </a:xfrm>
              <a:prstGeom prst="rect">
                <a:avLst/>
              </a:prstGeom>
              <a:noFill/>
            </p:spPr>
            <p:txBody>
              <a:bodyPr wrap="square" rtlCol="0">
                <a:spAutoFit/>
              </a:bodyPr>
              <a:lstStyle/>
              <a:p>
                <a:r>
                  <a:rPr kumimoji="1" lang="en-US" altLang="ja-JP" dirty="0"/>
                  <a:t>4. V-stage</a:t>
                </a:r>
                <a:r>
                  <a:rPr kumimoji="1" lang="ja-JP" altLang="en-US" dirty="0"/>
                  <a:t> </a:t>
                </a:r>
                <a:r>
                  <a:rPr lang="en-US" altLang="ja-JP" dirty="0"/>
                  <a:t>2: </a:t>
                </a:r>
              </a:p>
              <a:p>
                <a:r>
                  <a:rPr lang="en-US" altLang="ja-JP" sz="1400" dirty="0"/>
                  <a:t> </a:t>
                </a:r>
                <a14:m>
                  <m:oMath xmlns:m="http://schemas.openxmlformats.org/officeDocument/2006/math">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1</m:t>
                            </m:r>
                          </m:sub>
                        </m:sSub>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b="0" i="1" smtClean="0">
                        <a:latin typeface="Cambria Math" panose="02040503050406030204" pitchFamily="18" charset="0"/>
                      </a:rPr>
                      <m:t> </m:t>
                    </m:r>
                    <m:r>
                      <a:rPr lang="ja-JP" altLang="en-US" sz="140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3</m:t>
                            </m:r>
                          </m:sub>
                        </m:sSub>
                      </m:e>
                    </m:d>
                    <m:r>
                      <a:rPr lang="en-US" altLang="ja-JP" sz="1400" b="0" i="1" smtClean="0">
                        <a:latin typeface="Cambria Math" panose="02040503050406030204" pitchFamily="18" charset="0"/>
                      </a:rPr>
                      <m:t> ~</m:t>
                    </m:r>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3</m:t>
                            </m:r>
                          </m:sub>
                        </m:sSub>
                      </m:sub>
                    </m:sSub>
                    <m:r>
                      <a:rPr lang="en-US" altLang="ja-JP" sz="1400" b="0" i="1" smtClean="0">
                        <a:latin typeface="Cambria Math" panose="02040503050406030204" pitchFamily="18" charset="0"/>
                      </a:rPr>
                      <m:t>, </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3</m:t>
                        </m:r>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3</m:t>
                            </m:r>
                          </m:sub>
                        </m:sSub>
                      </m:sub>
                    </m:sSub>
                  </m:oMath>
                </a14:m>
                <a:endParaRPr kumimoji="1" lang="ja-JP" altLang="en-US" sz="1400" dirty="0"/>
              </a:p>
            </p:txBody>
          </p:sp>
        </mc:Choice>
        <mc:Fallback xmlns="">
          <p:sp>
            <p:nvSpPr>
              <p:cNvPr id="7" name="テキスト ボックス 6">
                <a:extLst>
                  <a:ext uri="{FF2B5EF4-FFF2-40B4-BE49-F238E27FC236}">
                    <a16:creationId xmlns:a16="http://schemas.microsoft.com/office/drawing/2014/main" id="{96B5443A-78C4-3C06-3CA9-55367921720E}"/>
                  </a:ext>
                </a:extLst>
              </p:cNvPr>
              <p:cNvSpPr txBox="1">
                <a:spLocks noRot="1" noChangeAspect="1" noMove="1" noResize="1" noEditPoints="1" noAdjustHandles="1" noChangeArrowheads="1" noChangeShapeType="1" noTextEdit="1"/>
              </p:cNvSpPr>
              <p:nvPr/>
            </p:nvSpPr>
            <p:spPr>
              <a:xfrm>
                <a:off x="180017" y="2290410"/>
                <a:ext cx="3880387" cy="604333"/>
              </a:xfrm>
              <a:prstGeom prst="rect">
                <a:avLst/>
              </a:prstGeom>
              <a:blipFill>
                <a:blip r:embed="rId5"/>
                <a:stretch>
                  <a:fillRect l="-1415" t="-6061" b="-101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00A5994C-F8BC-FE78-244E-AFC3F1DBFB88}"/>
                  </a:ext>
                </a:extLst>
              </p:cNvPr>
              <p:cNvSpPr txBox="1"/>
              <p:nvPr/>
            </p:nvSpPr>
            <p:spPr>
              <a:xfrm>
                <a:off x="4644191" y="2293613"/>
                <a:ext cx="3023456" cy="605871"/>
              </a:xfrm>
              <a:prstGeom prst="rect">
                <a:avLst/>
              </a:prstGeom>
              <a:noFill/>
            </p:spPr>
            <p:txBody>
              <a:bodyPr wrap="none" rtlCol="0">
                <a:spAutoFit/>
              </a:bodyPr>
              <a:lstStyle/>
              <a:p>
                <a:r>
                  <a:rPr lang="en-US" altLang="ja-JP" dirty="0"/>
                  <a:t>5. M</a:t>
                </a:r>
                <a:r>
                  <a:rPr kumimoji="1" lang="en-US" altLang="ja-JP" dirty="0"/>
                  <a:t>-stage</a:t>
                </a:r>
                <a:r>
                  <a:rPr kumimoji="1" lang="ja-JP" altLang="en-US" dirty="0"/>
                  <a:t> </a:t>
                </a:r>
                <a:r>
                  <a:rPr lang="en-US" altLang="ja-JP" dirty="0"/>
                  <a:t>2:</a:t>
                </a:r>
              </a:p>
              <a:p>
                <a:pPr/>
                <a14:m>
                  <m:oMathPara xmlns:m="http://schemas.openxmlformats.org/officeDocument/2006/math">
                    <m:oMathParaPr>
                      <m:jc m:val="centerGroup"/>
                    </m:oMathParaPr>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3</m:t>
                          </m:r>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3</m:t>
                              </m:r>
                            </m:sub>
                          </m:sSub>
                        </m:sub>
                      </m:sSub>
                      <m:r>
                        <a:rPr lang="ja-JP" altLang="en-US"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𝑠</m:t>
                              </m:r>
                            </m:e>
                            <m:sub>
                              <m:r>
                                <a:rPr lang="en-US" altLang="ja-JP" sz="1400" b="0" i="1" smtClean="0">
                                  <a:latin typeface="Cambria Math" panose="02040503050406030204" pitchFamily="18" charset="0"/>
                                </a:rPr>
                                <m:t>4</m:t>
                              </m:r>
                            </m:sub>
                          </m:sSub>
                          <m:r>
                            <a:rPr lang="en-US" altLang="ja-JP" sz="1400" i="1">
                              <a:latin typeface="Cambria Math" panose="02040503050406030204" pitchFamily="18" charset="0"/>
                            </a:rPr>
                            <m:t>{1:</m:t>
                          </m:r>
                          <m:r>
                            <a:rPr lang="en-US" altLang="ja-JP" sz="1400" i="1">
                              <a:latin typeface="Cambria Math" panose="02040503050406030204" pitchFamily="18" charset="0"/>
                            </a:rPr>
                            <m:t>𝑁</m:t>
                          </m:r>
                          <m:r>
                            <a:rPr lang="en-US" altLang="ja-JP" sz="1400" i="1">
                              <a:latin typeface="Cambria Math" panose="02040503050406030204" pitchFamily="18" charset="0"/>
                            </a:rPr>
                            <m:t>}</m:t>
                          </m:r>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4</m:t>
                              </m:r>
                            </m:sub>
                          </m:sSub>
                        </m:sub>
                      </m:sSub>
                    </m:oMath>
                  </m:oMathPara>
                </a14:m>
                <a:endParaRPr kumimoji="1" lang="ja-JP" altLang="en-US" sz="1400" dirty="0"/>
              </a:p>
            </p:txBody>
          </p:sp>
        </mc:Choice>
        <mc:Fallback xmlns="">
          <p:sp>
            <p:nvSpPr>
              <p:cNvPr id="8" name="テキスト ボックス 7">
                <a:extLst>
                  <a:ext uri="{FF2B5EF4-FFF2-40B4-BE49-F238E27FC236}">
                    <a16:creationId xmlns:a16="http://schemas.microsoft.com/office/drawing/2014/main" id="{00A5994C-F8BC-FE78-244E-AFC3F1DBFB88}"/>
                  </a:ext>
                </a:extLst>
              </p:cNvPr>
              <p:cNvSpPr txBox="1">
                <a:spLocks noRot="1" noChangeAspect="1" noMove="1" noResize="1" noEditPoints="1" noAdjustHandles="1" noChangeArrowheads="1" noChangeShapeType="1" noTextEdit="1"/>
              </p:cNvSpPr>
              <p:nvPr/>
            </p:nvSpPr>
            <p:spPr>
              <a:xfrm>
                <a:off x="4644191" y="2293613"/>
                <a:ext cx="3023456" cy="605871"/>
              </a:xfrm>
              <a:prstGeom prst="rect">
                <a:avLst/>
              </a:prstGeom>
              <a:blipFill>
                <a:blip r:embed="rId6"/>
                <a:stretch>
                  <a:fillRect l="-1815" t="-5000" b="-2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8D3140CA-C857-954B-BB62-595FF706DD86}"/>
                  </a:ext>
                </a:extLst>
              </p:cNvPr>
              <p:cNvSpPr txBox="1"/>
              <p:nvPr/>
            </p:nvSpPr>
            <p:spPr>
              <a:xfrm>
                <a:off x="8251434" y="2288872"/>
                <a:ext cx="3940566" cy="605871"/>
              </a:xfrm>
              <a:prstGeom prst="rect">
                <a:avLst/>
              </a:prstGeom>
              <a:noFill/>
            </p:spPr>
            <p:txBody>
              <a:bodyPr wrap="none" rtlCol="0">
                <a:spAutoFit/>
              </a:bodyPr>
              <a:lstStyle/>
              <a:p>
                <a:r>
                  <a:rPr lang="en-US" altLang="ja-JP" dirty="0"/>
                  <a:t>6. T</a:t>
                </a:r>
                <a:r>
                  <a:rPr kumimoji="1" lang="en-US" altLang="ja-JP" dirty="0"/>
                  <a:t>-stage</a:t>
                </a:r>
                <a:r>
                  <a:rPr kumimoji="1" lang="ja-JP" altLang="en-US" dirty="0"/>
                  <a:t> </a:t>
                </a:r>
                <a:r>
                  <a:rPr lang="en-US" altLang="ja-JP" dirty="0"/>
                  <a:t>2:</a:t>
                </a:r>
              </a:p>
              <a:p>
                <a:r>
                  <a:rPr lang="en-US" altLang="ja-JP"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i="1">
                                <a:latin typeface="Cambria Math" panose="02040503050406030204" pitchFamily="18" charset="0"/>
                              </a:rPr>
                              <m:t>3</m:t>
                            </m:r>
                          </m:sub>
                        </m:sSub>
                      </m:sub>
                    </m:sSub>
                    <m:r>
                      <a:rPr lang="en-US" altLang="ja-JP" sz="1400" b="0" i="1" smtClean="0">
                        <a:latin typeface="Cambria Math" panose="02040503050406030204" pitchFamily="18" charset="0"/>
                      </a:rPr>
                      <m:t>, </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𝑠</m:t>
                            </m:r>
                          </m:e>
                          <m:sub>
                            <m:r>
                              <a:rPr lang="en-US" altLang="ja-JP" sz="1400" i="1">
                                <a:latin typeface="Cambria Math" panose="02040503050406030204" pitchFamily="18" charset="0"/>
                              </a:rPr>
                              <m:t>4</m:t>
                            </m:r>
                          </m:sub>
                        </m:sSub>
                        <m:r>
                          <a:rPr lang="en-US" altLang="ja-JP" sz="1400" i="1">
                            <a:latin typeface="Cambria Math" panose="02040503050406030204" pitchFamily="18" charset="0"/>
                          </a:rPr>
                          <m:t>{1:</m:t>
                        </m:r>
                        <m:r>
                          <a:rPr lang="en-US" altLang="ja-JP" sz="1400" i="1">
                            <a:latin typeface="Cambria Math" panose="02040503050406030204" pitchFamily="18" charset="0"/>
                          </a:rPr>
                          <m:t>𝑁</m:t>
                        </m:r>
                        <m:r>
                          <a:rPr lang="en-US" altLang="ja-JP" sz="1400" i="1">
                            <a:latin typeface="Cambria Math" panose="02040503050406030204" pitchFamily="18" charset="0"/>
                          </a:rPr>
                          <m:t>}</m:t>
                        </m:r>
                      </m:sub>
                    </m:sSub>
                    <m:r>
                      <a:rPr lang="ja-JP" altLang="en-US"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b="0" i="1" smtClean="0">
                                <a:latin typeface="Cambria Math" panose="02040503050406030204" pitchFamily="18" charset="0"/>
                              </a:rPr>
                              <m:t>2</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3</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i="1">
                                <a:latin typeface="Cambria Math" panose="02040503050406030204" pitchFamily="18" charset="0"/>
                              </a:rPr>
                              <m:t>4</m:t>
                            </m:r>
                          </m:sub>
                        </m:sSub>
                      </m:sub>
                    </m:sSub>
                    <m:r>
                      <a:rPr lang="en-US" altLang="ja-JP" sz="1400" i="1">
                        <a:latin typeface="Cambria Math" panose="02040503050406030204" pitchFamily="18" charset="0"/>
                      </a:rPr>
                      <m:t>)</m:t>
                    </m:r>
                  </m:oMath>
                </a14:m>
                <a:endParaRPr kumimoji="1" lang="ja-JP" altLang="en-US" sz="1400" dirty="0"/>
              </a:p>
            </p:txBody>
          </p:sp>
        </mc:Choice>
        <mc:Fallback xmlns="">
          <p:sp>
            <p:nvSpPr>
              <p:cNvPr id="10" name="テキスト ボックス 9">
                <a:extLst>
                  <a:ext uri="{FF2B5EF4-FFF2-40B4-BE49-F238E27FC236}">
                    <a16:creationId xmlns:a16="http://schemas.microsoft.com/office/drawing/2014/main" id="{8D3140CA-C857-954B-BB62-595FF706DD86}"/>
                  </a:ext>
                </a:extLst>
              </p:cNvPr>
              <p:cNvSpPr txBox="1">
                <a:spLocks noRot="1" noChangeAspect="1" noMove="1" noResize="1" noEditPoints="1" noAdjustHandles="1" noChangeArrowheads="1" noChangeShapeType="1" noTextEdit="1"/>
              </p:cNvSpPr>
              <p:nvPr/>
            </p:nvSpPr>
            <p:spPr>
              <a:xfrm>
                <a:off x="8251434" y="2288872"/>
                <a:ext cx="3940566" cy="605871"/>
              </a:xfrm>
              <a:prstGeom prst="rect">
                <a:avLst/>
              </a:prstGeom>
              <a:blipFill>
                <a:blip r:embed="rId7"/>
                <a:stretch>
                  <a:fillRect l="-1393" t="-5000" b="-2000"/>
                </a:stretch>
              </a:blipFill>
            </p:spPr>
            <p:txBody>
              <a:bodyPr/>
              <a:lstStyle/>
              <a:p>
                <a:r>
                  <a:rPr lang="ja-JP" altLang="en-US">
                    <a:noFill/>
                  </a:rPr>
                  <a:t> </a:t>
                </a:r>
              </a:p>
            </p:txBody>
          </p:sp>
        </mc:Fallback>
      </mc:AlternateContent>
      <p:cxnSp>
        <p:nvCxnSpPr>
          <p:cNvPr id="12" name="直線矢印コネクタ 11">
            <a:extLst>
              <a:ext uri="{FF2B5EF4-FFF2-40B4-BE49-F238E27FC236}">
                <a16:creationId xmlns:a16="http://schemas.microsoft.com/office/drawing/2014/main" id="{BF2A2619-0177-AEC7-C6C1-15A5D19D9F19}"/>
              </a:ext>
            </a:extLst>
          </p:cNvPr>
          <p:cNvCxnSpPr>
            <a:stCxn id="3" idx="3"/>
            <a:endCxn id="5" idx="1"/>
          </p:cNvCxnSpPr>
          <p:nvPr/>
        </p:nvCxnSpPr>
        <p:spPr>
          <a:xfrm>
            <a:off x="2528816" y="1413768"/>
            <a:ext cx="2115375" cy="7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E96D39B3-21D4-9873-9749-F19A35B000E1}"/>
              </a:ext>
            </a:extLst>
          </p:cNvPr>
          <p:cNvCxnSpPr>
            <a:cxnSpLocks/>
            <a:stCxn id="5" idx="3"/>
            <a:endCxn id="6" idx="1"/>
          </p:cNvCxnSpPr>
          <p:nvPr/>
        </p:nvCxnSpPr>
        <p:spPr>
          <a:xfrm>
            <a:off x="6992989" y="1414506"/>
            <a:ext cx="1258445" cy="1118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55231345-577B-4FCD-5F03-34DF4F10DCBC}"/>
              </a:ext>
            </a:extLst>
          </p:cNvPr>
          <p:cNvCxnSpPr>
            <a:cxnSpLocks/>
            <a:stCxn id="6" idx="2"/>
            <a:endCxn id="7" idx="0"/>
          </p:cNvCxnSpPr>
          <p:nvPr/>
        </p:nvCxnSpPr>
        <p:spPr>
          <a:xfrm flipH="1">
            <a:off x="2120211" y="1748851"/>
            <a:ext cx="7586269" cy="54155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AF128835-CFFA-734E-F785-1FE12D2AE4A6}"/>
              </a:ext>
            </a:extLst>
          </p:cNvPr>
          <p:cNvCxnSpPr>
            <a:cxnSpLocks/>
            <a:stCxn id="7" idx="3"/>
            <a:endCxn id="8" idx="1"/>
          </p:cNvCxnSpPr>
          <p:nvPr/>
        </p:nvCxnSpPr>
        <p:spPr>
          <a:xfrm>
            <a:off x="4060404" y="2592577"/>
            <a:ext cx="583787" cy="39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3DD6041-C33D-745B-0875-D749DA7BD367}"/>
              </a:ext>
            </a:extLst>
          </p:cNvPr>
          <p:cNvCxnSpPr>
            <a:cxnSpLocks/>
            <a:stCxn id="8" idx="3"/>
            <a:endCxn id="10" idx="1"/>
          </p:cNvCxnSpPr>
          <p:nvPr/>
        </p:nvCxnSpPr>
        <p:spPr>
          <a:xfrm flipV="1">
            <a:off x="7667647" y="2591808"/>
            <a:ext cx="583787" cy="47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8BE7E12D-40C8-A506-0E9E-C9C66CF730FB}"/>
              </a:ext>
            </a:extLst>
          </p:cNvPr>
          <p:cNvCxnSpPr>
            <a:cxnSpLocks/>
            <a:stCxn id="3" idx="2"/>
          </p:cNvCxnSpPr>
          <p:nvPr/>
        </p:nvCxnSpPr>
        <p:spPr>
          <a:xfrm>
            <a:off x="1354417" y="1715966"/>
            <a:ext cx="0" cy="572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16F169B0-DD41-C550-8B7B-41FC6132049C}"/>
                  </a:ext>
                </a:extLst>
              </p:cNvPr>
              <p:cNvSpPr txBox="1"/>
              <p:nvPr/>
            </p:nvSpPr>
            <p:spPr>
              <a:xfrm>
                <a:off x="180016" y="3467649"/>
                <a:ext cx="4751580" cy="604333"/>
              </a:xfrm>
              <a:prstGeom prst="rect">
                <a:avLst/>
              </a:prstGeom>
              <a:noFill/>
            </p:spPr>
            <p:txBody>
              <a:bodyPr wrap="square" rtlCol="0">
                <a:spAutoFit/>
              </a:bodyPr>
              <a:lstStyle/>
              <a:p>
                <a:r>
                  <a:rPr lang="en-US" altLang="ja-JP" dirty="0"/>
                  <a:t>7</a:t>
                </a:r>
                <a:r>
                  <a:rPr kumimoji="1" lang="en-US" altLang="ja-JP" dirty="0"/>
                  <a:t>. V-stage</a:t>
                </a:r>
                <a:r>
                  <a:rPr kumimoji="1" lang="ja-JP" altLang="en-US" dirty="0"/>
                  <a:t> </a:t>
                </a:r>
                <a:r>
                  <a:rPr kumimoji="1" lang="en-US" altLang="ja-JP" dirty="0"/>
                  <a:t>3</a:t>
                </a:r>
                <a:r>
                  <a:rPr lang="en-US" altLang="ja-JP" dirty="0"/>
                  <a:t>: </a:t>
                </a:r>
              </a:p>
              <a:p>
                <a:r>
                  <a:rPr lang="en-US" altLang="ja-JP"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3</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b="0" i="1" smtClean="0">
                                <a:latin typeface="Cambria Math" panose="02040503050406030204" pitchFamily="18" charset="0"/>
                              </a:rPr>
                              <m:t>2</m:t>
                            </m:r>
                          </m:sub>
                        </m:sSub>
                      </m:sub>
                    </m:sSub>
                    <m:r>
                      <a:rPr lang="ja-JP" altLang="en-US"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2</m:t>
                            </m:r>
                          </m:sub>
                        </m:sSub>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b="0" i="1" smtClean="0">
                                <a:latin typeface="Cambria Math" panose="02040503050406030204" pitchFamily="18" charset="0"/>
                              </a:rPr>
                              <m:t>5</m:t>
                            </m:r>
                          </m:sub>
                        </m:sSub>
                      </m:e>
                    </m:d>
                    <m:r>
                      <a:rPr lang="en-US" altLang="ja-JP" sz="1400" i="1" smtClean="0">
                        <a:latin typeface="Cambria Math" panose="02040503050406030204" pitchFamily="18" charset="0"/>
                      </a:rPr>
                      <m:t> ~</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2</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5</m:t>
                            </m:r>
                          </m:sub>
                        </m:sSub>
                      </m:sub>
                    </m:sSub>
                  </m:oMath>
                </a14:m>
                <a:endParaRPr lang="ja-JP" altLang="en-US" sz="1400" dirty="0"/>
              </a:p>
            </p:txBody>
          </p:sp>
        </mc:Choice>
        <mc:Fallback xmlns="">
          <p:sp>
            <p:nvSpPr>
              <p:cNvPr id="31" name="テキスト ボックス 30">
                <a:extLst>
                  <a:ext uri="{FF2B5EF4-FFF2-40B4-BE49-F238E27FC236}">
                    <a16:creationId xmlns:a16="http://schemas.microsoft.com/office/drawing/2014/main" id="{16F169B0-DD41-C550-8B7B-41FC6132049C}"/>
                  </a:ext>
                </a:extLst>
              </p:cNvPr>
              <p:cNvSpPr txBox="1">
                <a:spLocks noRot="1" noChangeAspect="1" noMove="1" noResize="1" noEditPoints="1" noAdjustHandles="1" noChangeArrowheads="1" noChangeShapeType="1" noTextEdit="1"/>
              </p:cNvSpPr>
              <p:nvPr/>
            </p:nvSpPr>
            <p:spPr>
              <a:xfrm>
                <a:off x="180016" y="3467649"/>
                <a:ext cx="4751580" cy="604333"/>
              </a:xfrm>
              <a:prstGeom prst="rect">
                <a:avLst/>
              </a:prstGeom>
              <a:blipFill>
                <a:blip r:embed="rId8"/>
                <a:stretch>
                  <a:fillRect l="-1155" t="-6061" b="-1010"/>
                </a:stretch>
              </a:blipFill>
            </p:spPr>
            <p:txBody>
              <a:bodyPr/>
              <a:lstStyle/>
              <a:p>
                <a:r>
                  <a:rPr lang="ja-JP" altLang="en-US">
                    <a:noFill/>
                  </a:rPr>
                  <a:t> </a:t>
                </a:r>
              </a:p>
            </p:txBody>
          </p:sp>
        </mc:Fallback>
      </mc:AlternateContent>
      <p:cxnSp>
        <p:nvCxnSpPr>
          <p:cNvPr id="32" name="直線矢印コネクタ 31">
            <a:extLst>
              <a:ext uri="{FF2B5EF4-FFF2-40B4-BE49-F238E27FC236}">
                <a16:creationId xmlns:a16="http://schemas.microsoft.com/office/drawing/2014/main" id="{FE64384C-A35E-F3C8-1ACE-029F62320638}"/>
              </a:ext>
            </a:extLst>
          </p:cNvPr>
          <p:cNvCxnSpPr>
            <a:cxnSpLocks/>
          </p:cNvCxnSpPr>
          <p:nvPr/>
        </p:nvCxnSpPr>
        <p:spPr>
          <a:xfrm>
            <a:off x="1354416" y="2894743"/>
            <a:ext cx="0" cy="572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A869332-796D-B09D-F65A-F6F211BC8B04}"/>
              </a:ext>
            </a:extLst>
          </p:cNvPr>
          <p:cNvCxnSpPr>
            <a:cxnSpLocks/>
            <a:stCxn id="10" idx="2"/>
            <a:endCxn id="31" idx="0"/>
          </p:cNvCxnSpPr>
          <p:nvPr/>
        </p:nvCxnSpPr>
        <p:spPr>
          <a:xfrm flipH="1">
            <a:off x="2555806" y="2894743"/>
            <a:ext cx="7665911" cy="572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B567AEA3-7705-C25B-280F-34F61BC15A04}"/>
              </a:ext>
            </a:extLst>
          </p:cNvPr>
          <p:cNvCxnSpPr>
            <a:cxnSpLocks/>
          </p:cNvCxnSpPr>
          <p:nvPr/>
        </p:nvCxnSpPr>
        <p:spPr>
          <a:xfrm>
            <a:off x="1379980" y="4071982"/>
            <a:ext cx="0" cy="736323"/>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5C32FAE8-CEF1-40F4-E1B7-811D2E7B3C6E}"/>
                  </a:ext>
                </a:extLst>
              </p:cNvPr>
              <p:cNvSpPr txBox="1"/>
              <p:nvPr/>
            </p:nvSpPr>
            <p:spPr>
              <a:xfrm>
                <a:off x="180016" y="4808305"/>
                <a:ext cx="6251606" cy="625941"/>
              </a:xfrm>
              <a:prstGeom prst="rect">
                <a:avLst/>
              </a:prstGeom>
              <a:noFill/>
            </p:spPr>
            <p:txBody>
              <a:bodyPr wrap="square" rtlCol="0">
                <a:spAutoFit/>
              </a:bodyPr>
              <a:lstStyle/>
              <a:p>
                <a:r>
                  <a:rPr lang="en-US" altLang="ja-JP" dirty="0"/>
                  <a:t>1.5K</a:t>
                </a:r>
                <a:r>
                  <a:rPr kumimoji="1" lang="en-US" altLang="ja-JP" dirty="0"/>
                  <a:t>. V-stage</a:t>
                </a:r>
                <a:r>
                  <a:rPr kumimoji="1" lang="ja-JP" altLang="en-US" dirty="0"/>
                  <a:t> </a:t>
                </a:r>
                <a:r>
                  <a:rPr lang="en-US" altLang="ja-JP" dirty="0"/>
                  <a:t>K: </a:t>
                </a:r>
              </a:p>
              <a:p>
                <a:r>
                  <a:rPr lang="en-US" altLang="ja-JP" sz="1400" dirty="0"/>
                  <a:t> </a:t>
                </a:r>
                <a14:m>
                  <m:oMath xmlns:m="http://schemas.openxmlformats.org/officeDocument/2006/math">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𝐾</m:t>
                            </m:r>
                            <m:r>
                              <a:rPr lang="en-US" altLang="ja-JP" sz="1400" b="0" i="1" smtClean="0">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f>
                              <m:fPr>
                                <m:type m:val="lin"/>
                                <m:ctrlPr>
                                  <a:rPr lang="en-US" altLang="ja-JP" sz="1400" i="1">
                                    <a:latin typeface="Cambria Math" panose="02040503050406030204" pitchFamily="18" charset="0"/>
                                  </a:rPr>
                                </m:ctrlPr>
                              </m:fPr>
                              <m:num>
                                <m:r>
                                  <a:rPr lang="en-US" altLang="ja-JP" sz="1400" i="1">
                                    <a:latin typeface="Cambria Math" panose="02040503050406030204" pitchFamily="18" charset="0"/>
                                  </a:rPr>
                                  <m:t>𝐾</m:t>
                                </m:r>
                                <m:r>
                                  <a:rPr lang="en-US" altLang="ja-JP" sz="1400" i="1">
                                    <a:latin typeface="Cambria Math" panose="02040503050406030204" pitchFamily="18" charset="0"/>
                                  </a:rPr>
                                  <m:t>−1</m:t>
                                </m:r>
                              </m:num>
                              <m:den>
                                <m:r>
                                  <a:rPr lang="en-US" altLang="ja-JP" sz="1400" i="1">
                                    <a:latin typeface="Cambria Math" panose="02040503050406030204" pitchFamily="18" charset="0"/>
                                  </a:rPr>
                                  <m:t>2</m:t>
                                </m:r>
                              </m:den>
                            </m:f>
                          </m:sub>
                        </m:sSub>
                      </m:sub>
                    </m:sSub>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smtClean="0">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b="0" i="1" smtClean="0">
                                <a:latin typeface="Cambria Math" panose="02040503050406030204" pitchFamily="18" charset="0"/>
                              </a:rPr>
                              <m:t>1</m:t>
                            </m:r>
                          </m:sub>
                        </m:sSub>
                      </m:sub>
                    </m:sSub>
                    <m:r>
                      <a:rPr lang="ja-JP" altLang="en-US"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f>
                              <m:fPr>
                                <m:type m:val="lin"/>
                                <m:ctrlPr>
                                  <a:rPr lang="en-US" altLang="ja-JP" sz="1400" i="1" smtClean="0">
                                    <a:latin typeface="Cambria Math" panose="02040503050406030204" pitchFamily="18" charset="0"/>
                                  </a:rPr>
                                </m:ctrlPr>
                              </m:fPr>
                              <m:num>
                                <m:r>
                                  <a:rPr lang="en-US" altLang="ja-JP" sz="1400" i="1">
                                    <a:latin typeface="Cambria Math" panose="02040503050406030204" pitchFamily="18" charset="0"/>
                                  </a:rPr>
                                  <m:t>𝐾</m:t>
                                </m:r>
                                <m:r>
                                  <a:rPr lang="en-US" altLang="ja-JP" sz="1400" i="1">
                                    <a:latin typeface="Cambria Math" panose="02040503050406030204" pitchFamily="18" charset="0"/>
                                  </a:rPr>
                                  <m:t>−1</m:t>
                                </m:r>
                              </m:num>
                              <m:den>
                                <m:r>
                                  <a:rPr lang="en-US" altLang="ja-JP" sz="1400" b="0" i="1" smtClean="0">
                                    <a:latin typeface="Cambria Math" panose="02040503050406030204" pitchFamily="18" charset="0"/>
                                  </a:rPr>
                                  <m:t>2</m:t>
                                </m:r>
                              </m:den>
                            </m:f>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b="0" i="1" smtClean="0">
                        <a:latin typeface="Cambria Math" panose="02040503050406030204" pitchFamily="18" charset="0"/>
                      </a:rPr>
                      <m:t>∘</m:t>
                    </m:r>
                    <m:r>
                      <a:rPr lang="en-US" altLang="ja-JP" sz="1400" i="1">
                        <a:latin typeface="Cambria Math" panose="02040503050406030204" pitchFamily="18" charset="0"/>
                      </a:rPr>
                      <m:t>𝑓</m:t>
                    </m:r>
                    <m:d>
                      <m:dPr>
                        <m:ctrlPr>
                          <a:rPr lang="en-US" altLang="ja-JP" sz="1400" i="1">
                            <a:latin typeface="Cambria Math" panose="02040503050406030204" pitchFamily="18" charset="0"/>
                          </a:rPr>
                        </m:ctrlPr>
                      </m:dPr>
                      <m:e>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𝑤</m:t>
                            </m:r>
                          </m:e>
                          <m:sub>
                            <m:r>
                              <a:rPr lang="en-US" altLang="ja-JP" sz="1400" b="0" i="1" smtClean="0">
                                <a:latin typeface="Cambria Math" panose="02040503050406030204" pitchFamily="18" charset="0"/>
                              </a:rPr>
                              <m:t>𝐾</m:t>
                            </m:r>
                          </m:sub>
                        </m:sSub>
                      </m:e>
                    </m:d>
                    <m:r>
                      <a:rPr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f>
                              <m:fPr>
                                <m:type m:val="lin"/>
                                <m:ctrlPr>
                                  <a:rPr lang="en-US" altLang="ja-JP" sz="1400" i="1">
                                    <a:latin typeface="Cambria Math" panose="02040503050406030204" pitchFamily="18" charset="0"/>
                                  </a:rPr>
                                </m:ctrlPr>
                              </m:fPr>
                              <m:num>
                                <m:r>
                                  <a:rPr lang="en-US" altLang="ja-JP" sz="1400" i="1">
                                    <a:latin typeface="Cambria Math" panose="02040503050406030204" pitchFamily="18" charset="0"/>
                                  </a:rPr>
                                  <m:t>𝐾</m:t>
                                </m:r>
                                <m:r>
                                  <a:rPr lang="en-US" altLang="ja-JP" sz="1400" i="1">
                                    <a:latin typeface="Cambria Math" panose="02040503050406030204" pitchFamily="18" charset="0"/>
                                  </a:rPr>
                                  <m:t>−1</m:t>
                                </m:r>
                              </m:num>
                              <m:den>
                                <m:r>
                                  <a:rPr lang="en-US" altLang="ja-JP" sz="1400" i="1">
                                    <a:latin typeface="Cambria Math" panose="02040503050406030204" pitchFamily="18" charset="0"/>
                                  </a:rPr>
                                  <m:t>2</m:t>
                                </m:r>
                              </m:den>
                            </m:f>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𝐹</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𝜆</m:t>
                            </m:r>
                          </m:e>
                          <m:sub>
                            <m:r>
                              <a:rPr lang="en-US" altLang="ja-JP" sz="1400" i="1">
                                <a:latin typeface="Cambria Math" panose="02040503050406030204" pitchFamily="18" charset="0"/>
                              </a:rPr>
                              <m:t>1</m:t>
                            </m:r>
                          </m:sub>
                        </m:sSub>
                      </m:sub>
                    </m:sSub>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𝑄</m:t>
                        </m:r>
                      </m:e>
                      <m:sub>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𝑓</m:t>
                            </m:r>
                          </m:e>
                          <m:sub>
                            <m:r>
                              <a:rPr lang="en-US" altLang="ja-JP" sz="1400" i="1">
                                <a:latin typeface="Cambria Math" panose="02040503050406030204" pitchFamily="18" charset="0"/>
                              </a:rPr>
                              <m:t>𝑠</m:t>
                            </m:r>
                            <m:r>
                              <a:rPr lang="en-US" altLang="ja-JP" sz="1400" b="0" i="1" smtClean="0">
                                <a:latin typeface="Cambria Math" panose="02040503050406030204" pitchFamily="18" charset="0"/>
                              </a:rPr>
                              <m:t>𝐾</m:t>
                            </m:r>
                          </m:sub>
                        </m:sSub>
                      </m:sub>
                    </m:sSub>
                  </m:oMath>
                </a14:m>
                <a:endParaRPr lang="ja-JP" altLang="en-US" sz="1400" dirty="0"/>
              </a:p>
            </p:txBody>
          </p:sp>
        </mc:Choice>
        <mc:Fallback xmlns="">
          <p:sp>
            <p:nvSpPr>
              <p:cNvPr id="38" name="テキスト ボックス 37">
                <a:extLst>
                  <a:ext uri="{FF2B5EF4-FFF2-40B4-BE49-F238E27FC236}">
                    <a16:creationId xmlns:a16="http://schemas.microsoft.com/office/drawing/2014/main" id="{5C32FAE8-CEF1-40F4-E1B7-811D2E7B3C6E}"/>
                  </a:ext>
                </a:extLst>
              </p:cNvPr>
              <p:cNvSpPr txBox="1">
                <a:spLocks noRot="1" noChangeAspect="1" noMove="1" noResize="1" noEditPoints="1" noAdjustHandles="1" noChangeArrowheads="1" noChangeShapeType="1" noTextEdit="1"/>
              </p:cNvSpPr>
              <p:nvPr/>
            </p:nvSpPr>
            <p:spPr>
              <a:xfrm>
                <a:off x="180016" y="4808305"/>
                <a:ext cx="6251606" cy="625941"/>
              </a:xfrm>
              <a:prstGeom prst="rect">
                <a:avLst/>
              </a:prstGeom>
              <a:blipFill>
                <a:blip r:embed="rId9"/>
                <a:stretch>
                  <a:fillRect l="-878" t="-5882" b="-44118"/>
                </a:stretch>
              </a:blipFill>
            </p:spPr>
            <p:txBody>
              <a:bodyPr/>
              <a:lstStyle/>
              <a:p>
                <a:r>
                  <a:rPr lang="ja-JP" altLang="en-US">
                    <a:noFill/>
                  </a:rPr>
                  <a:t> </a:t>
                </a:r>
              </a:p>
            </p:txBody>
          </p:sp>
        </mc:Fallback>
      </mc:AlternateContent>
      <p:sp>
        <p:nvSpPr>
          <p:cNvPr id="39" name="テキスト ボックス 38">
            <a:extLst>
              <a:ext uri="{FF2B5EF4-FFF2-40B4-BE49-F238E27FC236}">
                <a16:creationId xmlns:a16="http://schemas.microsoft.com/office/drawing/2014/main" id="{0841038B-8825-7A32-631F-8F21E204647C}"/>
              </a:ext>
            </a:extLst>
          </p:cNvPr>
          <p:cNvSpPr txBox="1"/>
          <p:nvPr/>
        </p:nvSpPr>
        <p:spPr>
          <a:xfrm>
            <a:off x="1544391" y="4469751"/>
            <a:ext cx="2413689" cy="338554"/>
          </a:xfrm>
          <a:prstGeom prst="rect">
            <a:avLst/>
          </a:prstGeom>
          <a:noFill/>
        </p:spPr>
        <p:txBody>
          <a:bodyPr wrap="square" rtlCol="0">
            <a:spAutoFit/>
          </a:bodyPr>
          <a:lstStyle/>
          <a:p>
            <a:r>
              <a:rPr kumimoji="1" lang="en-US" altLang="ja-JP" sz="1600" dirty="0"/>
              <a:t>※ K: V</a:t>
            </a:r>
            <a:r>
              <a:rPr kumimoji="1" lang="ja-JP" altLang="en-US" sz="1600" dirty="0"/>
              <a:t>と</a:t>
            </a:r>
            <a:r>
              <a:rPr kumimoji="1" lang="en-US" altLang="ja-JP" sz="1600" dirty="0"/>
              <a:t>M-stage</a:t>
            </a:r>
            <a:r>
              <a:rPr kumimoji="1" lang="ja-JP" altLang="en-US" sz="1600" dirty="0"/>
              <a:t>の数</a:t>
            </a:r>
          </a:p>
        </p:txBody>
      </p:sp>
      <p:sp>
        <p:nvSpPr>
          <p:cNvPr id="40" name="テキスト ボックス 39">
            <a:extLst>
              <a:ext uri="{FF2B5EF4-FFF2-40B4-BE49-F238E27FC236}">
                <a16:creationId xmlns:a16="http://schemas.microsoft.com/office/drawing/2014/main" id="{6045C6B1-02C4-D4AB-5101-11DE915A8731}"/>
              </a:ext>
            </a:extLst>
          </p:cNvPr>
          <p:cNvSpPr txBox="1"/>
          <p:nvPr/>
        </p:nvSpPr>
        <p:spPr>
          <a:xfrm>
            <a:off x="1851886" y="5683827"/>
            <a:ext cx="8488227" cy="369332"/>
          </a:xfrm>
          <a:prstGeom prst="rect">
            <a:avLst/>
          </a:prstGeom>
          <a:noFill/>
        </p:spPr>
        <p:txBody>
          <a:bodyPr wrap="square" rtlCol="0">
            <a:spAutoFit/>
          </a:bodyPr>
          <a:lstStyle/>
          <a:p>
            <a:r>
              <a:rPr kumimoji="1" lang="ja-JP" altLang="en-US" dirty="0"/>
              <a:t>↑最終的な近似事後測度がこのようになる</a:t>
            </a:r>
            <a:r>
              <a:rPr lang="ja-JP" altLang="en-US" dirty="0"/>
              <a:t>ことを言っているのが</a:t>
            </a:r>
            <a:r>
              <a:rPr kumimoji="1" lang="en-US" altLang="ja-JP" dirty="0"/>
              <a:t>Proposition 3.1</a:t>
            </a:r>
            <a:endParaRPr kumimoji="1" lang="ja-JP" altLang="en-US" dirty="0"/>
          </a:p>
        </p:txBody>
      </p:sp>
      <p:sp>
        <p:nvSpPr>
          <p:cNvPr id="42" name="テキスト ボックス 41">
            <a:extLst>
              <a:ext uri="{FF2B5EF4-FFF2-40B4-BE49-F238E27FC236}">
                <a16:creationId xmlns:a16="http://schemas.microsoft.com/office/drawing/2014/main" id="{1109E13B-DE06-6C0F-96F2-2BB7EF157072}"/>
              </a:ext>
            </a:extLst>
          </p:cNvPr>
          <p:cNvSpPr txBox="1"/>
          <p:nvPr/>
        </p:nvSpPr>
        <p:spPr>
          <a:xfrm>
            <a:off x="5203343" y="3761865"/>
            <a:ext cx="6801492" cy="861774"/>
          </a:xfrm>
          <a:prstGeom prst="rect">
            <a:avLst/>
          </a:prstGeom>
          <a:noFill/>
        </p:spPr>
        <p:txBody>
          <a:bodyPr wrap="square" rtlCol="0">
            <a:spAutoFit/>
          </a:bodyPr>
          <a:lstStyle/>
          <a:p>
            <a:r>
              <a:rPr kumimoji="1" lang="ja-JP" altLang="en-US" dirty="0"/>
              <a:t>コメント</a:t>
            </a:r>
            <a:r>
              <a:rPr kumimoji="1" lang="en-US" altLang="ja-JP" dirty="0"/>
              <a:t>:</a:t>
            </a:r>
          </a:p>
          <a:p>
            <a:r>
              <a:rPr kumimoji="1" lang="ja-JP" altLang="en-US" sz="1600" dirty="0"/>
              <a:t>結局、</a:t>
            </a:r>
            <a:r>
              <a:rPr kumimoji="1" lang="en-US" altLang="ja-JP" sz="1600" dirty="0"/>
              <a:t>M-stage</a:t>
            </a:r>
            <a:r>
              <a:rPr kumimoji="1" lang="ja-JP" altLang="en-US" sz="1600" dirty="0"/>
              <a:t>は</a:t>
            </a:r>
            <a:r>
              <a:rPr kumimoji="1" lang="en-US" altLang="ja-JP" sz="1600" dirty="0"/>
              <a:t>T-stage</a:t>
            </a:r>
            <a:r>
              <a:rPr kumimoji="1" lang="ja-JP" altLang="en-US" sz="1600" dirty="0"/>
              <a:t>の変換を得るためにだけ使っていて、基本的には</a:t>
            </a:r>
            <a:r>
              <a:rPr kumimoji="1" lang="en-US" altLang="ja-JP" sz="1600" dirty="0"/>
              <a:t>FVI</a:t>
            </a:r>
            <a:r>
              <a:rPr kumimoji="1" lang="ja-JP" altLang="en-US" sz="1600" dirty="0"/>
              <a:t>で得られた事後分布を</a:t>
            </a:r>
            <a:r>
              <a:rPr kumimoji="1" lang="en-US" altLang="ja-JP" sz="1600" dirty="0"/>
              <a:t>refine</a:t>
            </a:r>
            <a:r>
              <a:rPr kumimoji="1" lang="ja-JP" altLang="en-US" sz="1600" dirty="0"/>
              <a:t>していく方法が提案されている</a:t>
            </a:r>
          </a:p>
        </p:txBody>
      </p:sp>
      <p:sp>
        <p:nvSpPr>
          <p:cNvPr id="4" name="正方形/長方形 3">
            <a:extLst>
              <a:ext uri="{FF2B5EF4-FFF2-40B4-BE49-F238E27FC236}">
                <a16:creationId xmlns:a16="http://schemas.microsoft.com/office/drawing/2014/main" id="{0069A2D5-C6DA-D082-2830-66535E92A23B}"/>
              </a:ext>
            </a:extLst>
          </p:cNvPr>
          <p:cNvSpPr/>
          <p:nvPr/>
        </p:nvSpPr>
        <p:spPr>
          <a:xfrm>
            <a:off x="256854" y="4792915"/>
            <a:ext cx="6251606" cy="86177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a:extLst>
              <a:ext uri="{FF2B5EF4-FFF2-40B4-BE49-F238E27FC236}">
                <a16:creationId xmlns:a16="http://schemas.microsoft.com/office/drawing/2014/main" id="{A89A96EE-F2F7-40A0-E8A1-DFF545C4DD1A}"/>
              </a:ext>
            </a:extLst>
          </p:cNvPr>
          <p:cNvPicPr>
            <a:picLocks noChangeAspect="1"/>
          </p:cNvPicPr>
          <p:nvPr/>
        </p:nvPicPr>
        <p:blipFill>
          <a:blip r:embed="rId10"/>
          <a:stretch>
            <a:fillRect/>
          </a:stretch>
        </p:blipFill>
        <p:spPr>
          <a:xfrm>
            <a:off x="3601541" y="6082298"/>
            <a:ext cx="5414827" cy="543847"/>
          </a:xfrm>
          <a:prstGeom prst="rect">
            <a:avLst/>
          </a:prstGeom>
        </p:spPr>
      </p:pic>
    </p:spTree>
    <p:extLst>
      <p:ext uri="{BB962C8B-B14F-4D97-AF65-F5344CB8AC3E}">
        <p14:creationId xmlns:p14="http://schemas.microsoft.com/office/powerpoint/2010/main" val="769245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9F1D245-C249-9828-0655-5BA9A3A9BFF6}"/>
              </a:ext>
            </a:extLst>
          </p:cNvPr>
          <p:cNvPicPr>
            <a:picLocks noChangeAspect="1"/>
          </p:cNvPicPr>
          <p:nvPr/>
        </p:nvPicPr>
        <p:blipFill>
          <a:blip r:embed="rId2"/>
          <a:srcRect b="52613"/>
          <a:stretch/>
        </p:blipFill>
        <p:spPr>
          <a:xfrm>
            <a:off x="740510" y="1618756"/>
            <a:ext cx="4722731" cy="3704014"/>
          </a:xfrm>
          <a:prstGeom prst="rect">
            <a:avLst/>
          </a:prstGeom>
        </p:spPr>
      </p:pic>
      <p:pic>
        <p:nvPicPr>
          <p:cNvPr id="4" name="図 3">
            <a:extLst>
              <a:ext uri="{FF2B5EF4-FFF2-40B4-BE49-F238E27FC236}">
                <a16:creationId xmlns:a16="http://schemas.microsoft.com/office/drawing/2014/main" id="{FA3F53F7-6D85-BE6B-959E-FB977CE30B2A}"/>
              </a:ext>
            </a:extLst>
          </p:cNvPr>
          <p:cNvPicPr>
            <a:picLocks noChangeAspect="1"/>
          </p:cNvPicPr>
          <p:nvPr/>
        </p:nvPicPr>
        <p:blipFill>
          <a:blip r:embed="rId2"/>
          <a:srcRect t="47387"/>
          <a:stretch/>
        </p:blipFill>
        <p:spPr>
          <a:xfrm>
            <a:off x="6845579" y="1618756"/>
            <a:ext cx="4483355" cy="3904069"/>
          </a:xfrm>
          <a:prstGeom prst="rect">
            <a:avLst/>
          </a:prstGeom>
        </p:spPr>
      </p:pic>
      <p:cxnSp>
        <p:nvCxnSpPr>
          <p:cNvPr id="6" name="コネクタ: カギ線 5">
            <a:extLst>
              <a:ext uri="{FF2B5EF4-FFF2-40B4-BE49-F238E27FC236}">
                <a16:creationId xmlns:a16="http://schemas.microsoft.com/office/drawing/2014/main" id="{4D12CCA3-E3C0-3967-604D-036B282B08B9}"/>
              </a:ext>
            </a:extLst>
          </p:cNvPr>
          <p:cNvCxnSpPr>
            <a:stCxn id="3" idx="2"/>
            <a:endCxn id="4" idx="0"/>
          </p:cNvCxnSpPr>
          <p:nvPr/>
        </p:nvCxnSpPr>
        <p:spPr>
          <a:xfrm rot="5400000" flipH="1" flipV="1">
            <a:off x="4242559" y="478072"/>
            <a:ext cx="3704014" cy="5985381"/>
          </a:xfrm>
          <a:prstGeom prst="bentConnector5">
            <a:avLst>
              <a:gd name="adj1" fmla="val -6172"/>
              <a:gd name="adj2" fmla="val 47499"/>
              <a:gd name="adj3" fmla="val 10617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6CB21CE6-3413-4C7A-FA2D-7FE3CEDEA95E}"/>
              </a:ext>
            </a:extLst>
          </p:cNvPr>
          <p:cNvSpPr txBox="1"/>
          <p:nvPr/>
        </p:nvSpPr>
        <p:spPr>
          <a:xfrm>
            <a:off x="813605" y="501909"/>
            <a:ext cx="4576542" cy="523220"/>
          </a:xfrm>
          <a:prstGeom prst="rect">
            <a:avLst/>
          </a:prstGeom>
          <a:noFill/>
        </p:spPr>
        <p:txBody>
          <a:bodyPr wrap="square" rtlCol="0">
            <a:spAutoFit/>
          </a:bodyPr>
          <a:lstStyle/>
          <a:p>
            <a:r>
              <a:rPr kumimoji="1" lang="ja-JP" altLang="en-US" sz="2800" dirty="0"/>
              <a:t>疑似コード</a:t>
            </a:r>
            <a:r>
              <a:rPr kumimoji="1" lang="en-US" altLang="ja-JP" sz="2800" dirty="0"/>
              <a:t>(</a:t>
            </a:r>
            <a:r>
              <a:rPr lang="ja-JP" altLang="en-US" sz="2800" dirty="0"/>
              <a:t>論文付録掲載</a:t>
            </a:r>
            <a:r>
              <a:rPr kumimoji="1" lang="en-US" altLang="ja-JP" sz="2800" dirty="0"/>
              <a:t>)</a:t>
            </a:r>
            <a:endParaRPr kumimoji="1" lang="ja-JP" altLang="en-US" sz="2800" dirty="0"/>
          </a:p>
        </p:txBody>
      </p:sp>
      <p:cxnSp>
        <p:nvCxnSpPr>
          <p:cNvPr id="9" name="直線矢印コネクタ 8">
            <a:extLst>
              <a:ext uri="{FF2B5EF4-FFF2-40B4-BE49-F238E27FC236}">
                <a16:creationId xmlns:a16="http://schemas.microsoft.com/office/drawing/2014/main" id="{ACDEB9B8-83A8-80F9-5FB7-7C1E1C30A774}"/>
              </a:ext>
            </a:extLst>
          </p:cNvPr>
          <p:cNvCxnSpPr>
            <a:cxnSpLocks/>
          </p:cNvCxnSpPr>
          <p:nvPr/>
        </p:nvCxnSpPr>
        <p:spPr>
          <a:xfrm flipV="1">
            <a:off x="6477802" y="2945331"/>
            <a:ext cx="789272" cy="28779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C7851504-8223-4402-649F-0A499CB5B143}"/>
              </a:ext>
            </a:extLst>
          </p:cNvPr>
          <p:cNvCxnSpPr>
            <a:cxnSpLocks/>
          </p:cNvCxnSpPr>
          <p:nvPr/>
        </p:nvCxnSpPr>
        <p:spPr>
          <a:xfrm flipV="1">
            <a:off x="6477802" y="5091764"/>
            <a:ext cx="789272" cy="7315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DC680091-1248-7859-2D31-5B114D988D67}"/>
              </a:ext>
            </a:extLst>
          </p:cNvPr>
          <p:cNvSpPr txBox="1"/>
          <p:nvPr/>
        </p:nvSpPr>
        <p:spPr>
          <a:xfrm>
            <a:off x="1636297" y="5996539"/>
            <a:ext cx="7113068" cy="646331"/>
          </a:xfrm>
          <a:prstGeom prst="rect">
            <a:avLst/>
          </a:prstGeom>
          <a:noFill/>
        </p:spPr>
        <p:txBody>
          <a:bodyPr wrap="square" rtlCol="0">
            <a:spAutoFit/>
          </a:bodyPr>
          <a:lstStyle/>
          <a:p>
            <a:r>
              <a:rPr lang="en-US" altLang="ja-JP" dirty="0"/>
              <a:t>Proposition3.1</a:t>
            </a:r>
            <a:r>
              <a:rPr lang="ja-JP" altLang="en-US" dirty="0"/>
              <a:t>などを顧みると、この</a:t>
            </a:r>
            <a:r>
              <a:rPr lang="en-US" altLang="ja-JP" dirty="0"/>
              <a:t>while</a:t>
            </a:r>
            <a:r>
              <a:rPr lang="ja-JP" altLang="en-US" dirty="0"/>
              <a:t>は要らないと思われる</a:t>
            </a:r>
            <a:endParaRPr lang="en-US" altLang="ja-JP" dirty="0"/>
          </a:p>
          <a:p>
            <a:r>
              <a:rPr lang="en-US" altLang="ja-JP" dirty="0"/>
              <a:t>(</a:t>
            </a:r>
            <a:r>
              <a:rPr lang="ja-JP" altLang="en-US" dirty="0"/>
              <a:t>命題を顧みなくても</a:t>
            </a:r>
            <a:r>
              <a:rPr lang="en-US" altLang="ja-JP" dirty="0"/>
              <a:t>while</a:t>
            </a:r>
            <a:r>
              <a:rPr lang="ja-JP" altLang="en-US" dirty="0"/>
              <a:t>の変数が</a:t>
            </a:r>
            <a:r>
              <a:rPr lang="en-US" altLang="ja-JP" dirty="0"/>
              <a:t>increment</a:t>
            </a:r>
            <a:r>
              <a:rPr lang="ja-JP" altLang="en-US" dirty="0"/>
              <a:t>されていないので変</a:t>
            </a:r>
            <a:r>
              <a:rPr lang="en-US" altLang="ja-JP" dirty="0"/>
              <a:t>)</a:t>
            </a:r>
            <a:endParaRPr kumimoji="1" lang="ja-JP" altLang="en-US" dirty="0"/>
          </a:p>
        </p:txBody>
      </p:sp>
      <p:sp>
        <p:nvSpPr>
          <p:cNvPr id="15" name="左中かっこ 14">
            <a:extLst>
              <a:ext uri="{FF2B5EF4-FFF2-40B4-BE49-F238E27FC236}">
                <a16:creationId xmlns:a16="http://schemas.microsoft.com/office/drawing/2014/main" id="{DD74DC91-2127-4FC5-B768-0ED6487EFE51}"/>
              </a:ext>
            </a:extLst>
          </p:cNvPr>
          <p:cNvSpPr/>
          <p:nvPr/>
        </p:nvSpPr>
        <p:spPr>
          <a:xfrm>
            <a:off x="642438" y="2531262"/>
            <a:ext cx="217760" cy="97901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687F6675-11B1-A9C6-C94F-F43C5DFAC800}"/>
              </a:ext>
            </a:extLst>
          </p:cNvPr>
          <p:cNvSpPr txBox="1"/>
          <p:nvPr/>
        </p:nvSpPr>
        <p:spPr>
          <a:xfrm>
            <a:off x="259882" y="2829827"/>
            <a:ext cx="417102" cy="307777"/>
          </a:xfrm>
          <a:prstGeom prst="rect">
            <a:avLst/>
          </a:prstGeom>
          <a:noFill/>
        </p:spPr>
        <p:txBody>
          <a:bodyPr wrap="none" rtlCol="0">
            <a:spAutoFit/>
          </a:bodyPr>
          <a:lstStyle/>
          <a:p>
            <a:r>
              <a:rPr kumimoji="1" lang="en-US" altLang="ja-JP" sz="1400" dirty="0" err="1"/>
              <a:t>fVI</a:t>
            </a:r>
            <a:endParaRPr kumimoji="1" lang="ja-JP" altLang="en-US" sz="1400" dirty="0"/>
          </a:p>
        </p:txBody>
      </p:sp>
      <p:sp>
        <p:nvSpPr>
          <p:cNvPr id="19" name="左中かっこ 18">
            <a:extLst>
              <a:ext uri="{FF2B5EF4-FFF2-40B4-BE49-F238E27FC236}">
                <a16:creationId xmlns:a16="http://schemas.microsoft.com/office/drawing/2014/main" id="{3DE44B7D-F738-1361-F5DE-47E0942AB67F}"/>
              </a:ext>
            </a:extLst>
          </p:cNvPr>
          <p:cNvSpPr/>
          <p:nvPr/>
        </p:nvSpPr>
        <p:spPr>
          <a:xfrm>
            <a:off x="642438" y="3570790"/>
            <a:ext cx="217760" cy="103677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0A836CDE-C134-9661-8D56-237325BA7F9B}"/>
              </a:ext>
            </a:extLst>
          </p:cNvPr>
          <p:cNvSpPr txBox="1"/>
          <p:nvPr/>
        </p:nvSpPr>
        <p:spPr>
          <a:xfrm>
            <a:off x="228483" y="3497724"/>
            <a:ext cx="268467" cy="1169551"/>
          </a:xfrm>
          <a:prstGeom prst="rect">
            <a:avLst/>
          </a:prstGeom>
          <a:noFill/>
        </p:spPr>
        <p:txBody>
          <a:bodyPr wrap="square" rtlCol="0">
            <a:spAutoFit/>
          </a:bodyPr>
          <a:lstStyle/>
          <a:p>
            <a:r>
              <a:rPr kumimoji="1" lang="en-US" altLang="ja-JP" sz="1400" dirty="0" err="1"/>
              <a:t>fSGLD</a:t>
            </a:r>
            <a:endParaRPr kumimoji="1" lang="ja-JP" altLang="en-US" sz="1400" dirty="0"/>
          </a:p>
        </p:txBody>
      </p:sp>
      <p:sp>
        <p:nvSpPr>
          <p:cNvPr id="21" name="左中かっこ 20">
            <a:extLst>
              <a:ext uri="{FF2B5EF4-FFF2-40B4-BE49-F238E27FC236}">
                <a16:creationId xmlns:a16="http://schemas.microsoft.com/office/drawing/2014/main" id="{4D6F0B36-BF9A-0D60-FC52-6C3825CF1CE6}"/>
              </a:ext>
            </a:extLst>
          </p:cNvPr>
          <p:cNvSpPr/>
          <p:nvPr/>
        </p:nvSpPr>
        <p:spPr>
          <a:xfrm>
            <a:off x="6666477" y="1863365"/>
            <a:ext cx="179102" cy="96646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93753D6-0EFA-3E66-A984-08CF249E0916}"/>
              </a:ext>
            </a:extLst>
          </p:cNvPr>
          <p:cNvSpPr txBox="1"/>
          <p:nvPr/>
        </p:nvSpPr>
        <p:spPr>
          <a:xfrm>
            <a:off x="6283921" y="2161930"/>
            <a:ext cx="417102" cy="307777"/>
          </a:xfrm>
          <a:prstGeom prst="rect">
            <a:avLst/>
          </a:prstGeom>
          <a:noFill/>
        </p:spPr>
        <p:txBody>
          <a:bodyPr wrap="none" rtlCol="0">
            <a:spAutoFit/>
          </a:bodyPr>
          <a:lstStyle/>
          <a:p>
            <a:r>
              <a:rPr kumimoji="1" lang="en-US" altLang="ja-JP" sz="1400" dirty="0" err="1"/>
              <a:t>fVI</a:t>
            </a:r>
            <a:endParaRPr kumimoji="1" lang="ja-JP" altLang="en-US" sz="1400" dirty="0"/>
          </a:p>
        </p:txBody>
      </p:sp>
      <p:sp>
        <p:nvSpPr>
          <p:cNvPr id="23" name="左中かっこ 22">
            <a:extLst>
              <a:ext uri="{FF2B5EF4-FFF2-40B4-BE49-F238E27FC236}">
                <a16:creationId xmlns:a16="http://schemas.microsoft.com/office/drawing/2014/main" id="{E29EE509-62F1-D9C2-5E38-238458CAC837}"/>
              </a:ext>
            </a:extLst>
          </p:cNvPr>
          <p:cNvSpPr/>
          <p:nvPr/>
        </p:nvSpPr>
        <p:spPr>
          <a:xfrm>
            <a:off x="6618324" y="2992355"/>
            <a:ext cx="217760" cy="103677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AB683558-863B-C7C2-6159-7B80F4D8C302}"/>
              </a:ext>
            </a:extLst>
          </p:cNvPr>
          <p:cNvSpPr txBox="1"/>
          <p:nvPr/>
        </p:nvSpPr>
        <p:spPr>
          <a:xfrm>
            <a:off x="6326301" y="2885986"/>
            <a:ext cx="265916" cy="1169551"/>
          </a:xfrm>
          <a:prstGeom prst="rect">
            <a:avLst/>
          </a:prstGeom>
          <a:noFill/>
        </p:spPr>
        <p:txBody>
          <a:bodyPr wrap="square" rtlCol="0">
            <a:spAutoFit/>
          </a:bodyPr>
          <a:lstStyle/>
          <a:p>
            <a:r>
              <a:rPr kumimoji="1" lang="en-US" altLang="ja-JP" sz="1400" dirty="0" err="1"/>
              <a:t>fSGLD</a:t>
            </a:r>
            <a:endParaRPr kumimoji="1" lang="ja-JP" altLang="en-US" sz="1400" dirty="0"/>
          </a:p>
        </p:txBody>
      </p:sp>
      <p:sp>
        <p:nvSpPr>
          <p:cNvPr id="26" name="テキスト ボックス 25">
            <a:extLst>
              <a:ext uri="{FF2B5EF4-FFF2-40B4-BE49-F238E27FC236}">
                <a16:creationId xmlns:a16="http://schemas.microsoft.com/office/drawing/2014/main" id="{7D4D6A49-00AB-7F04-5C4D-DE2FF7B27161}"/>
              </a:ext>
            </a:extLst>
          </p:cNvPr>
          <p:cNvSpPr txBox="1"/>
          <p:nvPr/>
        </p:nvSpPr>
        <p:spPr>
          <a:xfrm>
            <a:off x="43213" y="4799550"/>
            <a:ext cx="755588" cy="523220"/>
          </a:xfrm>
          <a:prstGeom prst="rect">
            <a:avLst/>
          </a:prstGeom>
          <a:noFill/>
        </p:spPr>
        <p:txBody>
          <a:bodyPr wrap="square" rtlCol="0">
            <a:spAutoFit/>
          </a:bodyPr>
          <a:lstStyle/>
          <a:p>
            <a:r>
              <a:rPr lang="ja-JP" altLang="en-US" sz="1400" dirty="0"/>
              <a:t>正規化フロー</a:t>
            </a:r>
            <a:endParaRPr kumimoji="1" lang="ja-JP" altLang="en-US" sz="1400" dirty="0"/>
          </a:p>
        </p:txBody>
      </p:sp>
      <p:sp>
        <p:nvSpPr>
          <p:cNvPr id="27" name="左中かっこ 26">
            <a:extLst>
              <a:ext uri="{FF2B5EF4-FFF2-40B4-BE49-F238E27FC236}">
                <a16:creationId xmlns:a16="http://schemas.microsoft.com/office/drawing/2014/main" id="{A70AA079-C538-50CC-F91D-8D15734EA14F}"/>
              </a:ext>
            </a:extLst>
          </p:cNvPr>
          <p:cNvSpPr/>
          <p:nvPr/>
        </p:nvSpPr>
        <p:spPr>
          <a:xfrm>
            <a:off x="635495" y="4640000"/>
            <a:ext cx="217760" cy="731425"/>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5F68AC04-E4F3-D884-D752-CAF960F51DF9}"/>
              </a:ext>
            </a:extLst>
          </p:cNvPr>
          <p:cNvSpPr txBox="1"/>
          <p:nvPr/>
        </p:nvSpPr>
        <p:spPr>
          <a:xfrm>
            <a:off x="6027599" y="4282077"/>
            <a:ext cx="755588" cy="523220"/>
          </a:xfrm>
          <a:prstGeom prst="rect">
            <a:avLst/>
          </a:prstGeom>
          <a:noFill/>
        </p:spPr>
        <p:txBody>
          <a:bodyPr wrap="square" rtlCol="0">
            <a:spAutoFit/>
          </a:bodyPr>
          <a:lstStyle/>
          <a:p>
            <a:r>
              <a:rPr lang="ja-JP" altLang="en-US" sz="1400" dirty="0"/>
              <a:t>正規化フロー</a:t>
            </a:r>
            <a:endParaRPr kumimoji="1" lang="ja-JP" altLang="en-US" sz="1400" dirty="0"/>
          </a:p>
        </p:txBody>
      </p:sp>
      <p:sp>
        <p:nvSpPr>
          <p:cNvPr id="31" name="左中かっこ 30">
            <a:extLst>
              <a:ext uri="{FF2B5EF4-FFF2-40B4-BE49-F238E27FC236}">
                <a16:creationId xmlns:a16="http://schemas.microsoft.com/office/drawing/2014/main" id="{A7B51108-1D2D-F975-C417-33FDA514F5F3}"/>
              </a:ext>
            </a:extLst>
          </p:cNvPr>
          <p:cNvSpPr/>
          <p:nvPr/>
        </p:nvSpPr>
        <p:spPr>
          <a:xfrm>
            <a:off x="6619881" y="4122527"/>
            <a:ext cx="225698" cy="1036770"/>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159969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BCFD689E-9FB7-B3DF-3F5E-6C0E73179CDF}"/>
              </a:ext>
            </a:extLst>
          </p:cNvPr>
          <p:cNvSpPr txBox="1"/>
          <p:nvPr/>
        </p:nvSpPr>
        <p:spPr>
          <a:xfrm>
            <a:off x="813604" y="501909"/>
            <a:ext cx="7529011" cy="523220"/>
          </a:xfrm>
          <a:prstGeom prst="rect">
            <a:avLst/>
          </a:prstGeom>
          <a:noFill/>
        </p:spPr>
        <p:txBody>
          <a:bodyPr wrap="square" rtlCol="0">
            <a:spAutoFit/>
          </a:bodyPr>
          <a:lstStyle/>
          <a:p>
            <a:r>
              <a:rPr kumimoji="1" lang="en-US" altLang="ja-JP" sz="2800" dirty="0" err="1"/>
              <a:t>fVI</a:t>
            </a:r>
            <a:r>
              <a:rPr kumimoji="1" lang="ja-JP" altLang="en-US" sz="2800" dirty="0"/>
              <a:t>と</a:t>
            </a:r>
            <a:r>
              <a:rPr kumimoji="1" lang="en-US" altLang="ja-JP" sz="2800" dirty="0" err="1"/>
              <a:t>fMCMC</a:t>
            </a:r>
            <a:r>
              <a:rPr kumimoji="1" lang="ja-JP" altLang="en-US" sz="2800" dirty="0"/>
              <a:t>の関係</a:t>
            </a:r>
          </a:p>
        </p:txBody>
      </p:sp>
      <p:pic>
        <p:nvPicPr>
          <p:cNvPr id="4" name="図 3">
            <a:extLst>
              <a:ext uri="{FF2B5EF4-FFF2-40B4-BE49-F238E27FC236}">
                <a16:creationId xmlns:a16="http://schemas.microsoft.com/office/drawing/2014/main" id="{41DE4E79-C071-6653-182E-576BBD68C795}"/>
              </a:ext>
            </a:extLst>
          </p:cNvPr>
          <p:cNvPicPr>
            <a:picLocks noChangeAspect="1"/>
          </p:cNvPicPr>
          <p:nvPr/>
        </p:nvPicPr>
        <p:blipFill>
          <a:blip r:embed="rId2"/>
          <a:stretch>
            <a:fillRect/>
          </a:stretch>
        </p:blipFill>
        <p:spPr>
          <a:xfrm>
            <a:off x="1888688" y="1025129"/>
            <a:ext cx="8115326" cy="781991"/>
          </a:xfrm>
          <a:prstGeom prst="rect">
            <a:avLst/>
          </a:prstGeom>
        </p:spPr>
      </p:pic>
      <p:sp>
        <p:nvSpPr>
          <p:cNvPr id="5" name="テキスト ボックス 4">
            <a:extLst>
              <a:ext uri="{FF2B5EF4-FFF2-40B4-BE49-F238E27FC236}">
                <a16:creationId xmlns:a16="http://schemas.microsoft.com/office/drawing/2014/main" id="{72B2C529-216B-A8E3-0767-0A8813C3F536}"/>
              </a:ext>
            </a:extLst>
          </p:cNvPr>
          <p:cNvSpPr txBox="1"/>
          <p:nvPr/>
        </p:nvSpPr>
        <p:spPr>
          <a:xfrm>
            <a:off x="1091629" y="1834943"/>
            <a:ext cx="10008742" cy="1415772"/>
          </a:xfrm>
          <a:prstGeom prst="rect">
            <a:avLst/>
          </a:prstGeom>
          <a:noFill/>
        </p:spPr>
        <p:txBody>
          <a:bodyPr wrap="square" rtlCol="0">
            <a:spAutoFit/>
          </a:bodyPr>
          <a:lstStyle/>
          <a:p>
            <a:r>
              <a:rPr lang="ja-JP" altLang="en-US" dirty="0"/>
              <a:t>命題 </a:t>
            </a:r>
            <a:r>
              <a:rPr lang="en-US" altLang="ja-JP" dirty="0"/>
              <a:t>3.2.</a:t>
            </a:r>
            <a:endParaRPr kumimoji="1" lang="en-US" altLang="ja-JP" dirty="0"/>
          </a:p>
          <a:p>
            <a:r>
              <a:rPr kumimoji="1" lang="en-US" altLang="ja-JP" dirty="0" err="1"/>
              <a:t>fSGLD</a:t>
            </a:r>
            <a:r>
              <a:rPr kumimoji="1" lang="ja-JP" altLang="en-US" dirty="0"/>
              <a:t>が従う確率微分方程式と</a:t>
            </a:r>
            <a:endParaRPr kumimoji="1" lang="en-US" altLang="ja-JP" dirty="0"/>
          </a:p>
          <a:p>
            <a:r>
              <a:rPr kumimoji="1" lang="en-US" altLang="ja-JP" dirty="0" err="1"/>
              <a:t>fVI</a:t>
            </a:r>
            <a:r>
              <a:rPr lang="ja-JP" altLang="en-US" dirty="0"/>
              <a:t>の目的関数の</a:t>
            </a:r>
            <a:r>
              <a:rPr lang="en-US" altLang="ja-JP" dirty="0"/>
              <a:t>Wasserstein</a:t>
            </a:r>
            <a:r>
              <a:rPr lang="ja-JP" altLang="en-US" dirty="0"/>
              <a:t>勾配流から導出される確率分布の常微分方程式が</a:t>
            </a:r>
            <a:endParaRPr lang="en-US" altLang="ja-JP" dirty="0"/>
          </a:p>
          <a:p>
            <a:r>
              <a:rPr kumimoji="1" lang="ja-JP" altLang="en-US" dirty="0"/>
              <a:t>同じ初期値から始めると、確率測度の時間発展は同じになる</a:t>
            </a:r>
            <a:endParaRPr kumimoji="1" lang="en-US" altLang="ja-JP" dirty="0"/>
          </a:p>
          <a:p>
            <a:r>
              <a:rPr lang="ja-JP" altLang="en-US" sz="1400" dirty="0"/>
              <a:t>　→ 今回の提案手法のような</a:t>
            </a:r>
            <a:r>
              <a:rPr lang="en-US" altLang="ja-JP" sz="1400" dirty="0"/>
              <a:t>V-stage</a:t>
            </a:r>
            <a:r>
              <a:rPr lang="ja-JP" altLang="en-US" sz="1400" dirty="0"/>
              <a:t>の結果を初期値として</a:t>
            </a:r>
            <a:r>
              <a:rPr lang="en-US" altLang="ja-JP" sz="1400" dirty="0"/>
              <a:t>M-stage</a:t>
            </a:r>
            <a:r>
              <a:rPr lang="ja-JP" altLang="en-US" sz="1400" dirty="0"/>
              <a:t>を始めても事後確率測度からのサンプリングはできる</a:t>
            </a:r>
            <a:endParaRPr kumimoji="1" lang="ja-JP" altLang="en-US" sz="1400" dirty="0"/>
          </a:p>
        </p:txBody>
      </p:sp>
      <p:pic>
        <p:nvPicPr>
          <p:cNvPr id="15" name="図 14">
            <a:extLst>
              <a:ext uri="{FF2B5EF4-FFF2-40B4-BE49-F238E27FC236}">
                <a16:creationId xmlns:a16="http://schemas.microsoft.com/office/drawing/2014/main" id="{3B8A8DC8-C189-EC0C-791C-55D297B4819C}"/>
              </a:ext>
            </a:extLst>
          </p:cNvPr>
          <p:cNvPicPr>
            <a:picLocks noChangeAspect="1"/>
          </p:cNvPicPr>
          <p:nvPr/>
        </p:nvPicPr>
        <p:blipFill>
          <a:blip r:embed="rId3"/>
          <a:stretch>
            <a:fillRect/>
          </a:stretch>
        </p:blipFill>
        <p:spPr>
          <a:xfrm>
            <a:off x="1287409" y="3607286"/>
            <a:ext cx="6284645" cy="2959933"/>
          </a:xfrm>
          <a:prstGeom prst="rect">
            <a:avLst/>
          </a:prstGeom>
        </p:spPr>
      </p:pic>
      <p:sp>
        <p:nvSpPr>
          <p:cNvPr id="8" name="テキスト ボックス 7">
            <a:extLst>
              <a:ext uri="{FF2B5EF4-FFF2-40B4-BE49-F238E27FC236}">
                <a16:creationId xmlns:a16="http://schemas.microsoft.com/office/drawing/2014/main" id="{67C6E059-4FA7-2801-DB40-D6E800804E39}"/>
              </a:ext>
            </a:extLst>
          </p:cNvPr>
          <p:cNvSpPr txBox="1"/>
          <p:nvPr/>
        </p:nvSpPr>
        <p:spPr>
          <a:xfrm>
            <a:off x="7572054" y="4263775"/>
            <a:ext cx="4089116" cy="646331"/>
          </a:xfrm>
          <a:prstGeom prst="rect">
            <a:avLst/>
          </a:prstGeom>
          <a:noFill/>
        </p:spPr>
        <p:txBody>
          <a:bodyPr wrap="square" rtlCol="0">
            <a:spAutoFit/>
          </a:bodyPr>
          <a:lstStyle/>
          <a:p>
            <a:r>
              <a:rPr kumimoji="1" lang="ja-JP" altLang="en-US" dirty="0"/>
              <a:t>←</a:t>
            </a:r>
            <a:r>
              <a:rPr lang="en-US" altLang="ja-JP" dirty="0"/>
              <a:t> </a:t>
            </a:r>
            <a:r>
              <a:rPr lang="en-US" altLang="ja-JP" dirty="0" err="1"/>
              <a:t>fSGLD</a:t>
            </a:r>
            <a:r>
              <a:rPr lang="ja-JP" altLang="en-US" dirty="0"/>
              <a:t>と</a:t>
            </a:r>
            <a:r>
              <a:rPr lang="en-US" altLang="ja-JP" dirty="0" err="1"/>
              <a:t>fVI</a:t>
            </a:r>
            <a:r>
              <a:rPr lang="ja-JP" altLang="en-US" dirty="0"/>
              <a:t>の時間発展</a:t>
            </a:r>
            <a:endParaRPr lang="en-US" altLang="ja-JP" dirty="0"/>
          </a:p>
          <a:p>
            <a:r>
              <a:rPr kumimoji="1" lang="ja-JP" altLang="en-US" dirty="0"/>
              <a:t>それぞれ</a:t>
            </a:r>
            <a:r>
              <a:rPr kumimoji="1" lang="en-US" altLang="ja-JP" dirty="0"/>
              <a:t>Target</a:t>
            </a:r>
            <a:r>
              <a:rPr kumimoji="1" lang="ja-JP" altLang="en-US" dirty="0"/>
              <a:t>に徐々に近づいている</a:t>
            </a:r>
          </a:p>
        </p:txBody>
      </p:sp>
    </p:spTree>
    <p:extLst>
      <p:ext uri="{BB962C8B-B14F-4D97-AF65-F5344CB8AC3E}">
        <p14:creationId xmlns:p14="http://schemas.microsoft.com/office/powerpoint/2010/main" val="1506961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57A9E35-654B-ED79-4D12-33458808E484}"/>
                  </a:ext>
                </a:extLst>
              </p:cNvPr>
              <p:cNvSpPr txBox="1"/>
              <p:nvPr/>
            </p:nvSpPr>
            <p:spPr>
              <a:xfrm>
                <a:off x="608743" y="576864"/>
                <a:ext cx="10489914" cy="3592587"/>
              </a:xfrm>
              <a:prstGeom prst="rect">
                <a:avLst/>
              </a:prstGeom>
              <a:noFill/>
            </p:spPr>
            <p:txBody>
              <a:bodyPr wrap="square" rtlCol="0">
                <a:spAutoFit/>
              </a:bodyPr>
              <a:lstStyle/>
              <a:p>
                <a:r>
                  <a:rPr kumimoji="1" lang="ja-JP" altLang="en-US" dirty="0"/>
                  <a:t>証明概要</a:t>
                </a:r>
                <a:r>
                  <a:rPr kumimoji="1" lang="en-US" altLang="ja-JP" dirty="0"/>
                  <a:t>: </a:t>
                </a:r>
                <a:r>
                  <a:rPr lang="ja-JP" altLang="en-US" sz="1600" dirty="0"/>
                  <a:t>この論文を読むだけだと、あまり分からなかった</a:t>
                </a:r>
                <a:r>
                  <a:rPr lang="en-US" altLang="ja-JP" sz="1600" dirty="0"/>
                  <a:t>, Yi, </a:t>
                </a:r>
                <a:r>
                  <a:rPr lang="en-US" altLang="ja-JP" sz="1600" dirty="0" err="1"/>
                  <a:t>Mingxuan</a:t>
                </a:r>
                <a:r>
                  <a:rPr lang="en-US" altLang="ja-JP" sz="1600" dirty="0"/>
                  <a:t>, and Song Liu. "Bridging the gap between variational inference and </a:t>
                </a:r>
                <a:r>
                  <a:rPr lang="en-US" altLang="ja-JP" sz="1600" dirty="0" err="1"/>
                  <a:t>wasserstein</a:t>
                </a:r>
                <a:r>
                  <a:rPr lang="en-US" altLang="ja-JP" sz="1600" dirty="0"/>
                  <a:t> gradient flows.“, 2023. </a:t>
                </a:r>
                <a:r>
                  <a:rPr lang="ja-JP" altLang="en-US" sz="1600" dirty="0"/>
                  <a:t>の結果をベースに説明が書いてあって、まだ読めていない</a:t>
                </a:r>
                <a:r>
                  <a:rPr lang="en-US" altLang="ja-JP" sz="1600" dirty="0"/>
                  <a:t>, </a:t>
                </a:r>
                <a:r>
                  <a:rPr lang="ja-JP" altLang="en-US" sz="1600" dirty="0"/>
                  <a:t>分かる範囲で説明</a:t>
                </a:r>
                <a:r>
                  <a:rPr lang="en-US" altLang="ja-JP" sz="1600" dirty="0"/>
                  <a:t>(</a:t>
                </a:r>
                <a:r>
                  <a:rPr lang="ja-JP" altLang="en-US" sz="1600" dirty="0"/>
                  <a:t>自信がない部分は</a:t>
                </a:r>
                <a:r>
                  <a:rPr lang="ja-JP" altLang="en-US" sz="1600" dirty="0">
                    <a:solidFill>
                      <a:srgbClr val="FF0000"/>
                    </a:solidFill>
                  </a:rPr>
                  <a:t>「らしい」</a:t>
                </a:r>
                <a:r>
                  <a:rPr lang="ja-JP" altLang="en-US" sz="1600" dirty="0"/>
                  <a:t>と記述</a:t>
                </a:r>
                <a:r>
                  <a:rPr lang="en-US" altLang="ja-JP" sz="1600" dirty="0"/>
                  <a:t>)</a:t>
                </a:r>
              </a:p>
              <a:p>
                <a:endParaRPr kumimoji="1" lang="en-US" altLang="ja-JP" dirty="0"/>
              </a:p>
              <a:p>
                <a:endParaRPr kumimoji="1" lang="en-US" altLang="ja-JP" dirty="0"/>
              </a:p>
              <a:p>
                <a:r>
                  <a:rPr kumimoji="1" lang="ja-JP" altLang="en-US" sz="1600" dirty="0"/>
                  <a:t>ある汎関数</a:t>
                </a:r>
                <a14:m>
                  <m:oMath xmlns:m="http://schemas.openxmlformats.org/officeDocument/2006/math">
                    <m:r>
                      <a:rPr kumimoji="1" lang="en-US" altLang="ja-JP" sz="1600" b="0" i="1" smtClean="0">
                        <a:latin typeface="Cambria Math" panose="02040503050406030204" pitchFamily="18" charset="0"/>
                      </a:rPr>
                      <m:t>𝐹</m:t>
                    </m:r>
                    <m:r>
                      <a:rPr kumimoji="1" lang="en-US" altLang="ja-JP" sz="1600" b="0" i="1" smtClean="0">
                        <a:latin typeface="Cambria Math" panose="02040503050406030204" pitchFamily="18" charset="0"/>
                      </a:rPr>
                      <m:t>:</m:t>
                    </m:r>
                    <m:r>
                      <a:rPr kumimoji="1" lang="en-US" altLang="ja-JP" sz="1600" b="0" i="1" smtClean="0">
                        <a:latin typeface="Cambria Math" panose="02040503050406030204" pitchFamily="18" charset="0"/>
                      </a:rPr>
                      <m:t>𝑃</m:t>
                    </m:r>
                    <m:d>
                      <m:dPr>
                        <m:ctrlPr>
                          <a:rPr kumimoji="1" lang="en-US" altLang="ja-JP" sz="1600" b="0" i="1" smtClean="0">
                            <a:latin typeface="Cambria Math" panose="02040503050406030204" pitchFamily="18" charset="0"/>
                          </a:rPr>
                        </m:ctrlPr>
                      </m:dPr>
                      <m:e>
                        <m:r>
                          <m:rPr>
                            <m:sty m:val="p"/>
                          </m:rPr>
                          <a:rPr kumimoji="1" lang="en-US" altLang="ja-JP" sz="1600" b="0" i="0" smtClean="0">
                            <a:latin typeface="Cambria Math" panose="02040503050406030204" pitchFamily="18" charset="0"/>
                          </a:rPr>
                          <m:t>Ω</m:t>
                        </m:r>
                      </m:e>
                    </m:d>
                    <m:r>
                      <a:rPr kumimoji="1" lang="en-US" altLang="ja-JP" sz="1600" b="0" i="1" smtClean="0">
                        <a:latin typeface="Cambria Math" panose="02040503050406030204" pitchFamily="18" charset="0"/>
                      </a:rPr>
                      <m:t>→</m:t>
                    </m:r>
                    <m:r>
                      <a:rPr kumimoji="1" lang="en-US" altLang="ja-JP" sz="1600" b="0" i="1" smtClean="0">
                        <a:latin typeface="Cambria Math" panose="02040503050406030204" pitchFamily="18" charset="0"/>
                      </a:rPr>
                      <m:t>ℝ</m:t>
                    </m:r>
                  </m:oMath>
                </a14:m>
                <a:r>
                  <a:rPr kumimoji="1" lang="en-US" altLang="ja-JP" sz="1600" dirty="0"/>
                  <a:t>, </a:t>
                </a:r>
                <a:r>
                  <a:rPr kumimoji="1" lang="ja-JP" altLang="en-US" sz="1600" dirty="0"/>
                  <a:t>に対して、</a:t>
                </a:r>
                <a:r>
                  <a:rPr kumimoji="1" lang="en-US" altLang="ja-JP" sz="1600" dirty="0"/>
                  <a:t>Wasserstein</a:t>
                </a:r>
                <a:r>
                  <a:rPr kumimoji="1" lang="ja-JP" altLang="en-US" sz="1600" dirty="0"/>
                  <a:t>勾配流に従う</a:t>
                </a:r>
                <a:r>
                  <a:rPr lang="ja-JP" altLang="en-US" sz="1600" dirty="0"/>
                  <a:t>曲線</a:t>
                </a:r>
                <a14:m>
                  <m:oMath xmlns:m="http://schemas.openxmlformats.org/officeDocument/2006/math">
                    <m:r>
                      <a:rPr lang="en-US" altLang="ja-JP" sz="1600" b="0" i="1" smtClean="0">
                        <a:latin typeface="Cambria Math" panose="02040503050406030204" pitchFamily="18" charset="0"/>
                      </a:rPr>
                      <m:t>{</m:t>
                    </m:r>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𝑞</m:t>
                        </m:r>
                      </m:e>
                      <m:sub>
                        <m:r>
                          <a:rPr lang="en-US" altLang="ja-JP" sz="1600" b="0" i="1" smtClean="0">
                            <a:latin typeface="Cambria Math" panose="02040503050406030204" pitchFamily="18" charset="0"/>
                          </a:rPr>
                          <m:t>𝑡</m:t>
                        </m:r>
                      </m:sub>
                    </m:sSub>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𝑥</m:t>
                    </m:r>
                    <m:r>
                      <a:rPr lang="en-US" altLang="ja-JP" sz="1600" b="0" i="1" smtClean="0">
                        <a:latin typeface="Cambria Math" panose="02040503050406030204" pitchFamily="18" charset="0"/>
                      </a:rPr>
                      <m:t>)|</m:t>
                    </m:r>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𝑞</m:t>
                        </m:r>
                      </m:e>
                      <m:sub>
                        <m:r>
                          <a:rPr lang="en-US" altLang="ja-JP" sz="1600" b="0" i="1" smtClean="0">
                            <a:latin typeface="Cambria Math" panose="02040503050406030204" pitchFamily="18" charset="0"/>
                          </a:rPr>
                          <m:t>𝑡</m:t>
                        </m:r>
                      </m:sub>
                    </m:sSub>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𝑥</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𝑃</m:t>
                    </m:r>
                    <m:r>
                      <a:rPr lang="en-US" altLang="ja-JP" sz="1600" b="0" i="1" smtClean="0">
                        <a:latin typeface="Cambria Math" panose="02040503050406030204" pitchFamily="18" charset="0"/>
                      </a:rPr>
                      <m:t>(</m:t>
                    </m:r>
                    <m:r>
                      <m:rPr>
                        <m:sty m:val="p"/>
                      </m:rPr>
                      <a:rPr lang="en-US" altLang="ja-JP" sz="1600" b="0" i="0" smtClean="0">
                        <a:latin typeface="Cambria Math" panose="02040503050406030204" pitchFamily="18" charset="0"/>
                      </a:rPr>
                      <m:t>Ω</m:t>
                    </m:r>
                    <m:r>
                      <a:rPr lang="en-US" altLang="ja-JP" sz="1600" b="0" i="1" smtClean="0">
                        <a:latin typeface="Cambria Math" panose="02040503050406030204" pitchFamily="18" charset="0"/>
                      </a:rPr>
                      <m:t>)}</m:t>
                    </m:r>
                  </m:oMath>
                </a14:m>
                <a:r>
                  <a:rPr kumimoji="1" lang="ja-JP" altLang="en-US" sz="1600" dirty="0"/>
                  <a:t>は</a:t>
                </a:r>
                <a:endParaRPr kumimoji="1" lang="en-US" altLang="ja-JP" sz="1600" dirty="0"/>
              </a:p>
              <a:p>
                <a:pPr/>
                <a14:m>
                  <m:oMathPara xmlns:m="http://schemas.openxmlformats.org/officeDocument/2006/math">
                    <m:oMathParaPr>
                      <m:jc m:val="centerGroup"/>
                    </m:oMathParaPr>
                    <m:oMath xmlns:m="http://schemas.openxmlformats.org/officeDocument/2006/math">
                      <m:f>
                        <m:fPr>
                          <m:ctrlPr>
                            <a:rPr kumimoji="1" lang="en-US" altLang="ja-JP" sz="1600" i="1" smtClean="0">
                              <a:latin typeface="Cambria Math" panose="02040503050406030204" pitchFamily="18" charset="0"/>
                            </a:rPr>
                          </m:ctrlPr>
                        </m:fPr>
                        <m:num>
                          <m:r>
                            <a:rPr kumimoji="1" lang="en-US" altLang="ja-JP" sz="1600" i="1" smtClean="0">
                              <a:latin typeface="Cambria Math" panose="02040503050406030204" pitchFamily="18" charset="0"/>
                            </a:rPr>
                            <m:t>𝜕</m:t>
                          </m:r>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𝑞</m:t>
                              </m:r>
                            </m:e>
                            <m:sub>
                              <m:r>
                                <a:rPr kumimoji="1" lang="en-US" altLang="ja-JP" sz="1600" b="0" i="1" smtClean="0">
                                  <a:latin typeface="Cambria Math" panose="02040503050406030204" pitchFamily="18" charset="0"/>
                                </a:rPr>
                                <m:t>𝑡</m:t>
                              </m:r>
                            </m:sub>
                          </m:sSub>
                        </m:num>
                        <m:den>
                          <m:r>
                            <a:rPr kumimoji="1" lang="en-US" altLang="ja-JP" sz="1600" i="1" smtClean="0">
                              <a:latin typeface="Cambria Math" panose="02040503050406030204" pitchFamily="18" charset="0"/>
                            </a:rPr>
                            <m:t>𝜕</m:t>
                          </m:r>
                          <m:r>
                            <a:rPr kumimoji="1" lang="en-US" altLang="ja-JP" sz="1600" b="0" i="1" smtClean="0">
                              <a:latin typeface="Cambria Math" panose="02040503050406030204" pitchFamily="18" charset="0"/>
                            </a:rPr>
                            <m:t>𝑡</m:t>
                          </m:r>
                        </m:den>
                      </m:f>
                      <m:r>
                        <a:rPr kumimoji="1" lang="en-US" altLang="ja-JP" sz="1600" b="0" i="0" smtClean="0">
                          <a:latin typeface="Cambria Math" panose="02040503050406030204" pitchFamily="18" charset="0"/>
                        </a:rPr>
                        <m:t>=</m:t>
                      </m:r>
                      <m:sSub>
                        <m:sSubPr>
                          <m:ctrlPr>
                            <a:rPr kumimoji="1" lang="en-US" altLang="ja-JP" sz="1600" b="0" i="1" smtClean="0">
                              <a:latin typeface="Cambria Math" panose="02040503050406030204" pitchFamily="18" charset="0"/>
                            </a:rPr>
                          </m:ctrlPr>
                        </m:sSubPr>
                        <m:e>
                          <m:r>
                            <m:rPr>
                              <m:sty m:val="p"/>
                            </m:rPr>
                            <a:rPr kumimoji="1" lang="en-US" altLang="ja-JP" sz="1600" b="0" i="0" smtClean="0">
                              <a:latin typeface="Cambria Math" panose="02040503050406030204" pitchFamily="18" charset="0"/>
                            </a:rPr>
                            <m:t>∇</m:t>
                          </m:r>
                        </m:e>
                        <m:sub>
                          <m:r>
                            <m:rPr>
                              <m:sty m:val="p"/>
                            </m:rPr>
                            <a:rPr kumimoji="1" lang="en-US" altLang="ja-JP" sz="1600" b="0" i="0" smtClean="0">
                              <a:latin typeface="Cambria Math" panose="02040503050406030204" pitchFamily="18" charset="0"/>
                            </a:rPr>
                            <m:t>x</m:t>
                          </m:r>
                        </m:sub>
                      </m:sSub>
                      <m:d>
                        <m:dPr>
                          <m:ctrlPr>
                            <a:rPr kumimoji="1" lang="en-US" altLang="ja-JP" sz="1600" b="0" i="1" smtClean="0">
                              <a:latin typeface="Cambria Math" panose="02040503050406030204" pitchFamily="18" charset="0"/>
                            </a:rPr>
                          </m:ctrlPr>
                        </m:dPr>
                        <m:e>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𝑞</m:t>
                              </m:r>
                            </m:e>
                            <m:sub>
                              <m:r>
                                <a:rPr kumimoji="1" lang="en-US" altLang="ja-JP" sz="1600" b="0" i="1" smtClean="0">
                                  <a:latin typeface="Cambria Math" panose="02040503050406030204" pitchFamily="18" charset="0"/>
                                </a:rPr>
                                <m:t>𝑡</m:t>
                              </m:r>
                            </m:sub>
                          </m:sSub>
                          <m:sSub>
                            <m:sSubPr>
                              <m:ctrlPr>
                                <a:rPr kumimoji="1" lang="en-US" altLang="ja-JP" sz="1600" b="0" i="1" smtClean="0">
                                  <a:latin typeface="Cambria Math" panose="02040503050406030204" pitchFamily="18" charset="0"/>
                                </a:rPr>
                              </m:ctrlPr>
                            </m:sSubPr>
                            <m:e>
                              <m:r>
                                <m:rPr>
                                  <m:sty m:val="p"/>
                                </m:rPr>
                                <a:rPr kumimoji="1" lang="en-US" altLang="ja-JP" sz="1600" b="0" i="0" smtClean="0">
                                  <a:latin typeface="Cambria Math" panose="02040503050406030204" pitchFamily="18" charset="0"/>
                                </a:rPr>
                                <m:t>∇</m:t>
                              </m:r>
                            </m:e>
                            <m:sub>
                              <m:r>
                                <a:rPr kumimoji="1" lang="en-US" altLang="ja-JP" sz="1600" b="0" i="1" smtClean="0">
                                  <a:latin typeface="Cambria Math" panose="02040503050406030204" pitchFamily="18" charset="0"/>
                                </a:rPr>
                                <m:t>𝑥</m:t>
                              </m:r>
                            </m:sub>
                          </m:sSub>
                          <m:f>
                            <m:fPr>
                              <m:ctrlPr>
                                <a:rPr kumimoji="1" lang="en-US" altLang="ja-JP" sz="1600" b="0" i="1" smtClean="0">
                                  <a:latin typeface="Cambria Math" panose="02040503050406030204" pitchFamily="18" charset="0"/>
                                </a:rPr>
                              </m:ctrlPr>
                            </m:fPr>
                            <m:num>
                              <m:r>
                                <a:rPr kumimoji="1" lang="en-US" altLang="ja-JP" sz="1600" b="0" i="1" smtClean="0">
                                  <a:latin typeface="Cambria Math" panose="02040503050406030204" pitchFamily="18" charset="0"/>
                                </a:rPr>
                                <m:t>𝛿</m:t>
                              </m:r>
                              <m:r>
                                <a:rPr kumimoji="1" lang="en-US" altLang="ja-JP" sz="1600" b="0" i="1" smtClean="0">
                                  <a:latin typeface="Cambria Math" panose="02040503050406030204" pitchFamily="18" charset="0"/>
                                </a:rPr>
                                <m:t>𝐹</m:t>
                              </m:r>
                              <m:r>
                                <a:rPr kumimoji="1" lang="en-US" altLang="ja-JP" sz="1600" b="0" i="1" smtClean="0">
                                  <a:latin typeface="Cambria Math" panose="02040503050406030204" pitchFamily="18" charset="0"/>
                                </a:rPr>
                                <m:t>(</m:t>
                              </m:r>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𝑞</m:t>
                                  </m:r>
                                </m:e>
                                <m:sub>
                                  <m:r>
                                    <a:rPr kumimoji="1" lang="en-US" altLang="ja-JP" sz="1600" b="0" i="1" smtClean="0">
                                      <a:latin typeface="Cambria Math" panose="02040503050406030204" pitchFamily="18" charset="0"/>
                                    </a:rPr>
                                    <m:t>𝑡</m:t>
                                  </m:r>
                                </m:sub>
                              </m:sSub>
                              <m:r>
                                <a:rPr kumimoji="1" lang="en-US" altLang="ja-JP" sz="1600" b="0" i="1" smtClean="0">
                                  <a:latin typeface="Cambria Math" panose="02040503050406030204" pitchFamily="18" charset="0"/>
                                </a:rPr>
                                <m:t>)</m:t>
                              </m:r>
                            </m:num>
                            <m:den>
                              <m:r>
                                <a:rPr kumimoji="1" lang="en-US" altLang="ja-JP" sz="1600" b="0" i="1" smtClean="0">
                                  <a:latin typeface="Cambria Math" panose="02040503050406030204" pitchFamily="18" charset="0"/>
                                </a:rPr>
                                <m:t>𝛿</m:t>
                              </m:r>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𝑞</m:t>
                                  </m:r>
                                </m:e>
                                <m:sub>
                                  <m:r>
                                    <a:rPr kumimoji="1" lang="en-US" altLang="ja-JP" sz="1600" b="0" i="1" smtClean="0">
                                      <a:latin typeface="Cambria Math" panose="02040503050406030204" pitchFamily="18" charset="0"/>
                                    </a:rPr>
                                    <m:t>𝑡</m:t>
                                  </m:r>
                                </m:sub>
                              </m:sSub>
                            </m:den>
                          </m:f>
                        </m:e>
                      </m:d>
                    </m:oMath>
                  </m:oMathPara>
                </a14:m>
                <a:endParaRPr kumimoji="1" lang="en-US" altLang="ja-JP" sz="1600" dirty="0"/>
              </a:p>
              <a:p>
                <a:r>
                  <a:rPr kumimoji="1" lang="ja-JP" altLang="en-US" sz="1600" dirty="0"/>
                  <a:t>で表せる</a:t>
                </a:r>
                <a:r>
                  <a:rPr kumimoji="1" lang="en-US" altLang="ja-JP" sz="1600" dirty="0"/>
                  <a:t>(</a:t>
                </a:r>
                <a14:m>
                  <m:oMath xmlns:m="http://schemas.openxmlformats.org/officeDocument/2006/math">
                    <m:f>
                      <m:fPr>
                        <m:ctrlPr>
                          <a:rPr kumimoji="1" lang="en-US" altLang="ja-JP" sz="1600" b="0" i="1" smtClean="0">
                            <a:latin typeface="Cambria Math" panose="02040503050406030204" pitchFamily="18" charset="0"/>
                          </a:rPr>
                        </m:ctrlPr>
                      </m:fPr>
                      <m:num>
                        <m:r>
                          <a:rPr kumimoji="1" lang="en-US" altLang="ja-JP" sz="1600" b="0" i="1" smtClean="0">
                            <a:latin typeface="Cambria Math" panose="02040503050406030204" pitchFamily="18" charset="0"/>
                          </a:rPr>
                          <m:t>𝛿</m:t>
                        </m:r>
                        <m:r>
                          <a:rPr kumimoji="1" lang="en-US" altLang="ja-JP" sz="1600" b="0" i="1" smtClean="0">
                            <a:latin typeface="Cambria Math" panose="02040503050406030204" pitchFamily="18" charset="0"/>
                          </a:rPr>
                          <m:t>𝐹</m:t>
                        </m:r>
                        <m:r>
                          <a:rPr kumimoji="1" lang="en-US" altLang="ja-JP" sz="1600" b="0" i="1" smtClean="0">
                            <a:latin typeface="Cambria Math" panose="02040503050406030204" pitchFamily="18" charset="0"/>
                          </a:rPr>
                          <m:t>(</m:t>
                        </m:r>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𝑞</m:t>
                            </m:r>
                          </m:e>
                          <m:sub>
                            <m:r>
                              <a:rPr kumimoji="1" lang="en-US" altLang="ja-JP" sz="1600" b="0" i="1" smtClean="0">
                                <a:latin typeface="Cambria Math" panose="02040503050406030204" pitchFamily="18" charset="0"/>
                              </a:rPr>
                              <m:t>𝑡</m:t>
                            </m:r>
                          </m:sub>
                        </m:sSub>
                        <m:r>
                          <a:rPr kumimoji="1" lang="en-US" altLang="ja-JP" sz="1600" b="0" i="1" smtClean="0">
                            <a:latin typeface="Cambria Math" panose="02040503050406030204" pitchFamily="18" charset="0"/>
                          </a:rPr>
                          <m:t>)</m:t>
                        </m:r>
                      </m:num>
                      <m:den>
                        <m:r>
                          <a:rPr kumimoji="1" lang="en-US" altLang="ja-JP" sz="1600" b="0" i="1" smtClean="0">
                            <a:latin typeface="Cambria Math" panose="02040503050406030204" pitchFamily="18" charset="0"/>
                          </a:rPr>
                          <m:t>𝛿</m:t>
                        </m:r>
                        <m:sSub>
                          <m:sSubPr>
                            <m:ctrlPr>
                              <a:rPr kumimoji="1" lang="en-US" altLang="ja-JP" sz="1600" b="0" i="1" smtClean="0">
                                <a:latin typeface="Cambria Math" panose="02040503050406030204" pitchFamily="18" charset="0"/>
                              </a:rPr>
                            </m:ctrlPr>
                          </m:sSubPr>
                          <m:e>
                            <m:r>
                              <a:rPr kumimoji="1" lang="en-US" altLang="ja-JP" sz="1600" b="0" i="1" smtClean="0">
                                <a:latin typeface="Cambria Math" panose="02040503050406030204" pitchFamily="18" charset="0"/>
                              </a:rPr>
                              <m:t>𝑞</m:t>
                            </m:r>
                          </m:e>
                          <m:sub>
                            <m:r>
                              <a:rPr kumimoji="1" lang="en-US" altLang="ja-JP" sz="1600" b="0" i="1" smtClean="0">
                                <a:latin typeface="Cambria Math" panose="02040503050406030204" pitchFamily="18" charset="0"/>
                              </a:rPr>
                              <m:t>𝑡</m:t>
                            </m:r>
                          </m:sub>
                        </m:sSub>
                      </m:den>
                    </m:f>
                    <m:r>
                      <a:rPr kumimoji="1" lang="en-US" altLang="ja-JP" sz="1600" b="0" i="1" smtClean="0">
                        <a:latin typeface="Cambria Math" panose="02040503050406030204" pitchFamily="18" charset="0"/>
                      </a:rPr>
                      <m:t> </m:t>
                    </m:r>
                  </m:oMath>
                </a14:m>
                <a:r>
                  <a:rPr kumimoji="1" lang="ja-JP" altLang="en-US" sz="1600" dirty="0"/>
                  <a:t>は汎関数微分</a:t>
                </a:r>
                <a:r>
                  <a:rPr kumimoji="1" lang="en-US" altLang="ja-JP" sz="1600" dirty="0"/>
                  <a:t>)</a:t>
                </a:r>
                <a:r>
                  <a:rPr kumimoji="1" lang="ja-JP" altLang="en-US" sz="1600" dirty="0"/>
                  <a:t>。</a:t>
                </a:r>
                <a:endParaRPr lang="en-US" altLang="ja-JP" sz="1600" dirty="0"/>
              </a:p>
              <a:p>
                <a:r>
                  <a:rPr kumimoji="1" lang="ja-JP" altLang="en-US" sz="1600" dirty="0"/>
                  <a:t>今回の</a:t>
                </a:r>
                <a:r>
                  <a:rPr kumimoji="1" lang="en-US" altLang="ja-JP" sz="1600" dirty="0" err="1"/>
                  <a:t>fVI</a:t>
                </a:r>
                <a:r>
                  <a:rPr lang="ja-JP" altLang="en-US" sz="1600" dirty="0"/>
                  <a:t>の目的関数</a:t>
                </a:r>
                <a:r>
                  <a:rPr lang="en-US" altLang="ja-JP" sz="1600" dirty="0"/>
                  <a:t>(=</a:t>
                </a:r>
                <a:r>
                  <a:rPr lang="ja-JP" altLang="en-US" sz="1600" dirty="0"/>
                  <a:t>近似分布の汎関数</a:t>
                </a:r>
                <a:r>
                  <a:rPr lang="en-US" altLang="ja-JP" sz="1600" dirty="0"/>
                  <a:t>)</a:t>
                </a:r>
                <a:r>
                  <a:rPr lang="ja-JP" altLang="en-US" sz="1600" dirty="0"/>
                  <a:t>を</a:t>
                </a:r>
                <a:r>
                  <a:rPr lang="en-US" altLang="ja-JP" sz="1600" dirty="0"/>
                  <a:t>Wasserstein</a:t>
                </a:r>
                <a:r>
                  <a:rPr lang="ja-JP" altLang="en-US" sz="1600" dirty="0"/>
                  <a:t>勾配流</a:t>
                </a:r>
                <a:r>
                  <a:rPr lang="en-US" altLang="ja-JP" sz="1600" dirty="0"/>
                  <a:t>(=</a:t>
                </a:r>
                <a:r>
                  <a:rPr lang="ja-JP" altLang="en-US" sz="1600" dirty="0"/>
                  <a:t>目的関数の最小化に一致する</a:t>
                </a:r>
                <a:r>
                  <a:rPr lang="ja-JP" altLang="en-US" sz="1600" dirty="0">
                    <a:solidFill>
                      <a:srgbClr val="FF0000"/>
                    </a:solidFill>
                  </a:rPr>
                  <a:t>らしい</a:t>
                </a:r>
                <a:r>
                  <a:rPr lang="en-US" altLang="ja-JP" sz="1600" dirty="0"/>
                  <a:t>, </a:t>
                </a:r>
                <a:r>
                  <a:rPr lang="ja-JP" altLang="en-US" sz="1600" dirty="0"/>
                  <a:t>参考</a:t>
                </a:r>
                <a:r>
                  <a:rPr lang="en-US" altLang="ja-JP" sz="1600" dirty="0"/>
                  <a:t>: Ambrosio, Luigi, Nicola Gigli, and Giuseppe </a:t>
                </a:r>
                <a:r>
                  <a:rPr lang="en-US" altLang="ja-JP" sz="1600" dirty="0" err="1"/>
                  <a:t>Savaré</a:t>
                </a:r>
                <a:r>
                  <a:rPr lang="en-US" altLang="ja-JP" sz="1600" dirty="0"/>
                  <a:t>. ”Gradient flows: in metric spaces and in the space of probability measures”, 2008.)</a:t>
                </a:r>
                <a:r>
                  <a:rPr lang="ja-JP" altLang="en-US" sz="1600" dirty="0"/>
                  <a:t>の形で記述</a:t>
                </a:r>
                <a:r>
                  <a:rPr lang="en-US" altLang="ja-JP" sz="1600" dirty="0"/>
                  <a:t>(</a:t>
                </a:r>
                <a:r>
                  <a:rPr lang="ja-JP" altLang="en-US" sz="1600" dirty="0"/>
                  <a:t>確率密度関数の偏微分方程式</a:t>
                </a:r>
                <a:r>
                  <a:rPr lang="en-US" altLang="ja-JP" sz="1600" dirty="0"/>
                  <a:t>)</a:t>
                </a:r>
                <a:r>
                  <a:rPr lang="ja-JP" altLang="en-US" sz="1600" dirty="0"/>
                  <a:t>して、それを確率微分方程式で表すと、</a:t>
                </a:r>
                <a:r>
                  <a:rPr lang="en-US" altLang="ja-JP" sz="1600" dirty="0" err="1"/>
                  <a:t>fSGLD</a:t>
                </a:r>
                <a:r>
                  <a:rPr lang="ja-JP" altLang="en-US" sz="1600" dirty="0"/>
                  <a:t>が従う確率微分方程式に一致することから成立する</a:t>
                </a:r>
                <a:r>
                  <a:rPr lang="ja-JP" altLang="en-US" sz="1600" dirty="0">
                    <a:solidFill>
                      <a:srgbClr val="FF0000"/>
                    </a:solidFill>
                  </a:rPr>
                  <a:t>らしい</a:t>
                </a:r>
                <a:endParaRPr kumimoji="1" lang="ja-JP" altLang="en-US" sz="1600" dirty="0">
                  <a:solidFill>
                    <a:srgbClr val="FF0000"/>
                  </a:solidFill>
                </a:endParaRPr>
              </a:p>
            </p:txBody>
          </p:sp>
        </mc:Choice>
        <mc:Fallback xmlns="">
          <p:sp>
            <p:nvSpPr>
              <p:cNvPr id="6" name="テキスト ボックス 5">
                <a:extLst>
                  <a:ext uri="{FF2B5EF4-FFF2-40B4-BE49-F238E27FC236}">
                    <a16:creationId xmlns:a16="http://schemas.microsoft.com/office/drawing/2014/main" id="{657A9E35-654B-ED79-4D12-33458808E484}"/>
                  </a:ext>
                </a:extLst>
              </p:cNvPr>
              <p:cNvSpPr txBox="1">
                <a:spLocks noRot="1" noChangeAspect="1" noMove="1" noResize="1" noEditPoints="1" noAdjustHandles="1" noChangeArrowheads="1" noChangeShapeType="1" noTextEdit="1"/>
              </p:cNvSpPr>
              <p:nvPr/>
            </p:nvSpPr>
            <p:spPr>
              <a:xfrm>
                <a:off x="608743" y="576864"/>
                <a:ext cx="10489914" cy="3592587"/>
              </a:xfrm>
              <a:prstGeom prst="rect">
                <a:avLst/>
              </a:prstGeom>
              <a:blipFill>
                <a:blip r:embed="rId2"/>
                <a:stretch>
                  <a:fillRect l="-523" t="-1019" b="-118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96769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13EF3461-B9FF-C27F-1264-5DF31CBDD50F}"/>
              </a:ext>
            </a:extLst>
          </p:cNvPr>
          <p:cNvSpPr txBox="1"/>
          <p:nvPr/>
        </p:nvSpPr>
        <p:spPr>
          <a:xfrm>
            <a:off x="820637" y="329621"/>
            <a:ext cx="10550725" cy="954107"/>
          </a:xfrm>
          <a:prstGeom prst="rect">
            <a:avLst/>
          </a:prstGeom>
          <a:noFill/>
        </p:spPr>
        <p:txBody>
          <a:bodyPr wrap="square" rtlCol="0">
            <a:spAutoFit/>
          </a:bodyPr>
          <a:lstStyle/>
          <a:p>
            <a:r>
              <a:rPr lang="ja-JP" altLang="en-US" sz="2000" dirty="0"/>
              <a:t>納得いかない点</a:t>
            </a:r>
            <a:r>
              <a:rPr lang="en-US" altLang="ja-JP" sz="2000" dirty="0"/>
              <a:t>: </a:t>
            </a:r>
          </a:p>
          <a:p>
            <a:r>
              <a:rPr lang="ja-JP" altLang="en-US" dirty="0"/>
              <a:t>一般的に、変分推論は近似事後分布が得られるが、近似したいもの</a:t>
            </a:r>
            <a:r>
              <a:rPr lang="en-US" altLang="ja-JP" dirty="0"/>
              <a:t>(=MCMC</a:t>
            </a:r>
            <a:r>
              <a:rPr lang="ja-JP" altLang="en-US" dirty="0"/>
              <a:t>のサンプリング元の分布</a:t>
            </a:r>
            <a:r>
              <a:rPr lang="en-US" altLang="ja-JP" dirty="0"/>
              <a:t>)</a:t>
            </a:r>
            <a:r>
              <a:rPr lang="ja-JP" altLang="en-US" dirty="0"/>
              <a:t>と同じものにならないが、同じものが得られると言っているように思える点</a:t>
            </a:r>
            <a:endParaRPr lang="en-US" altLang="ja-JP" dirty="0"/>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A7ACA03E-0091-6B7B-CB49-9C5BD02A841D}"/>
                  </a:ext>
                </a:extLst>
              </p:cNvPr>
              <p:cNvSpPr txBox="1"/>
              <p:nvPr/>
            </p:nvSpPr>
            <p:spPr>
              <a:xfrm>
                <a:off x="943928" y="1415833"/>
                <a:ext cx="11012601" cy="1415772"/>
              </a:xfrm>
              <a:prstGeom prst="rect">
                <a:avLst/>
              </a:prstGeom>
              <a:noFill/>
            </p:spPr>
            <p:txBody>
              <a:bodyPr wrap="square" rtlCol="0">
                <a:spAutoFit/>
              </a:bodyPr>
              <a:lstStyle/>
              <a:p>
                <a:r>
                  <a:rPr kumimoji="1" lang="ja-JP" altLang="en-US" dirty="0"/>
                  <a:t>例</a:t>
                </a:r>
                <a:r>
                  <a:rPr kumimoji="1" lang="en-US" altLang="ja-JP" dirty="0"/>
                  <a:t>: </a:t>
                </a:r>
              </a:p>
              <a:p>
                <a14:m>
                  <m:oMath xmlns:m="http://schemas.openxmlformats.org/officeDocument/2006/math">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𝑏</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r>
                      <a:rPr kumimoji="1" lang="en-US" altLang="ja-JP" b="0" i="0" smtClean="0">
                        <a:latin typeface="Cambria Math" panose="02040503050406030204" pitchFamily="18" charset="0"/>
                      </a:rPr>
                      <m:t>∗</m:t>
                    </m:r>
                    <m:r>
                      <m:rPr>
                        <m:sty m:val="p"/>
                      </m:rPr>
                      <a:rPr kumimoji="1" lang="en-US" altLang="ja-JP" b="0" i="0" smtClean="0">
                        <a:latin typeface="Cambria Math" panose="02040503050406030204" pitchFamily="18" charset="0"/>
                      </a:rPr>
                      <m:t>tanh</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𝑏𝑥</m:t>
                    </m:r>
                    <m:r>
                      <a:rPr kumimoji="1" lang="en-US" altLang="ja-JP" b="0" i="1" smtClean="0">
                        <a:latin typeface="Cambria Math" panose="02040503050406030204" pitchFamily="18" charset="0"/>
                      </a:rPr>
                      <m:t>)</m:t>
                    </m:r>
                  </m:oMath>
                </a14:m>
                <a:r>
                  <a:rPr lang="ja-JP" altLang="en-US" dirty="0"/>
                  <a:t>を考えて、データを生成する真の関数が</a:t>
                </a:r>
                <a14:m>
                  <m:oMath xmlns:m="http://schemas.openxmlformats.org/officeDocument/2006/math">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𝑎</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𝑏</m:t>
                            </m:r>
                          </m:e>
                          <m:sup>
                            <m:r>
                              <a:rPr kumimoji="1" lang="en-US" altLang="ja-JP" b="0" i="1" smtClean="0">
                                <a:latin typeface="Cambria Math" panose="02040503050406030204" pitchFamily="18" charset="0"/>
                              </a:rPr>
                              <m:t>∗</m:t>
                            </m:r>
                          </m:sup>
                        </m:sSup>
                      </m:e>
                    </m:d>
                    <m:r>
                      <a:rPr kumimoji="1" lang="en-US" altLang="ja-JP" b="0" i="1" smtClean="0">
                        <a:latin typeface="Cambria Math" panose="02040503050406030204" pitchFamily="18" charset="0"/>
                      </a:rPr>
                      <m:t>=0</m:t>
                    </m:r>
                  </m:oMath>
                </a14:m>
                <a:r>
                  <a:rPr kumimoji="1" lang="ja-JP" altLang="en-US" dirty="0"/>
                  <a:t>の時、近似したいの事後分布は</a:t>
                </a:r>
                <a14:m>
                  <m:oMath xmlns:m="http://schemas.openxmlformats.org/officeDocument/2006/math">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=0, </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=0</m:t>
                    </m:r>
                  </m:oMath>
                </a14:m>
                <a:r>
                  <a:rPr kumimoji="1" lang="ja-JP" altLang="en-US" dirty="0"/>
                  <a:t>の線上に分布して、正規分布では表現できない</a:t>
                </a:r>
                <a:r>
                  <a:rPr kumimoji="1" lang="en-US" altLang="ja-JP" dirty="0"/>
                  <a:t>(</a:t>
                </a:r>
                <a:r>
                  <a:rPr kumimoji="1" lang="ja-JP" altLang="en-US" dirty="0"/>
                  <a:t>分散が発散する</a:t>
                </a:r>
                <a:r>
                  <a:rPr kumimoji="1" lang="en-US" altLang="ja-JP" dirty="0"/>
                  <a:t>,</a:t>
                </a:r>
                <a:r>
                  <a:rPr kumimoji="1" lang="ja-JP" altLang="en-US" dirty="0"/>
                  <a:t>学習理論の特異論的な話</a:t>
                </a:r>
                <a:r>
                  <a:rPr kumimoji="1" lang="en-US" altLang="ja-JP" dirty="0"/>
                  <a:t>)</a:t>
                </a:r>
              </a:p>
              <a:p>
                <a:r>
                  <a:rPr lang="ja-JP" altLang="en-US" sz="1600" dirty="0"/>
                  <a:t>　→ 関数として</a:t>
                </a:r>
                <a:r>
                  <a:rPr lang="en-US" altLang="ja-JP" sz="1600" dirty="0"/>
                  <a:t>Neural Network</a:t>
                </a:r>
                <a:r>
                  <a:rPr lang="ja-JP" altLang="en-US" sz="1600" dirty="0"/>
                  <a:t>を考えた結果、関数の表現力が高くて関数空間上の分布で見ると何とかなる </a:t>
                </a:r>
                <a:r>
                  <a:rPr lang="en-US" altLang="ja-JP" sz="1600" dirty="0"/>
                  <a:t>or </a:t>
                </a:r>
                <a:r>
                  <a:rPr lang="ja-JP" altLang="en-US" sz="1600" dirty="0"/>
                  <a:t>そもそも関数空間で分布を考えると学習理論の特異論的な問題は発生しない</a:t>
                </a:r>
                <a:r>
                  <a:rPr lang="en-US" altLang="ja-JP" sz="1600" dirty="0"/>
                  <a:t>?</a:t>
                </a:r>
              </a:p>
            </p:txBody>
          </p:sp>
        </mc:Choice>
        <mc:Fallback xmlns="">
          <p:sp>
            <p:nvSpPr>
              <p:cNvPr id="2" name="テキスト ボックス 1">
                <a:extLst>
                  <a:ext uri="{FF2B5EF4-FFF2-40B4-BE49-F238E27FC236}">
                    <a16:creationId xmlns:a16="http://schemas.microsoft.com/office/drawing/2014/main" id="{A7ACA03E-0091-6B7B-CB49-9C5BD02A841D}"/>
                  </a:ext>
                </a:extLst>
              </p:cNvPr>
              <p:cNvSpPr txBox="1">
                <a:spLocks noRot="1" noChangeAspect="1" noMove="1" noResize="1" noEditPoints="1" noAdjustHandles="1" noChangeArrowheads="1" noChangeShapeType="1" noTextEdit="1"/>
              </p:cNvSpPr>
              <p:nvPr/>
            </p:nvSpPr>
            <p:spPr>
              <a:xfrm>
                <a:off x="943928" y="1415833"/>
                <a:ext cx="11012601" cy="1415772"/>
              </a:xfrm>
              <a:prstGeom prst="rect">
                <a:avLst/>
              </a:prstGeom>
              <a:blipFill>
                <a:blip r:embed="rId2"/>
                <a:stretch>
                  <a:fillRect l="-498" t="-2146" r="-443" b="-429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3ABB13B1-9E2E-8583-FFB4-CE57DFB468A7}"/>
                  </a:ext>
                </a:extLst>
              </p:cNvPr>
              <p:cNvSpPr txBox="1"/>
              <p:nvPr/>
            </p:nvSpPr>
            <p:spPr>
              <a:xfrm>
                <a:off x="9175785" y="4518837"/>
                <a:ext cx="3016215" cy="923330"/>
              </a:xfrm>
              <a:prstGeom prst="rect">
                <a:avLst/>
              </a:prstGeom>
              <a:noFill/>
            </p:spPr>
            <p:txBody>
              <a:bodyPr wrap="square" rtlCol="0">
                <a:spAutoFit/>
              </a:bodyPr>
              <a:lstStyle/>
              <a:p>
                <a:r>
                  <a:rPr lang="ja-JP" altLang="en-US" dirty="0"/>
                  <a:t>←</a:t>
                </a:r>
                <a:endParaRPr lang="en-US" altLang="ja-JP" dirty="0"/>
              </a:p>
              <a:p>
                <a14:m>
                  <m:oMath xmlns:m="http://schemas.openxmlformats.org/officeDocument/2006/math">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𝑎</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𝑏</m:t>
                            </m:r>
                          </m:e>
                          <m:sup>
                            <m:r>
                              <a:rPr kumimoji="1" lang="en-US" altLang="ja-JP" b="0" i="1" smtClean="0">
                                <a:latin typeface="Cambria Math" panose="02040503050406030204" pitchFamily="18" charset="0"/>
                              </a:rPr>
                              <m:t>∗</m:t>
                            </m:r>
                          </m:sup>
                        </m:sSup>
                      </m:e>
                    </m:d>
                    <m:r>
                      <a:rPr kumimoji="1" lang="en-US" altLang="ja-JP" b="0" i="1" smtClean="0">
                        <a:latin typeface="Cambria Math" panose="02040503050406030204" pitchFamily="18" charset="0"/>
                      </a:rPr>
                      <m:t>=0</m:t>
                    </m:r>
                  </m:oMath>
                </a14:m>
                <a:r>
                  <a:rPr lang="ja-JP" altLang="en-US" dirty="0"/>
                  <a:t>の</a:t>
                </a:r>
                <a:r>
                  <a:rPr lang="en-US" altLang="ja-JP" dirty="0" err="1"/>
                  <a:t>fSGLD</a:t>
                </a:r>
                <a:r>
                  <a:rPr lang="ja-JP" altLang="en-US" dirty="0"/>
                  <a:t>で得られたサンプリングの例</a:t>
                </a:r>
                <a:endParaRPr kumimoji="1" lang="ja-JP" altLang="en-US" dirty="0"/>
              </a:p>
            </p:txBody>
          </p:sp>
        </mc:Choice>
        <mc:Fallback xmlns="">
          <p:sp>
            <p:nvSpPr>
              <p:cNvPr id="6" name="テキスト ボックス 5">
                <a:extLst>
                  <a:ext uri="{FF2B5EF4-FFF2-40B4-BE49-F238E27FC236}">
                    <a16:creationId xmlns:a16="http://schemas.microsoft.com/office/drawing/2014/main" id="{3ABB13B1-9E2E-8583-FFB4-CE57DFB468A7}"/>
                  </a:ext>
                </a:extLst>
              </p:cNvPr>
              <p:cNvSpPr txBox="1">
                <a:spLocks noRot="1" noChangeAspect="1" noMove="1" noResize="1" noEditPoints="1" noAdjustHandles="1" noChangeArrowheads="1" noChangeShapeType="1" noTextEdit="1"/>
              </p:cNvSpPr>
              <p:nvPr/>
            </p:nvSpPr>
            <p:spPr>
              <a:xfrm>
                <a:off x="9175785" y="4518837"/>
                <a:ext cx="3016215" cy="923330"/>
              </a:xfrm>
              <a:prstGeom prst="rect">
                <a:avLst/>
              </a:prstGeom>
              <a:blipFill>
                <a:blip r:embed="rId3"/>
                <a:stretch>
                  <a:fillRect l="-1616" t="-3289" b="-9211"/>
                </a:stretch>
              </a:blipFill>
            </p:spPr>
            <p:txBody>
              <a:bodyPr/>
              <a:lstStyle/>
              <a:p>
                <a:r>
                  <a:rPr lang="ja-JP" altLang="en-US">
                    <a:noFill/>
                  </a:rPr>
                  <a:t> </a:t>
                </a:r>
              </a:p>
            </p:txBody>
          </p:sp>
        </mc:Fallback>
      </mc:AlternateContent>
      <p:pic>
        <p:nvPicPr>
          <p:cNvPr id="9" name="図 8">
            <a:extLst>
              <a:ext uri="{FF2B5EF4-FFF2-40B4-BE49-F238E27FC236}">
                <a16:creationId xmlns:a16="http://schemas.microsoft.com/office/drawing/2014/main" id="{E93668BD-F33A-0C16-5AA5-7DA3E2B85731}"/>
              </a:ext>
            </a:extLst>
          </p:cNvPr>
          <p:cNvPicPr>
            <a:picLocks noChangeAspect="1"/>
          </p:cNvPicPr>
          <p:nvPr/>
        </p:nvPicPr>
        <p:blipFill>
          <a:blip r:embed="rId4"/>
          <a:stretch>
            <a:fillRect/>
          </a:stretch>
        </p:blipFill>
        <p:spPr>
          <a:xfrm>
            <a:off x="4821864" y="3174715"/>
            <a:ext cx="4377891" cy="3311482"/>
          </a:xfrm>
          <a:prstGeom prst="rect">
            <a:avLst/>
          </a:prstGeom>
        </p:spPr>
      </p:pic>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C8C99A71-BE32-CAF5-EE29-4A3A4794A812}"/>
                  </a:ext>
                </a:extLst>
              </p:cNvPr>
              <p:cNvSpPr txBox="1"/>
              <p:nvPr/>
            </p:nvSpPr>
            <p:spPr>
              <a:xfrm>
                <a:off x="9000149" y="6183248"/>
                <a:ext cx="19960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𝑎</m:t>
                      </m:r>
                    </m:oMath>
                  </m:oMathPara>
                </a14:m>
                <a:endParaRPr kumimoji="1" lang="ja-JP" altLang="en-US" dirty="0"/>
              </a:p>
            </p:txBody>
          </p:sp>
        </mc:Choice>
        <mc:Fallback xmlns="">
          <p:sp>
            <p:nvSpPr>
              <p:cNvPr id="12" name="テキスト ボックス 11">
                <a:extLst>
                  <a:ext uri="{FF2B5EF4-FFF2-40B4-BE49-F238E27FC236}">
                    <a16:creationId xmlns:a16="http://schemas.microsoft.com/office/drawing/2014/main" id="{C8C99A71-BE32-CAF5-EE29-4A3A4794A812}"/>
                  </a:ext>
                </a:extLst>
              </p:cNvPr>
              <p:cNvSpPr txBox="1">
                <a:spLocks noRot="1" noChangeAspect="1" noMove="1" noResize="1" noEditPoints="1" noAdjustHandles="1" noChangeArrowheads="1" noChangeShapeType="1" noTextEdit="1"/>
              </p:cNvSpPr>
              <p:nvPr/>
            </p:nvSpPr>
            <p:spPr>
              <a:xfrm>
                <a:off x="9000149" y="6183248"/>
                <a:ext cx="199606" cy="276999"/>
              </a:xfrm>
              <a:prstGeom prst="rect">
                <a:avLst/>
              </a:prstGeom>
              <a:blipFill>
                <a:blip r:embed="rId5"/>
                <a:stretch>
                  <a:fillRect l="-15152" r="-909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0186049-D8C1-3F6A-7388-D904EF64BAD4}"/>
                  </a:ext>
                </a:extLst>
              </p:cNvPr>
              <p:cNvSpPr txBox="1"/>
              <p:nvPr/>
            </p:nvSpPr>
            <p:spPr>
              <a:xfrm>
                <a:off x="4821864" y="3157370"/>
                <a:ext cx="1958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𝑏</m:t>
                      </m:r>
                    </m:oMath>
                  </m:oMathPara>
                </a14:m>
                <a:endParaRPr kumimoji="1" lang="ja-JP" altLang="en-US" dirty="0"/>
              </a:p>
            </p:txBody>
          </p:sp>
        </mc:Choice>
        <mc:Fallback xmlns="">
          <p:sp>
            <p:nvSpPr>
              <p:cNvPr id="13" name="テキスト ボックス 12">
                <a:extLst>
                  <a:ext uri="{FF2B5EF4-FFF2-40B4-BE49-F238E27FC236}">
                    <a16:creationId xmlns:a16="http://schemas.microsoft.com/office/drawing/2014/main" id="{F0186049-D8C1-3F6A-7388-D904EF64BAD4}"/>
                  </a:ext>
                </a:extLst>
              </p:cNvPr>
              <p:cNvSpPr txBox="1">
                <a:spLocks noRot="1" noChangeAspect="1" noMove="1" noResize="1" noEditPoints="1" noAdjustHandles="1" noChangeArrowheads="1" noChangeShapeType="1" noTextEdit="1"/>
              </p:cNvSpPr>
              <p:nvPr/>
            </p:nvSpPr>
            <p:spPr>
              <a:xfrm>
                <a:off x="4821864" y="3157370"/>
                <a:ext cx="195823" cy="276999"/>
              </a:xfrm>
              <a:prstGeom prst="rect">
                <a:avLst/>
              </a:prstGeom>
              <a:blipFill>
                <a:blip r:embed="rId6"/>
                <a:stretch>
                  <a:fillRect l="-28125" r="-21875" b="-888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53523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AA3D0F1-9B02-6F1C-E9AD-702149B64741}"/>
              </a:ext>
            </a:extLst>
          </p:cNvPr>
          <p:cNvSpPr txBox="1"/>
          <p:nvPr/>
        </p:nvSpPr>
        <p:spPr>
          <a:xfrm>
            <a:off x="813604" y="501909"/>
            <a:ext cx="4590603" cy="523220"/>
          </a:xfrm>
          <a:prstGeom prst="rect">
            <a:avLst/>
          </a:prstGeom>
          <a:noFill/>
        </p:spPr>
        <p:txBody>
          <a:bodyPr wrap="square" rtlCol="0">
            <a:spAutoFit/>
          </a:bodyPr>
          <a:lstStyle/>
          <a:p>
            <a:r>
              <a:rPr kumimoji="1" lang="en-US" altLang="ja-JP" sz="2800" dirty="0"/>
              <a:t>Our Method</a:t>
            </a:r>
            <a:r>
              <a:rPr kumimoji="1" lang="ja-JP" altLang="en-US" sz="2800" dirty="0"/>
              <a:t>の細かい部分</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136FC702-A3F8-AFFA-F78F-F98FD3D60E5C}"/>
                  </a:ext>
                </a:extLst>
              </p:cNvPr>
              <p:cNvSpPr txBox="1"/>
              <p:nvPr/>
            </p:nvSpPr>
            <p:spPr>
              <a:xfrm>
                <a:off x="1202078" y="1068514"/>
                <a:ext cx="10489914" cy="1695016"/>
              </a:xfrm>
              <a:prstGeom prst="rect">
                <a:avLst/>
              </a:prstGeom>
              <a:noFill/>
            </p:spPr>
            <p:txBody>
              <a:bodyPr wrap="square" rtlCol="0">
                <a:spAutoFit/>
              </a:bodyPr>
              <a:lstStyle/>
              <a:p>
                <a:r>
                  <a:rPr kumimoji="1" lang="en-US" altLang="ja-JP" sz="2000" dirty="0"/>
                  <a:t>1. T-stage</a:t>
                </a:r>
                <a:r>
                  <a:rPr kumimoji="1" lang="ja-JP" altLang="en-US" sz="2000" dirty="0"/>
                  <a:t>の</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𝐹</m:t>
                        </m:r>
                      </m:e>
                      <m:sub>
                        <m:r>
                          <a:rPr kumimoji="1" lang="en-US" altLang="ja-JP" sz="2000" b="0" i="1" smtClean="0">
                            <a:latin typeface="Cambria Math" panose="02040503050406030204" pitchFamily="18" charset="0"/>
                          </a:rPr>
                          <m:t>𝜆</m:t>
                        </m:r>
                      </m:sub>
                    </m:sSub>
                  </m:oMath>
                </a14:m>
                <a:r>
                  <a:rPr kumimoji="1" lang="ja-JP" altLang="en-US" sz="2000" dirty="0"/>
                  <a:t>の選択肢</a:t>
                </a:r>
                <a:endParaRPr kumimoji="1" lang="en-US" altLang="ja-JP" sz="2000" dirty="0"/>
              </a:p>
              <a:p>
                <a:r>
                  <a:rPr kumimoji="1" lang="ja-JP" altLang="en-US" dirty="0"/>
                  <a:t>論文上では、以下のものが使われていた</a:t>
                </a:r>
                <a:r>
                  <a:rPr kumimoji="1" lang="en-US" altLang="ja-JP" dirty="0"/>
                  <a:t>: </a:t>
                </a:r>
                <a14:m>
                  <m:oMath xmlns:m="http://schemas.openxmlformats.org/officeDocument/2006/math">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𝜔</m:t>
                    </m:r>
                  </m:oMath>
                </a14:m>
                <a:r>
                  <a:rPr kumimoji="1" lang="ja-JP" altLang="en-US" dirty="0"/>
                  <a:t>が</a:t>
                </a:r>
                <a:r>
                  <a:rPr kumimoji="1" lang="en-US" altLang="ja-JP" dirty="0"/>
                  <a:t>T-stage</a:t>
                </a:r>
                <a:r>
                  <a:rPr kumimoji="1" lang="ja-JP" altLang="en-US" dirty="0"/>
                  <a:t>における推定するパラメータ</a:t>
                </a:r>
                <a:endParaRPr kumimoji="1" lang="en-US" altLang="ja-JP" dirty="0"/>
              </a:p>
              <a:p>
                <a:r>
                  <a:rPr lang="ja-JP" altLang="en-US" dirty="0"/>
                  <a:t>①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𝐹</m:t>
                        </m:r>
                      </m:e>
                      <m:sub>
                        <m:r>
                          <a:rPr lang="en-US" altLang="ja-JP" b="0" i="1" smtClean="0">
                            <a:latin typeface="Cambria Math" panose="02040503050406030204" pitchFamily="18" charset="0"/>
                          </a:rPr>
                          <m:t>𝜆</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𝑓</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𝑤</m:t>
                        </m:r>
                        <m:r>
                          <a:rPr lang="en-US" altLang="ja-JP" b="0" i="1" smtClean="0">
                            <a:latin typeface="Cambria Math" panose="02040503050406030204" pitchFamily="18" charset="0"/>
                          </a:rPr>
                          <m:t>)</m:t>
                        </m:r>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𝑎</m:t>
                        </m:r>
                      </m:den>
                    </m:f>
                    <m:r>
                      <a:rPr lang="en-US" altLang="ja-JP" b="0" i="1" smtClean="0">
                        <a:latin typeface="Cambria Math" panose="02040503050406030204" pitchFamily="18" charset="0"/>
                      </a:rPr>
                      <m:t>𝑓</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𝑤</m:t>
                    </m:r>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𝑎</m:t>
                        </m:r>
                      </m:den>
                    </m:f>
                    <m:r>
                      <a:rPr lang="en-US" altLang="ja-JP" b="0" i="1" smtClean="0">
                        <a:latin typeface="Cambria Math" panose="02040503050406030204" pitchFamily="18" charset="0"/>
                      </a:rPr>
                      <m:t>𝑏</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𝜔</m:t>
                    </m:r>
                    <m:r>
                      <a:rPr lang="en-US" altLang="ja-JP" b="0" i="1" smtClean="0">
                        <a:latin typeface="Cambria Math" panose="02040503050406030204" pitchFamily="18" charset="0"/>
                      </a:rPr>
                      <m:t>)</m:t>
                    </m:r>
                  </m:oMath>
                </a14:m>
                <a:endParaRPr kumimoji="1" lang="en-US" altLang="ja-JP" dirty="0"/>
              </a:p>
              <a:p>
                <a:r>
                  <a:rPr lang="ja-JP" altLang="en-US" dirty="0"/>
                  <a:t>②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𝐹</m:t>
                        </m:r>
                      </m:e>
                      <m:sub>
                        <m:r>
                          <a:rPr lang="en-US" altLang="ja-JP" b="0" i="1" smtClean="0">
                            <a:latin typeface="Cambria Math" panose="02040503050406030204" pitchFamily="18" charset="0"/>
                          </a:rPr>
                          <m:t>𝜆</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𝑓</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𝑤</m:t>
                        </m:r>
                        <m:r>
                          <a:rPr lang="en-US" altLang="ja-JP" b="0" i="1" smtClean="0">
                            <a:latin typeface="Cambria Math" panose="02040503050406030204" pitchFamily="18" charset="0"/>
                          </a:rPr>
                          <m:t>)</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𝑎</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𝑇𝑎𝑛h</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𝑎</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𝑓</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𝑤</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𝑏</m:t>
                            </m:r>
                          </m:e>
                          <m:sub>
                            <m:r>
                              <a:rPr lang="en-US" altLang="ja-JP" b="0" i="1" smtClean="0">
                                <a:latin typeface="Cambria Math" panose="02040503050406030204" pitchFamily="18" charset="0"/>
                              </a:rPr>
                              <m:t>1</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𝑥</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𝜔</m:t>
                                </m:r>
                              </m:e>
                              <m:sub>
                                <m:r>
                                  <a:rPr lang="en-US" altLang="ja-JP" b="0" i="1" smtClean="0">
                                    <a:latin typeface="Cambria Math" panose="02040503050406030204" pitchFamily="18" charset="0"/>
                                  </a:rPr>
                                  <m:t>1</m:t>
                                </m:r>
                              </m:sub>
                            </m:sSub>
                          </m:e>
                        </m:d>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𝑏</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𝜔</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m:t>
                    </m:r>
                  </m:oMath>
                </a14:m>
                <a:endParaRPr kumimoji="1" lang="en-US" altLang="ja-JP" dirty="0"/>
              </a:p>
              <a:p>
                <a:r>
                  <a:rPr lang="ja-JP" altLang="en-US" dirty="0"/>
                  <a:t>③ </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𝐹</m:t>
                        </m:r>
                      </m:e>
                      <m:sub>
                        <m:r>
                          <a:rPr lang="en-US" altLang="ja-JP" b="0" i="1" smtClean="0">
                            <a:latin typeface="Cambria Math" panose="02040503050406030204" pitchFamily="18" charset="0"/>
                          </a:rPr>
                          <m:t>𝜆</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𝑓</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𝑤</m:t>
                        </m:r>
                        <m:r>
                          <a:rPr lang="en-US" altLang="ja-JP" b="0" i="1" smtClean="0">
                            <a:latin typeface="Cambria Math" panose="02040503050406030204" pitchFamily="18" charset="0"/>
                          </a:rPr>
                          <m:t>)</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𝑎</m:t>
                        </m:r>
                      </m:e>
                      <m:sub>
                        <m:r>
                          <a:rPr lang="en-US" altLang="ja-JP" b="0" i="1" smtClean="0">
                            <a:latin typeface="Cambria Math" panose="02040503050406030204" pitchFamily="18" charset="0"/>
                          </a:rPr>
                          <m:t>2</m:t>
                        </m:r>
                      </m:sub>
                    </m:sSub>
                    <m:r>
                      <a:rPr lang="en-US" altLang="ja-JP" b="0" i="1" smtClean="0">
                        <a:latin typeface="Cambria Math" panose="02040503050406030204" pitchFamily="18" charset="0"/>
                      </a:rPr>
                      <m:t>𝑆𝑖𝑔𝑚𝑜𝑖𝑑</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𝑎</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𝑓</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𝑤</m:t>
                            </m:r>
                          </m:e>
                        </m:d>
                      </m:e>
                    </m:d>
                    <m:r>
                      <a:rPr lang="en-US" altLang="ja-JP" b="0" i="1" smtClean="0">
                        <a:latin typeface="Cambria Math" panose="02040503050406030204" pitchFamily="18" charset="0"/>
                      </a:rPr>
                      <m:t>+</m:t>
                    </m:r>
                    <m:r>
                      <a:rPr lang="en-US" altLang="ja-JP" b="0" i="1" smtClean="0">
                        <a:latin typeface="Cambria Math" panose="02040503050406030204" pitchFamily="18" charset="0"/>
                      </a:rPr>
                      <m:t>𝑏</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r>
                      <a:rPr lang="en-US" altLang="ja-JP" b="0" i="1" smtClean="0">
                        <a:latin typeface="Cambria Math" panose="02040503050406030204" pitchFamily="18" charset="0"/>
                      </a:rPr>
                      <m:t>𝜔</m:t>
                    </m:r>
                    <m:r>
                      <a:rPr lang="en-US" altLang="ja-JP" b="0" i="1" smtClean="0">
                        <a:latin typeface="Cambria Math" panose="02040503050406030204" pitchFamily="18" charset="0"/>
                      </a:rPr>
                      <m:t>)</m:t>
                    </m:r>
                  </m:oMath>
                </a14:m>
                <a:endParaRPr kumimoji="1" lang="en-US" altLang="ja-JP" dirty="0"/>
              </a:p>
            </p:txBody>
          </p:sp>
        </mc:Choice>
        <mc:Fallback xmlns="">
          <p:sp>
            <p:nvSpPr>
              <p:cNvPr id="3" name="テキスト ボックス 2">
                <a:extLst>
                  <a:ext uri="{FF2B5EF4-FFF2-40B4-BE49-F238E27FC236}">
                    <a16:creationId xmlns:a16="http://schemas.microsoft.com/office/drawing/2014/main" id="{136FC702-A3F8-AFFA-F78F-F98FD3D60E5C}"/>
                  </a:ext>
                </a:extLst>
              </p:cNvPr>
              <p:cNvSpPr txBox="1">
                <a:spLocks noRot="1" noChangeAspect="1" noMove="1" noResize="1" noEditPoints="1" noAdjustHandles="1" noChangeArrowheads="1" noChangeShapeType="1" noTextEdit="1"/>
              </p:cNvSpPr>
              <p:nvPr/>
            </p:nvSpPr>
            <p:spPr>
              <a:xfrm>
                <a:off x="1202078" y="1068514"/>
                <a:ext cx="10489914" cy="1695016"/>
              </a:xfrm>
              <a:prstGeom prst="rect">
                <a:avLst/>
              </a:prstGeom>
              <a:blipFill>
                <a:blip r:embed="rId2"/>
                <a:stretch>
                  <a:fillRect l="-581" t="-1439" b="-4317"/>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1557A860-0CBE-5B17-D53D-A2E13AA13468}"/>
              </a:ext>
            </a:extLst>
          </p:cNvPr>
          <p:cNvSpPr txBox="1"/>
          <p:nvPr/>
        </p:nvSpPr>
        <p:spPr>
          <a:xfrm>
            <a:off x="1202078" y="3063768"/>
            <a:ext cx="10489914" cy="1231106"/>
          </a:xfrm>
          <a:prstGeom prst="rect">
            <a:avLst/>
          </a:prstGeom>
          <a:noFill/>
        </p:spPr>
        <p:txBody>
          <a:bodyPr wrap="square" rtlCol="0">
            <a:spAutoFit/>
          </a:bodyPr>
          <a:lstStyle/>
          <a:p>
            <a:r>
              <a:rPr kumimoji="1" lang="en-US" altLang="ja-JP" sz="2000" dirty="0"/>
              <a:t>2. </a:t>
            </a:r>
            <a:r>
              <a:rPr kumimoji="1" lang="en-US" altLang="ja-JP" sz="2000" dirty="0" err="1"/>
              <a:t>fVI</a:t>
            </a:r>
            <a:r>
              <a:rPr kumimoji="1" lang="ja-JP" altLang="en-US" sz="2000" dirty="0"/>
              <a:t>の目的関数の変更</a:t>
            </a:r>
            <a:endParaRPr kumimoji="1" lang="en-US" altLang="ja-JP" sz="2000" dirty="0"/>
          </a:p>
          <a:p>
            <a:r>
              <a:rPr kumimoji="1" lang="en-US" altLang="ja-JP" dirty="0" err="1"/>
              <a:t>fVI</a:t>
            </a:r>
            <a:r>
              <a:rPr kumimoji="1" lang="ja-JP" altLang="en-US" dirty="0"/>
              <a:t>は</a:t>
            </a:r>
            <a:r>
              <a:rPr kumimoji="1" lang="en-US" altLang="ja-JP" dirty="0"/>
              <a:t>KL</a:t>
            </a:r>
            <a:r>
              <a:rPr kumimoji="1" lang="ja-JP" altLang="en-US" dirty="0"/>
              <a:t>情報量を使っているが、分布の比で、発散しないように最適化される影響を考慮する必要がある</a:t>
            </a:r>
            <a:r>
              <a:rPr kumimoji="1" lang="en-US" altLang="ja-JP" dirty="0"/>
              <a:t>:</a:t>
            </a:r>
          </a:p>
          <a:p>
            <a:r>
              <a:rPr lang="ja-JP" altLang="en-US" dirty="0"/>
              <a:t>　→ </a:t>
            </a:r>
            <a:r>
              <a:rPr kumimoji="1" lang="en-US" altLang="ja-JP" dirty="0"/>
              <a:t>Wasserstein</a:t>
            </a:r>
            <a:r>
              <a:rPr kumimoji="1" lang="ja-JP" altLang="en-US" dirty="0"/>
              <a:t>距離にすると、その問題は起きないので、</a:t>
            </a:r>
            <a:r>
              <a:rPr lang="en-US" altLang="ja-JP" dirty="0"/>
              <a:t>KL</a:t>
            </a:r>
            <a:r>
              <a:rPr lang="ja-JP" altLang="en-US" dirty="0"/>
              <a:t>の変わりに</a:t>
            </a:r>
            <a:r>
              <a:rPr lang="en-US" altLang="ja-JP" dirty="0"/>
              <a:t>Wasserstein</a:t>
            </a:r>
            <a:r>
              <a:rPr lang="ja-JP" altLang="en-US" dirty="0"/>
              <a:t>距離を使う</a:t>
            </a:r>
            <a:endParaRPr lang="en-US" altLang="ja-JP" dirty="0"/>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E2F8BE2-14CE-D58B-8979-06172E2838E1}"/>
                  </a:ext>
                </a:extLst>
              </p:cNvPr>
              <p:cNvSpPr txBox="1"/>
              <p:nvPr/>
            </p:nvSpPr>
            <p:spPr>
              <a:xfrm>
                <a:off x="1696849" y="4400337"/>
                <a:ext cx="7543799" cy="55393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ℒ</m:t>
                          </m:r>
                        </m:e>
                        <m:sub>
                          <m:sSub>
                            <m:sSubPr>
                              <m:ctrlPr>
                                <a:rPr lang="en-US" altLang="ja-JP" i="1">
                                  <a:latin typeface="Cambria Math" panose="02040503050406030204" pitchFamily="18" charset="0"/>
                                </a:rPr>
                              </m:ctrlPr>
                            </m:sSubPr>
                            <m:e>
                              <m:r>
                                <a:rPr lang="en-US" altLang="ja-JP" i="1">
                                  <a:latin typeface="Cambria Math" panose="02040503050406030204" pitchFamily="18" charset="0"/>
                                </a:rPr>
                                <m:t>𝑄</m:t>
                              </m:r>
                            </m:e>
                            <m:sub>
                              <m:r>
                                <a:rPr lang="en-US" altLang="ja-JP" i="1">
                                  <a:latin typeface="Cambria Math" panose="02040503050406030204" pitchFamily="18" charset="0"/>
                                </a:rPr>
                                <m:t>𝑓</m:t>
                              </m:r>
                            </m:sub>
                          </m:sSub>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𝐸</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e>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e>
                              </m:d>
                            </m:e>
                          </m:func>
                        </m:e>
                      </m:d>
                      <m:r>
                        <a:rPr kumimoji="1" lang="en-US" altLang="ja-JP" b="0" i="1" smtClean="0">
                          <a:latin typeface="Cambria Math" panose="02040503050406030204" pitchFamily="18" charset="0"/>
                        </a:rPr>
                        <m:t>−</m:t>
                      </m:r>
                      <m:func>
                        <m:funcPr>
                          <m:ctrlPr>
                            <a:rPr kumimoji="1" lang="en-US" altLang="ja-JP" b="0" i="1" smtClean="0">
                              <a:latin typeface="Cambria Math" panose="02040503050406030204" pitchFamily="18" charset="0"/>
                            </a:rPr>
                          </m:ctrlPr>
                        </m:funcPr>
                        <m:fName>
                          <m:limLow>
                            <m:limLowPr>
                              <m:ctrlPr>
                                <a:rPr kumimoji="1" lang="en-US" altLang="ja-JP" b="0" i="1" smtClean="0">
                                  <a:latin typeface="Cambria Math" panose="02040503050406030204" pitchFamily="18" charset="0"/>
                                </a:rPr>
                              </m:ctrlPr>
                            </m:limLowPr>
                            <m:e>
                              <m:r>
                                <m:rPr>
                                  <m:sty m:val="p"/>
                                </m:rPr>
                                <a:rPr kumimoji="1" lang="en-US" altLang="ja-JP" b="0" i="0" smtClean="0">
                                  <a:latin typeface="Cambria Math" panose="02040503050406030204" pitchFamily="18" charset="0"/>
                                </a:rPr>
                                <m:t>sup</m:t>
                              </m:r>
                            </m:e>
                            <m:li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𝑀</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m:rPr>
                                      <m:sty m:val="p"/>
                                    </m:rPr>
                                    <a:rPr kumimoji="1" lang="en-US" altLang="ja-JP" b="0" i="0" smtClean="0">
                                      <a:latin typeface="Cambria Math" panose="02040503050406030204" pitchFamily="18" charset="0"/>
                                    </a:rPr>
                                    <m:t>Χ</m:t>
                                  </m:r>
                                </m:e>
                                <m:sub>
                                  <m:r>
                                    <a:rPr kumimoji="1" lang="en-US" altLang="ja-JP" b="0" i="1" smtClean="0">
                                      <a:latin typeface="Cambria Math" panose="02040503050406030204" pitchFamily="18" charset="0"/>
                                    </a:rPr>
                                    <m:t>ℕ</m:t>
                                  </m:r>
                                </m:sub>
                              </m:sSub>
                            </m:lim>
                          </m:limLow>
                        </m:fName>
                        <m:e>
                          <m:r>
                            <a:rPr lang="en-US" altLang="ja-JP" i="1">
                              <a:latin typeface="Cambria Math" panose="02040503050406030204" pitchFamily="18" charset="0"/>
                            </a:rPr>
                            <m:t>𝐾𝐿</m:t>
                          </m:r>
                          <m:d>
                            <m:dPr>
                              <m:ctrlPr>
                                <a:rPr lang="en-US" altLang="ja-JP" i="1">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𝑄</m:t>
                                  </m:r>
                                </m:e>
                                <m:sub>
                                  <m:r>
                                    <a:rPr lang="en-US" altLang="ja-JP" b="0" i="1" smtClean="0">
                                      <a:latin typeface="Cambria Math" panose="02040503050406030204" pitchFamily="18" charset="0"/>
                                    </a:rPr>
                                    <m:t>𝑓</m:t>
                                  </m:r>
                                </m:sub>
                              </m:sSub>
                              <m:r>
                                <a:rPr lang="en-US" altLang="ja-JP" i="1">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p>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0</m:t>
                                  </m:r>
                                </m:sub>
                              </m:sSub>
                              <m:r>
                                <a:rPr lang="en-US" altLang="ja-JP" i="1">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i="1">
                                      <a:latin typeface="Cambria Math" panose="02040503050406030204" pitchFamily="18" charset="0"/>
                                    </a:rPr>
                                    <m:t>𝑓</m:t>
                                  </m:r>
                                </m:e>
                                <m:sup>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𝑋</m:t>
                                      </m:r>
                                    </m:e>
                                    <m:sub>
                                      <m:r>
                                        <a:rPr lang="en-US" altLang="ja-JP" b="0" i="1" smtClean="0">
                                          <a:latin typeface="Cambria Math" panose="02040503050406030204" pitchFamily="18" charset="0"/>
                                        </a:rPr>
                                        <m:t>𝑀</m:t>
                                      </m:r>
                                    </m:sub>
                                  </m:sSub>
                                </m:sup>
                              </m:sSup>
                              <m:r>
                                <a:rPr lang="en-US" altLang="ja-JP" i="1">
                                  <a:latin typeface="Cambria Math" panose="02040503050406030204" pitchFamily="18" charset="0"/>
                                </a:rPr>
                                <m:t>)</m:t>
                              </m:r>
                            </m:e>
                          </m:d>
                        </m:e>
                      </m:func>
                      <m:r>
                        <a:rPr kumimoji="1" lang="en-US" altLang="ja-JP" b="0" i="1" smtClean="0">
                          <a:latin typeface="Cambria Math" panose="02040503050406030204" pitchFamily="18" charset="0"/>
                        </a:rPr>
                        <m:t>,</m:t>
                      </m:r>
                    </m:oMath>
                  </m:oMathPara>
                </a14:m>
                <a:endParaRPr kumimoji="1" lang="en-US" altLang="ja-JP" dirty="0"/>
              </a:p>
            </p:txBody>
          </p:sp>
        </mc:Choice>
        <mc:Fallback xmlns="">
          <p:sp>
            <p:nvSpPr>
              <p:cNvPr id="5" name="テキスト ボックス 4">
                <a:extLst>
                  <a:ext uri="{FF2B5EF4-FFF2-40B4-BE49-F238E27FC236}">
                    <a16:creationId xmlns:a16="http://schemas.microsoft.com/office/drawing/2014/main" id="{3E2F8BE2-14CE-D58B-8979-06172E2838E1}"/>
                  </a:ext>
                </a:extLst>
              </p:cNvPr>
              <p:cNvSpPr txBox="1">
                <a:spLocks noRot="1" noChangeAspect="1" noMove="1" noResize="1" noEditPoints="1" noAdjustHandles="1" noChangeArrowheads="1" noChangeShapeType="1" noTextEdit="1"/>
              </p:cNvSpPr>
              <p:nvPr/>
            </p:nvSpPr>
            <p:spPr>
              <a:xfrm>
                <a:off x="1696849" y="4400337"/>
                <a:ext cx="7543799" cy="55393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42EBC402-08C1-114D-2315-FE5C24CBF23D}"/>
                  </a:ext>
                </a:extLst>
              </p:cNvPr>
              <p:cNvSpPr txBox="1"/>
              <p:nvPr/>
            </p:nvSpPr>
            <p:spPr>
              <a:xfrm>
                <a:off x="1911131" y="5508205"/>
                <a:ext cx="7115233" cy="10517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ℒ</m:t>
                          </m:r>
                        </m:e>
                        <m:sub>
                          <m:r>
                            <a:rPr lang="en-US" altLang="ja-JP" b="0" i="1" smtClean="0">
                              <a:latin typeface="Cambria Math" panose="02040503050406030204" pitchFamily="18" charset="0"/>
                            </a:rPr>
                            <m:t>𝑊</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𝐸</m:t>
                          </m:r>
                        </m:e>
                        <m: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sub>
                      </m:sSub>
                      <m:d>
                        <m:dPr>
                          <m:begChr m:val="["/>
                          <m:endChr m:val="]"/>
                          <m:ctrlPr>
                            <a:rPr kumimoji="1" lang="en-US" altLang="ja-JP" b="0" i="1" smtClean="0">
                              <a:latin typeface="Cambria Math" panose="02040503050406030204" pitchFamily="18" charset="0"/>
                            </a:rPr>
                          </m:ctrlPr>
                        </m:dPr>
                        <m:e>
                          <m:func>
                            <m:funcPr>
                              <m:ctrlPr>
                                <a:rPr kumimoji="1" lang="en-US" altLang="ja-JP" b="0" i="1" smtClean="0">
                                  <a:latin typeface="Cambria Math" panose="02040503050406030204" pitchFamily="18" charset="0"/>
                                </a:rPr>
                              </m:ctrlPr>
                            </m:funcPr>
                            <m:fName>
                              <m:r>
                                <m:rPr>
                                  <m:sty m:val="p"/>
                                </m:rPr>
                                <a:rPr kumimoji="1" lang="en-US" altLang="ja-JP" b="0" i="0" smtClean="0">
                                  <a:latin typeface="Cambria Math" panose="02040503050406030204" pitchFamily="18" charset="0"/>
                                </a:rPr>
                                <m:t>log</m:t>
                              </m:r>
                            </m:fName>
                            <m:e>
                              <m:r>
                                <a:rPr kumimoji="1" lang="en-US" altLang="ja-JP" b="0" i="1" smtClean="0">
                                  <a:latin typeface="Cambria Math" panose="02040503050406030204" pitchFamily="18" charset="0"/>
                                </a:rPr>
                                <m:t>𝑝</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𝐷</m:t>
                                      </m:r>
                                    </m:sub>
                                  </m:sSub>
                                </m:e>
                                <m:e>
                                  <m:r>
                                    <a:rPr kumimoji="1" lang="en-US" altLang="ja-JP" b="0" i="1" smtClean="0">
                                      <a:latin typeface="Cambria Math" panose="02040503050406030204" pitchFamily="18" charset="0"/>
                                    </a:rPr>
                                    <m:t>𝑓</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𝑋</m:t>
                                          </m:r>
                                        </m:e>
                                        <m:sub>
                                          <m:r>
                                            <a:rPr kumimoji="1" lang="en-US" altLang="ja-JP" b="0" i="1" smtClean="0">
                                              <a:latin typeface="Cambria Math" panose="02040503050406030204" pitchFamily="18" charset="0"/>
                                            </a:rPr>
                                            <m:t>𝐷</m:t>
                                          </m:r>
                                        </m:sub>
                                      </m:sSub>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e>
                                  </m:d>
                                </m:e>
                              </m:d>
                            </m:e>
                          </m:func>
                        </m:e>
                      </m:d>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𝑊</m:t>
                          </m:r>
                        </m:e>
                        <m:sub>
                          <m:r>
                            <a:rPr kumimoji="1" lang="en-US" altLang="ja-JP" b="0" i="1" smtClean="0">
                              <a:latin typeface="Cambria Math" panose="02040503050406030204" pitchFamily="18" charset="0"/>
                            </a:rPr>
                            <m:t>1</m:t>
                          </m:r>
                        </m:sub>
                      </m:sSub>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0</m:t>
                              </m:r>
                            </m:sub>
                          </m:sSub>
                        </m:e>
                      </m:d>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𝑀</m:t>
                          </m:r>
                        </m:e>
                        <m:sub>
                          <m:r>
                            <a:rPr kumimoji="1" lang="en-US" altLang="ja-JP" b="0" i="1" smtClean="0">
                              <a:latin typeface="Cambria Math" panose="02040503050406030204" pitchFamily="18" charset="0"/>
                            </a:rPr>
                            <m:t>2</m:t>
                          </m:r>
                        </m:sub>
                      </m:sSub>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𝑄</m:t>
                              </m:r>
                            </m:e>
                            <m:sub>
                              <m:r>
                                <a:rPr kumimoji="1" lang="en-US" altLang="ja-JP" b="0" i="1" smtClean="0">
                                  <a:latin typeface="Cambria Math" panose="02040503050406030204" pitchFamily="18" charset="0"/>
                                </a:rPr>
                                <m:t>𝑓</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𝑃</m:t>
                              </m:r>
                            </m:e>
                            <m:sub>
                              <m:r>
                                <a:rPr kumimoji="1" lang="en-US" altLang="ja-JP" b="0" i="1" smtClean="0">
                                  <a:latin typeface="Cambria Math" panose="02040503050406030204" pitchFamily="18" charset="0"/>
                                </a:rPr>
                                <m:t>0</m:t>
                              </m:r>
                            </m:sub>
                          </m:sSub>
                        </m:e>
                      </m:d>
                      <m:r>
                        <a:rPr kumimoji="1" lang="en-US" altLang="ja-JP" b="0" i="1" smtClean="0">
                          <a:latin typeface="Cambria Math" panose="02040503050406030204" pitchFamily="18" charset="0"/>
                        </a:rPr>
                        <m:t>,</m:t>
                      </m:r>
                    </m:oMath>
                  </m:oMathPara>
                </a14:m>
                <a:endParaRPr kumimoji="1" lang="en-US" altLang="ja-JP" dirty="0"/>
              </a:p>
              <a:p>
                <a14:m>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𝑊</m:t>
                        </m:r>
                      </m:e>
                      <m:sub>
                        <m:r>
                          <a:rPr kumimoji="1" lang="en-US" altLang="ja-JP" sz="1400" b="0" i="1" smtClean="0">
                            <a:latin typeface="Cambria Math" panose="02040503050406030204" pitchFamily="18" charset="0"/>
                          </a:rPr>
                          <m:t>1</m:t>
                        </m:r>
                      </m:sub>
                    </m:sSub>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𝑓</m:t>
                            </m:r>
                          </m:sub>
                        </m:sSub>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𝑃</m:t>
                            </m:r>
                          </m:e>
                          <m:sub>
                            <m:r>
                              <a:rPr kumimoji="1" lang="en-US" altLang="ja-JP" sz="1400" b="0" i="1" smtClean="0">
                                <a:latin typeface="Cambria Math" panose="02040503050406030204" pitchFamily="18" charset="0"/>
                              </a:rPr>
                              <m:t>0</m:t>
                            </m:r>
                          </m:sub>
                        </m:sSub>
                      </m:e>
                    </m:d>
                    <m:r>
                      <a:rPr kumimoji="1" lang="en-US" altLang="ja-JP" sz="1400" b="0" i="1" smtClean="0">
                        <a:latin typeface="Cambria Math" panose="02040503050406030204" pitchFamily="18" charset="0"/>
                      </a:rPr>
                      <m:t>=</m:t>
                    </m:r>
                    <m:limLow>
                      <m:limLowPr>
                        <m:ctrlPr>
                          <a:rPr kumimoji="1" lang="en-US" altLang="ja-JP" sz="1400" b="0" i="1" smtClean="0">
                            <a:latin typeface="Cambria Math" panose="02040503050406030204" pitchFamily="18" charset="0"/>
                          </a:rPr>
                        </m:ctrlPr>
                      </m:limLowPr>
                      <m:e>
                        <m:r>
                          <m:rPr>
                            <m:sty m:val="p"/>
                          </m:rPr>
                          <a:rPr kumimoji="1" lang="en-US" altLang="ja-JP" sz="1400" b="0" i="0" smtClean="0">
                            <a:latin typeface="Cambria Math" panose="02040503050406030204" pitchFamily="18" charset="0"/>
                          </a:rPr>
                          <m:t>sup</m:t>
                        </m:r>
                      </m:e>
                      <m:lim>
                        <m:d>
                          <m:dPr>
                            <m:begChr m:val="|"/>
                            <m:endChr m:val="|"/>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𝜙</m:t>
                            </m:r>
                          </m:e>
                        </m:d>
                        <m:r>
                          <a:rPr kumimoji="1" lang="en-US" altLang="ja-JP" sz="1400" b="0" i="0" smtClean="0">
                            <a:latin typeface="Cambria Math" panose="02040503050406030204" pitchFamily="18" charset="0"/>
                          </a:rPr>
                          <m:t>≤1</m:t>
                        </m:r>
                      </m:lim>
                    </m:limLow>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𝐸</m:t>
                        </m:r>
                      </m:e>
                      <m:sub>
                        <m:r>
                          <a:rPr kumimoji="1" lang="en-US" altLang="ja-JP" sz="1400" b="0" i="1" smtClean="0">
                            <a:latin typeface="Cambria Math" panose="02040503050406030204" pitchFamily="18" charset="0"/>
                          </a:rPr>
                          <m:t>𝑥</m:t>
                        </m:r>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𝑓</m:t>
                            </m:r>
                          </m:sub>
                        </m:sSub>
                      </m:sub>
                    </m:sSub>
                    <m:d>
                      <m:dPr>
                        <m:begChr m:val="["/>
                        <m:endChr m:val="]"/>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𝜙</m:t>
                        </m:r>
                        <m:d>
                          <m:dPr>
                            <m:ctrlPr>
                              <a:rPr kumimoji="1" lang="en-US" altLang="ja-JP" sz="1400" b="0" i="1" smtClean="0">
                                <a:latin typeface="Cambria Math" panose="02040503050406030204" pitchFamily="18" charset="0"/>
                              </a:rPr>
                            </m:ctrlPr>
                          </m:dPr>
                          <m:e>
                            <m:r>
                              <a:rPr kumimoji="1" lang="en-US" altLang="ja-JP" sz="1400" b="0" i="1" smtClean="0">
                                <a:latin typeface="Cambria Math" panose="02040503050406030204" pitchFamily="18" charset="0"/>
                              </a:rPr>
                              <m:t>𝑥</m:t>
                            </m:r>
                          </m:e>
                        </m:d>
                      </m:e>
                    </m:d>
                    <m:r>
                      <a:rPr kumimoji="1" lang="en-US" altLang="ja-JP" sz="1400" b="0" i="1" smtClean="0">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i="1">
                            <a:latin typeface="Cambria Math" panose="02040503050406030204" pitchFamily="18" charset="0"/>
                          </a:rPr>
                          <m:t>𝐸</m:t>
                        </m:r>
                      </m:e>
                      <m:sub>
                        <m:r>
                          <a:rPr lang="en-US" altLang="ja-JP" sz="1400" i="1">
                            <a:latin typeface="Cambria Math" panose="02040503050406030204" pitchFamily="18" charset="0"/>
                          </a:rPr>
                          <m:t>𝑥</m:t>
                        </m:r>
                        <m:r>
                          <a:rPr lang="en-US" altLang="ja-JP" sz="1400" i="1">
                            <a:latin typeface="Cambria Math" panose="02040503050406030204" pitchFamily="18" charset="0"/>
                          </a:rPr>
                          <m:t>~</m:t>
                        </m:r>
                        <m:sSub>
                          <m:sSubPr>
                            <m:ctrlPr>
                              <a:rPr lang="en-US" altLang="ja-JP" sz="1400" i="1">
                                <a:latin typeface="Cambria Math" panose="02040503050406030204" pitchFamily="18" charset="0"/>
                              </a:rPr>
                            </m:ctrlPr>
                          </m:sSubPr>
                          <m:e>
                            <m:r>
                              <a:rPr lang="en-US" altLang="ja-JP" sz="1400" b="0" i="1" smtClean="0">
                                <a:latin typeface="Cambria Math" panose="02040503050406030204" pitchFamily="18" charset="0"/>
                              </a:rPr>
                              <m:t>𝑃</m:t>
                            </m:r>
                          </m:e>
                          <m:sub>
                            <m:r>
                              <a:rPr lang="en-US" altLang="ja-JP" sz="1400" b="0" i="1" smtClean="0">
                                <a:latin typeface="Cambria Math" panose="02040503050406030204" pitchFamily="18" charset="0"/>
                              </a:rPr>
                              <m:t>0</m:t>
                            </m:r>
                          </m:sub>
                        </m:sSub>
                      </m:sub>
                    </m:sSub>
                    <m:d>
                      <m:dPr>
                        <m:begChr m:val="["/>
                        <m:endChr m:val="]"/>
                        <m:ctrlPr>
                          <a:rPr lang="en-US" altLang="ja-JP" sz="1400" i="1">
                            <a:latin typeface="Cambria Math" panose="02040503050406030204" pitchFamily="18" charset="0"/>
                          </a:rPr>
                        </m:ctrlPr>
                      </m:dPr>
                      <m:e>
                        <m:r>
                          <a:rPr lang="en-US" altLang="ja-JP" sz="1400" i="1">
                            <a:latin typeface="Cambria Math" panose="02040503050406030204" pitchFamily="18" charset="0"/>
                          </a:rPr>
                          <m:t>𝜙</m:t>
                        </m:r>
                        <m:d>
                          <m:dPr>
                            <m:ctrlPr>
                              <a:rPr lang="en-US" altLang="ja-JP" sz="1400" i="1">
                                <a:latin typeface="Cambria Math" panose="02040503050406030204" pitchFamily="18" charset="0"/>
                              </a:rPr>
                            </m:ctrlPr>
                          </m:dPr>
                          <m:e>
                            <m:r>
                              <a:rPr lang="en-US" altLang="ja-JP" sz="1400" i="1">
                                <a:latin typeface="Cambria Math" panose="02040503050406030204" pitchFamily="18" charset="0"/>
                              </a:rPr>
                              <m:t>𝑥</m:t>
                            </m:r>
                          </m:e>
                        </m:d>
                      </m:e>
                    </m:d>
                    <m:r>
                      <a:rPr kumimoji="1" lang="en-US" altLang="ja-JP" sz="1400" b="0" i="1" smtClean="0">
                        <a:latin typeface="Cambria Math" panose="02040503050406030204" pitchFamily="18" charset="0"/>
                      </a:rPr>
                      <m:t>⁡</m:t>
                    </m:r>
                  </m:oMath>
                </a14:m>
                <a:r>
                  <a:rPr kumimoji="1" lang="en-US" altLang="ja-JP" sz="1400" dirty="0"/>
                  <a:t>: 1-Wasserstein</a:t>
                </a:r>
                <a:r>
                  <a:rPr kumimoji="1" lang="ja-JP" altLang="en-US" sz="1400" dirty="0"/>
                  <a:t>距離</a:t>
                </a:r>
                <a:endParaRPr kumimoji="1" lang="en-US" altLang="ja-JP" sz="1400" dirty="0"/>
              </a:p>
              <a:p>
                <a14:m>
                  <m:oMath xmlns:m="http://schemas.openxmlformats.org/officeDocument/2006/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𝑀</m:t>
                        </m:r>
                      </m:e>
                      <m:sub>
                        <m:r>
                          <a:rPr kumimoji="1" lang="en-US" altLang="ja-JP" sz="1400" b="0" i="1" smtClean="0">
                            <a:latin typeface="Cambria Math" panose="02040503050406030204" pitchFamily="18" charset="0"/>
                          </a:rPr>
                          <m:t>2</m:t>
                        </m:r>
                      </m:sub>
                    </m:sSub>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𝑓</m:t>
                            </m:r>
                          </m:sub>
                        </m:sSub>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𝑃</m:t>
                            </m:r>
                          </m:e>
                          <m:sub>
                            <m:r>
                              <a:rPr kumimoji="1" lang="en-US" altLang="ja-JP" sz="1400" b="0" i="1" smtClean="0">
                                <a:latin typeface="Cambria Math" panose="02040503050406030204" pitchFamily="18" charset="0"/>
                              </a:rPr>
                              <m:t>0</m:t>
                            </m:r>
                          </m:sub>
                        </m:sSub>
                      </m:e>
                    </m:d>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𝑣𝑎𝑟</m:t>
                    </m:r>
                    <m:d>
                      <m:dPr>
                        <m:ctrlPr>
                          <a:rPr kumimoji="1" lang="en-US" altLang="ja-JP" sz="1400" b="0" i="1" smtClean="0">
                            <a:latin typeface="Cambria Math" panose="02040503050406030204" pitchFamily="18" charset="0"/>
                          </a:rPr>
                        </m:ctrlPr>
                      </m:dPr>
                      <m:e>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𝑄</m:t>
                            </m:r>
                          </m:e>
                          <m:sub>
                            <m:r>
                              <a:rPr kumimoji="1" lang="en-US" altLang="ja-JP" sz="1400" b="0" i="1" smtClean="0">
                                <a:latin typeface="Cambria Math" panose="02040503050406030204" pitchFamily="18" charset="0"/>
                              </a:rPr>
                              <m:t>𝑓</m:t>
                            </m:r>
                          </m:sub>
                        </m:sSub>
                      </m:e>
                    </m:d>
                    <m:r>
                      <a:rPr kumimoji="1" lang="en-US" altLang="ja-JP" sz="1400" b="0" i="1" smtClean="0">
                        <a:latin typeface="Cambria Math" panose="02040503050406030204" pitchFamily="18" charset="0"/>
                      </a:rPr>
                      <m:t>−</m:t>
                    </m:r>
                    <m:r>
                      <a:rPr kumimoji="1" lang="en-US" altLang="ja-JP" sz="1400" b="0" i="1" smtClean="0">
                        <a:latin typeface="Cambria Math" panose="02040503050406030204" pitchFamily="18" charset="0"/>
                      </a:rPr>
                      <m:t>𝑣𝑎𝑟</m:t>
                    </m:r>
                    <m:r>
                      <a:rPr kumimoji="1" lang="en-US" altLang="ja-JP" sz="1400" b="0" i="1" smtClean="0">
                        <a:latin typeface="Cambria Math" panose="02040503050406030204" pitchFamily="18" charset="0"/>
                      </a:rPr>
                      <m:t>(</m:t>
                    </m:r>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𝑃</m:t>
                        </m:r>
                      </m:e>
                      <m:sub>
                        <m:r>
                          <a:rPr kumimoji="1" lang="en-US" altLang="ja-JP" sz="1400" b="0" i="1" smtClean="0">
                            <a:latin typeface="Cambria Math" panose="02040503050406030204" pitchFamily="18" charset="0"/>
                          </a:rPr>
                          <m:t>0</m:t>
                        </m:r>
                      </m:sub>
                    </m:sSub>
                    <m:r>
                      <a:rPr kumimoji="1" lang="en-US" altLang="ja-JP" sz="1400" b="0" i="1" smtClean="0">
                        <a:latin typeface="Cambria Math" panose="02040503050406030204" pitchFamily="18" charset="0"/>
                      </a:rPr>
                      <m:t>)|</m:t>
                    </m:r>
                  </m:oMath>
                </a14:m>
                <a:r>
                  <a:rPr kumimoji="1" lang="en-US" altLang="ja-JP" sz="1400" dirty="0"/>
                  <a:t>: 2</a:t>
                </a:r>
                <a:r>
                  <a:rPr kumimoji="1" lang="ja-JP" altLang="en-US" sz="1400" dirty="0"/>
                  <a:t>次のモーメントを合うようにする制約項</a:t>
                </a:r>
                <a:endParaRPr kumimoji="1" lang="en-US" altLang="ja-JP" sz="1400" dirty="0"/>
              </a:p>
            </p:txBody>
          </p:sp>
        </mc:Choice>
        <mc:Fallback xmlns="">
          <p:sp>
            <p:nvSpPr>
              <p:cNvPr id="6" name="テキスト ボックス 5">
                <a:extLst>
                  <a:ext uri="{FF2B5EF4-FFF2-40B4-BE49-F238E27FC236}">
                    <a16:creationId xmlns:a16="http://schemas.microsoft.com/office/drawing/2014/main" id="{42EBC402-08C1-114D-2315-FE5C24CBF23D}"/>
                  </a:ext>
                </a:extLst>
              </p:cNvPr>
              <p:cNvSpPr txBox="1">
                <a:spLocks noRot="1" noChangeAspect="1" noMove="1" noResize="1" noEditPoints="1" noAdjustHandles="1" noChangeArrowheads="1" noChangeShapeType="1" noTextEdit="1"/>
              </p:cNvSpPr>
              <p:nvPr/>
            </p:nvSpPr>
            <p:spPr>
              <a:xfrm>
                <a:off x="1911131" y="5508205"/>
                <a:ext cx="7115233" cy="1051763"/>
              </a:xfrm>
              <a:prstGeom prst="rect">
                <a:avLst/>
              </a:prstGeom>
              <a:blipFill>
                <a:blip r:embed="rId4"/>
                <a:stretch>
                  <a:fillRect b="-4070"/>
                </a:stretch>
              </a:blipFill>
            </p:spPr>
            <p:txBody>
              <a:bodyPr/>
              <a:lstStyle/>
              <a:p>
                <a:r>
                  <a:rPr lang="ja-JP" altLang="en-US">
                    <a:noFill/>
                  </a:rPr>
                  <a:t> </a:t>
                </a:r>
              </a:p>
            </p:txBody>
          </p:sp>
        </mc:Fallback>
      </mc:AlternateContent>
      <p:sp>
        <p:nvSpPr>
          <p:cNvPr id="7" name="矢印: 下 6">
            <a:extLst>
              <a:ext uri="{FF2B5EF4-FFF2-40B4-BE49-F238E27FC236}">
                <a16:creationId xmlns:a16="http://schemas.microsoft.com/office/drawing/2014/main" id="{6573F6D9-3A98-CEA4-B947-F5DDB8E34CBC}"/>
              </a:ext>
            </a:extLst>
          </p:cNvPr>
          <p:cNvSpPr/>
          <p:nvPr/>
        </p:nvSpPr>
        <p:spPr>
          <a:xfrm>
            <a:off x="4438437" y="4954271"/>
            <a:ext cx="965770" cy="44390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24BE0E6-4AA2-9F51-CEEC-B4E69EAB305F}"/>
                  </a:ext>
                </a:extLst>
              </p:cNvPr>
              <p:cNvSpPr txBox="1"/>
              <p:nvPr/>
            </p:nvSpPr>
            <p:spPr>
              <a:xfrm>
                <a:off x="8517276" y="5508205"/>
                <a:ext cx="3174715" cy="830997"/>
              </a:xfrm>
              <a:prstGeom prst="rect">
                <a:avLst/>
              </a:prstGeom>
              <a:noFill/>
            </p:spPr>
            <p:txBody>
              <a:bodyPr wrap="square" rtlCol="0">
                <a:spAutoFit/>
              </a:bodyPr>
              <a:lstStyle/>
              <a:p>
                <a:r>
                  <a:rPr kumimoji="1" lang="ja-JP" altLang="en-US" sz="1600" dirty="0"/>
                  <a:t>← </a:t>
                </a:r>
                <a14:m>
                  <m:oMath xmlns:m="http://schemas.openxmlformats.org/officeDocument/2006/math">
                    <m:sSub>
                      <m:sSubPr>
                        <m:ctrlPr>
                          <a:rPr kumimoji="1" lang="en-US" altLang="ja-JP" sz="1600" b="0" i="1" smtClean="0">
                            <a:latin typeface="Cambria Math" panose="02040503050406030204" pitchFamily="18" charset="0"/>
                            <a:ea typeface="Cambria Math" panose="02040503050406030204" pitchFamily="18" charset="0"/>
                          </a:rPr>
                        </m:ctrlPr>
                      </m:sSubPr>
                      <m:e>
                        <m:r>
                          <a:rPr kumimoji="1" lang="en-US" altLang="ja-JP" sz="1600" b="0" i="1" smtClean="0">
                            <a:latin typeface="Cambria Math" panose="02040503050406030204" pitchFamily="18" charset="0"/>
                            <a:ea typeface="Cambria Math" panose="02040503050406030204" pitchFamily="18" charset="0"/>
                          </a:rPr>
                          <m:t>ℒ</m:t>
                        </m:r>
                      </m:e>
                      <m:sub>
                        <m:r>
                          <a:rPr lang="en-US" altLang="ja-JP" sz="1600" b="0" i="1" smtClean="0">
                            <a:latin typeface="Cambria Math" panose="02040503050406030204" pitchFamily="18" charset="0"/>
                          </a:rPr>
                          <m:t>𝑊</m:t>
                        </m:r>
                      </m:sub>
                    </m:sSub>
                    <m:r>
                      <a:rPr lang="ja-JP" altLang="en-US" sz="1600" i="1">
                        <a:latin typeface="Cambria Math" panose="02040503050406030204" pitchFamily="18" charset="0"/>
                      </a:rPr>
                      <m:t>を</m:t>
                    </m:r>
                  </m:oMath>
                </a14:m>
                <a:r>
                  <a:rPr kumimoji="1" lang="ja-JP" altLang="en-US" sz="1600" dirty="0"/>
                  <a:t>論文と表記を合わせているが、元の目的関数と違って、こっちは最小化してそう</a:t>
                </a:r>
              </a:p>
            </p:txBody>
          </p:sp>
        </mc:Choice>
        <mc:Fallback xmlns="">
          <p:sp>
            <p:nvSpPr>
              <p:cNvPr id="8" name="テキスト ボックス 7">
                <a:extLst>
                  <a:ext uri="{FF2B5EF4-FFF2-40B4-BE49-F238E27FC236}">
                    <a16:creationId xmlns:a16="http://schemas.microsoft.com/office/drawing/2014/main" id="{C24BE0E6-4AA2-9F51-CEEC-B4E69EAB305F}"/>
                  </a:ext>
                </a:extLst>
              </p:cNvPr>
              <p:cNvSpPr txBox="1">
                <a:spLocks noRot="1" noChangeAspect="1" noMove="1" noResize="1" noEditPoints="1" noAdjustHandles="1" noChangeArrowheads="1" noChangeShapeType="1" noTextEdit="1"/>
              </p:cNvSpPr>
              <p:nvPr/>
            </p:nvSpPr>
            <p:spPr>
              <a:xfrm>
                <a:off x="8517276" y="5508205"/>
                <a:ext cx="3174715" cy="830997"/>
              </a:xfrm>
              <a:prstGeom prst="rect">
                <a:avLst/>
              </a:prstGeom>
              <a:blipFill>
                <a:blip r:embed="rId5"/>
                <a:stretch>
                  <a:fillRect l="-960" t="-2206" r="-192" b="-8824"/>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5122AF0A-F60C-CF3F-F6AA-3B44CDD2FFC5}"/>
              </a:ext>
            </a:extLst>
          </p:cNvPr>
          <p:cNvSpPr txBox="1"/>
          <p:nvPr/>
        </p:nvSpPr>
        <p:spPr>
          <a:xfrm>
            <a:off x="6191792" y="4874955"/>
            <a:ext cx="6097712" cy="646331"/>
          </a:xfrm>
          <a:prstGeom prst="rect">
            <a:avLst/>
          </a:prstGeom>
          <a:noFill/>
        </p:spPr>
        <p:txBody>
          <a:bodyPr wrap="square">
            <a:spAutoFit/>
          </a:bodyPr>
          <a:lstStyle/>
          <a:p>
            <a:r>
              <a:rPr lang="ja-JP" altLang="en-US" sz="1200" b="0" i="0" dirty="0">
                <a:solidFill>
                  <a:srgbClr val="222222"/>
                </a:solidFill>
                <a:effectLst/>
                <a:latin typeface="Arial" panose="020B0604020202020204" pitchFamily="34" charset="0"/>
              </a:rPr>
              <a:t>以下の論文を参考にした補正を加える</a:t>
            </a:r>
            <a:endParaRPr lang="en-US" altLang="ja-JP" sz="1200" b="0" i="0" dirty="0">
              <a:solidFill>
                <a:srgbClr val="222222"/>
              </a:solidFill>
              <a:effectLst/>
              <a:latin typeface="Arial" panose="020B0604020202020204" pitchFamily="34" charset="0"/>
            </a:endParaRPr>
          </a:p>
          <a:p>
            <a:r>
              <a:rPr lang="en-US" altLang="ja-JP" sz="1200" b="0" i="0" dirty="0">
                <a:solidFill>
                  <a:srgbClr val="222222"/>
                </a:solidFill>
                <a:effectLst/>
                <a:latin typeface="Arial" panose="020B0604020202020204" pitchFamily="34" charset="0"/>
              </a:rPr>
              <a:t>Wu, </a:t>
            </a:r>
            <a:r>
              <a:rPr lang="en-US" altLang="ja-JP" sz="1200" b="0" i="0" dirty="0" err="1">
                <a:solidFill>
                  <a:srgbClr val="222222"/>
                </a:solidFill>
                <a:effectLst/>
                <a:latin typeface="Arial" panose="020B0604020202020204" pitchFamily="34" charset="0"/>
              </a:rPr>
              <a:t>Mengjing</a:t>
            </a:r>
            <a:r>
              <a:rPr lang="en-US" altLang="ja-JP" sz="1200" b="0" i="0" dirty="0">
                <a:solidFill>
                  <a:srgbClr val="222222"/>
                </a:solidFill>
                <a:effectLst/>
                <a:latin typeface="Arial" panose="020B0604020202020204" pitchFamily="34" charset="0"/>
              </a:rPr>
              <a:t>, Junyu Xuan, and Jie Lu. "Functional </a:t>
            </a:r>
            <a:r>
              <a:rPr lang="en-US" altLang="ja-JP" sz="1200" b="0" i="0" dirty="0" err="1">
                <a:solidFill>
                  <a:srgbClr val="222222"/>
                </a:solidFill>
                <a:effectLst/>
                <a:latin typeface="Arial" panose="020B0604020202020204" pitchFamily="34" charset="0"/>
              </a:rPr>
              <a:t>wasserstein</a:t>
            </a:r>
            <a:r>
              <a:rPr lang="en-US" altLang="ja-JP" sz="1200" b="0" i="0" dirty="0">
                <a:solidFill>
                  <a:srgbClr val="222222"/>
                </a:solidFill>
                <a:effectLst/>
                <a:latin typeface="Arial" panose="020B0604020202020204" pitchFamily="34" charset="0"/>
              </a:rPr>
              <a:t> bridge inference for </a:t>
            </a:r>
            <a:r>
              <a:rPr lang="en-US" altLang="ja-JP" sz="1200" b="0" i="0" dirty="0" err="1">
                <a:solidFill>
                  <a:srgbClr val="222222"/>
                </a:solidFill>
                <a:effectLst/>
                <a:latin typeface="Arial" panose="020B0604020202020204" pitchFamily="34" charset="0"/>
              </a:rPr>
              <a:t>bayesian</a:t>
            </a:r>
            <a:r>
              <a:rPr lang="en-US" altLang="ja-JP" sz="1200" b="0" i="0" dirty="0">
                <a:solidFill>
                  <a:srgbClr val="222222"/>
                </a:solidFill>
                <a:effectLst/>
                <a:latin typeface="Arial" panose="020B0604020202020204" pitchFamily="34" charset="0"/>
              </a:rPr>
              <a:t> deep learning." , 2024.</a:t>
            </a:r>
            <a:endParaRPr lang="ja-JP" altLang="en-US" sz="1200" dirty="0"/>
          </a:p>
        </p:txBody>
      </p:sp>
    </p:spTree>
    <p:extLst>
      <p:ext uri="{BB962C8B-B14F-4D97-AF65-F5344CB8AC3E}">
        <p14:creationId xmlns:p14="http://schemas.microsoft.com/office/powerpoint/2010/main" val="264825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84C8B-72D5-E422-F21E-59084D5C076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75CDEFE-F021-A231-D73B-01075887026F}"/>
              </a:ext>
            </a:extLst>
          </p:cNvPr>
          <p:cNvSpPr txBox="1"/>
          <p:nvPr/>
        </p:nvSpPr>
        <p:spPr>
          <a:xfrm>
            <a:off x="4130211" y="3013501"/>
            <a:ext cx="3931577" cy="830997"/>
          </a:xfrm>
          <a:prstGeom prst="rect">
            <a:avLst/>
          </a:prstGeom>
          <a:noFill/>
        </p:spPr>
        <p:txBody>
          <a:bodyPr wrap="square" rtlCol="0">
            <a:spAutoFit/>
          </a:bodyPr>
          <a:lstStyle/>
          <a:p>
            <a:r>
              <a:rPr kumimoji="1" lang="en-US" altLang="ja-JP" sz="4800" dirty="0"/>
              <a:t>Experiments</a:t>
            </a:r>
            <a:endParaRPr kumimoji="1" lang="ja-JP" altLang="en-US" sz="4800" dirty="0"/>
          </a:p>
        </p:txBody>
      </p:sp>
    </p:spTree>
    <p:extLst>
      <p:ext uri="{BB962C8B-B14F-4D97-AF65-F5344CB8AC3E}">
        <p14:creationId xmlns:p14="http://schemas.microsoft.com/office/powerpoint/2010/main" val="23886531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E826BF3-5477-D2F4-7C59-B5B1CBE05817}"/>
              </a:ext>
            </a:extLst>
          </p:cNvPr>
          <p:cNvPicPr>
            <a:picLocks noChangeAspect="1"/>
          </p:cNvPicPr>
          <p:nvPr/>
        </p:nvPicPr>
        <p:blipFill>
          <a:blip r:embed="rId2"/>
          <a:stretch>
            <a:fillRect/>
          </a:stretch>
        </p:blipFill>
        <p:spPr>
          <a:xfrm>
            <a:off x="1142372" y="2240606"/>
            <a:ext cx="7149840" cy="4617394"/>
          </a:xfrm>
          <a:prstGeom prst="rect">
            <a:avLst/>
          </a:prstGeom>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3C560BC9-FD38-2F70-89E6-1B3E14FAE2D7}"/>
                  </a:ext>
                </a:extLst>
              </p:cNvPr>
              <p:cNvSpPr txBox="1"/>
              <p:nvPr/>
            </p:nvSpPr>
            <p:spPr>
              <a:xfrm>
                <a:off x="2693180" y="1477589"/>
                <a:ext cx="7797327" cy="738664"/>
              </a:xfrm>
              <a:prstGeom prst="rect">
                <a:avLst/>
              </a:prstGeom>
              <a:noFill/>
            </p:spPr>
            <p:txBody>
              <a:bodyPr wrap="square" lIns="0" tIns="0" rIns="0" bIns="0" rtlCol="0">
                <a:spAutoFit/>
              </a:bodyPr>
              <a:lstStyle/>
              <a:p>
                <a14:m>
                  <m:oMath xmlns:m="http://schemas.openxmlformats.org/officeDocument/2006/math">
                    <m:r>
                      <a:rPr kumimoji="1" lang="en-US" altLang="ja-JP" sz="1600" b="0" i="1" smtClean="0">
                        <a:latin typeface="Cambria Math" panose="02040503050406030204" pitchFamily="18" charset="0"/>
                      </a:rPr>
                      <m:t>𝑥</m:t>
                    </m:r>
                    <m:r>
                      <a:rPr kumimoji="1" lang="en-US" altLang="ja-JP" sz="1600" b="0" i="1" smtClean="0">
                        <a:latin typeface="Cambria Math" panose="02040503050406030204" pitchFamily="18" charset="0"/>
                      </a:rPr>
                      <m:t>: </m:t>
                    </m:r>
                    <m:r>
                      <a:rPr kumimoji="1" lang="en-US" altLang="ja-JP" sz="1600" b="0" i="1" smtClean="0">
                        <a:latin typeface="Cambria Math" panose="02040503050406030204" pitchFamily="18" charset="0"/>
                      </a:rPr>
                      <m:t>𝑈</m:t>
                    </m:r>
                    <m:d>
                      <m:dPr>
                        <m:begChr m:val="["/>
                        <m:endChr m:val="]"/>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−0.75,−0.25</m:t>
                        </m:r>
                      </m:e>
                    </m:d>
                    <m:r>
                      <a:rPr kumimoji="1" lang="en-US" altLang="ja-JP" sz="1600" b="0" i="0" smtClean="0">
                        <a:latin typeface="Cambria Math" panose="02040503050406030204" pitchFamily="18" charset="0"/>
                      </a:rPr>
                      <m:t>,</m:t>
                    </m:r>
                    <m:r>
                      <a:rPr lang="en-US" altLang="ja-JP" sz="1600" i="1">
                        <a:latin typeface="Cambria Math" panose="02040503050406030204" pitchFamily="18" charset="0"/>
                      </a:rPr>
                      <m:t>𝑈</m:t>
                    </m:r>
                    <m:d>
                      <m:dPr>
                        <m:begChr m:val="["/>
                        <m:endChr m:val="]"/>
                        <m:ctrlPr>
                          <a:rPr lang="en-US" altLang="ja-JP" sz="1600" i="1">
                            <a:latin typeface="Cambria Math" panose="02040503050406030204" pitchFamily="18" charset="0"/>
                          </a:rPr>
                        </m:ctrlPr>
                      </m:dPr>
                      <m:e>
                        <m:r>
                          <a:rPr lang="en-US" altLang="ja-JP" sz="1600" i="1">
                            <a:latin typeface="Cambria Math" panose="02040503050406030204" pitchFamily="18" charset="0"/>
                          </a:rPr>
                          <m:t>0.</m:t>
                        </m:r>
                        <m:r>
                          <a:rPr lang="en-US" altLang="ja-JP" sz="1600" b="0" i="1" smtClean="0">
                            <a:latin typeface="Cambria Math" panose="02040503050406030204" pitchFamily="18" charset="0"/>
                          </a:rPr>
                          <m:t>2</m:t>
                        </m:r>
                        <m:r>
                          <a:rPr lang="en-US" altLang="ja-JP" sz="1600" i="1">
                            <a:latin typeface="Cambria Math" panose="02040503050406030204" pitchFamily="18" charset="0"/>
                          </a:rPr>
                          <m:t>5,0.</m:t>
                        </m:r>
                        <m:r>
                          <a:rPr lang="en-US" altLang="ja-JP" sz="1600" b="0" i="1" smtClean="0">
                            <a:latin typeface="Cambria Math" panose="02040503050406030204" pitchFamily="18" charset="0"/>
                          </a:rPr>
                          <m:t>7</m:t>
                        </m:r>
                        <m:r>
                          <a:rPr lang="en-US" altLang="ja-JP" sz="1600" i="1">
                            <a:latin typeface="Cambria Math" panose="02040503050406030204" pitchFamily="18" charset="0"/>
                          </a:rPr>
                          <m:t>5</m:t>
                        </m:r>
                      </m:e>
                    </m:d>
                    <m:r>
                      <a:rPr lang="ja-JP" altLang="en-US" sz="1600" i="1" smtClean="0">
                        <a:latin typeface="Cambria Math" panose="02040503050406030204" pitchFamily="18" charset="0"/>
                      </a:rPr>
                      <m:t>の</m:t>
                    </m:r>
                  </m:oMath>
                </a14:m>
                <a:r>
                  <a:rPr kumimoji="1" lang="ja-JP" altLang="en-US" sz="1600" b="0" dirty="0">
                    <a:latin typeface="Cambria Math" panose="02040503050406030204" pitchFamily="18" charset="0"/>
                  </a:rPr>
                  <a:t>それぞれから</a:t>
                </a:r>
                <a:r>
                  <a:rPr kumimoji="1" lang="en-US" altLang="ja-JP" sz="1600" b="0" dirty="0">
                    <a:latin typeface="Cambria Math" panose="02040503050406030204" pitchFamily="18" charset="0"/>
                  </a:rPr>
                  <a:t>10</a:t>
                </a:r>
                <a:r>
                  <a:rPr kumimoji="1" lang="ja-JP" altLang="en-US" sz="1600" b="0" dirty="0">
                    <a:latin typeface="Cambria Math" panose="02040503050406030204" pitchFamily="18" charset="0"/>
                  </a:rPr>
                  <a:t>点ずつサンプリング</a:t>
                </a:r>
                <a:endParaRPr lang="en-US" altLang="ja-JP" sz="1600" dirty="0">
                  <a:latin typeface="Cambria Math" panose="02040503050406030204" pitchFamily="18" charset="0"/>
                </a:endParaRPr>
              </a:p>
              <a:p>
                <a:r>
                  <a:rPr lang="ja-JP" altLang="en-US" sz="1600" dirty="0">
                    <a:latin typeface="Cambria Math" panose="02040503050406030204" pitchFamily="18" charset="0"/>
                  </a:rPr>
                  <a:t>　</a:t>
                </a:r>
                <a:r>
                  <a:rPr lang="ja-JP" altLang="en-US" sz="1400" dirty="0">
                    <a:latin typeface="Cambria Math" panose="02040503050406030204" pitchFamily="18" charset="0"/>
                  </a:rPr>
                  <a:t>→ </a:t>
                </a:r>
                <a14:m>
                  <m:oMath xmlns:m="http://schemas.openxmlformats.org/officeDocument/2006/math">
                    <m:d>
                      <m:dPr>
                        <m:begChr m:val="["/>
                        <m:endChr m:val="]"/>
                        <m:ctrlPr>
                          <a:rPr lang="en-US" altLang="ja-JP" sz="1400" i="1">
                            <a:latin typeface="Cambria Math" panose="02040503050406030204" pitchFamily="18" charset="0"/>
                          </a:rPr>
                        </m:ctrlPr>
                      </m:dPr>
                      <m:e>
                        <m:r>
                          <a:rPr lang="en-US" altLang="ja-JP" sz="1400" b="0" i="1" smtClean="0">
                            <a:latin typeface="Cambria Math" panose="02040503050406030204" pitchFamily="18" charset="0"/>
                          </a:rPr>
                          <m:t>−</m:t>
                        </m:r>
                        <m:r>
                          <a:rPr lang="en-US" altLang="ja-JP" sz="1400" i="1">
                            <a:latin typeface="Cambria Math" panose="02040503050406030204" pitchFamily="18" charset="0"/>
                          </a:rPr>
                          <m:t>0.25,0.</m:t>
                        </m:r>
                        <m:r>
                          <a:rPr lang="en-US" altLang="ja-JP" sz="1400" b="0" i="1" smtClean="0">
                            <a:latin typeface="Cambria Math" panose="02040503050406030204" pitchFamily="18" charset="0"/>
                          </a:rPr>
                          <m:t>25</m:t>
                        </m:r>
                      </m:e>
                    </m:d>
                  </m:oMath>
                </a14:m>
                <a:r>
                  <a:rPr kumimoji="1" lang="ja-JP" altLang="en-US" sz="1400" b="0" dirty="0">
                    <a:latin typeface="Cambria Math" panose="02040503050406030204" pitchFamily="18" charset="0"/>
                  </a:rPr>
                  <a:t>は補完が必要な問題設定</a:t>
                </a:r>
                <a:endParaRPr kumimoji="1" lang="en-US" altLang="ja-JP" sz="1600" b="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sz="1600" b="0" i="1" smtClean="0">
                          <a:latin typeface="Cambria Math" panose="02040503050406030204" pitchFamily="18" charset="0"/>
                        </a:rPr>
                        <m:t>𝑦</m:t>
                      </m:r>
                      <m:r>
                        <a:rPr kumimoji="1" lang="en-US" altLang="ja-JP" sz="1600" b="0" i="1" smtClean="0">
                          <a:latin typeface="Cambria Math" panose="02040503050406030204" pitchFamily="18" charset="0"/>
                        </a:rPr>
                        <m:t>=</m:t>
                      </m:r>
                      <m:func>
                        <m:funcPr>
                          <m:ctrlPr>
                            <a:rPr kumimoji="1" lang="en-US" altLang="ja-JP" sz="1600" b="0" i="1" smtClean="0">
                              <a:latin typeface="Cambria Math" panose="02040503050406030204" pitchFamily="18" charset="0"/>
                            </a:rPr>
                          </m:ctrlPr>
                        </m:funcPr>
                        <m:fName>
                          <m:r>
                            <m:rPr>
                              <m:sty m:val="p"/>
                            </m:rPr>
                            <a:rPr kumimoji="1" lang="en-US" altLang="ja-JP" sz="1600" b="0" i="0" smtClean="0">
                              <a:latin typeface="Cambria Math" panose="02040503050406030204" pitchFamily="18" charset="0"/>
                            </a:rPr>
                            <m:t>sin</m:t>
                          </m:r>
                        </m:fName>
                        <m:e>
                          <m:d>
                            <m:dPr>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3</m:t>
                              </m:r>
                              <m:r>
                                <a:rPr kumimoji="1" lang="en-US" altLang="ja-JP" sz="1600" b="0" i="1" smtClean="0">
                                  <a:latin typeface="Cambria Math" panose="02040503050406030204" pitchFamily="18" charset="0"/>
                                </a:rPr>
                                <m:t>𝜋</m:t>
                              </m:r>
                              <m:r>
                                <a:rPr kumimoji="1" lang="en-US" altLang="ja-JP" sz="1600" b="0" i="1" smtClean="0">
                                  <a:latin typeface="Cambria Math" panose="02040503050406030204" pitchFamily="18" charset="0"/>
                                </a:rPr>
                                <m:t>𝑥</m:t>
                              </m:r>
                            </m:e>
                          </m:d>
                        </m:e>
                      </m:func>
                      <m:r>
                        <a:rPr kumimoji="1" lang="en-US" altLang="ja-JP" sz="1600" b="0" i="1" smtClean="0">
                          <a:latin typeface="Cambria Math" panose="02040503050406030204" pitchFamily="18" charset="0"/>
                        </a:rPr>
                        <m:t>+0.3</m:t>
                      </m:r>
                      <m:func>
                        <m:funcPr>
                          <m:ctrlPr>
                            <a:rPr kumimoji="1" lang="en-US" altLang="ja-JP" sz="1600" b="0" i="1" smtClean="0">
                              <a:latin typeface="Cambria Math" panose="02040503050406030204" pitchFamily="18" charset="0"/>
                            </a:rPr>
                          </m:ctrlPr>
                        </m:funcPr>
                        <m:fName>
                          <m:r>
                            <m:rPr>
                              <m:sty m:val="p"/>
                            </m:rPr>
                            <a:rPr kumimoji="1" lang="en-US" altLang="ja-JP" sz="1600" b="0" i="0" smtClean="0">
                              <a:latin typeface="Cambria Math" panose="02040503050406030204" pitchFamily="18" charset="0"/>
                            </a:rPr>
                            <m:t>cos</m:t>
                          </m:r>
                        </m:fName>
                        <m:e>
                          <m:d>
                            <m:dPr>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9</m:t>
                              </m:r>
                              <m:r>
                                <a:rPr kumimoji="1" lang="en-US" altLang="ja-JP" sz="1600" b="0" i="1" smtClean="0">
                                  <a:latin typeface="Cambria Math" panose="02040503050406030204" pitchFamily="18" charset="0"/>
                                </a:rPr>
                                <m:t>𝜋</m:t>
                              </m:r>
                              <m:r>
                                <a:rPr kumimoji="1" lang="en-US" altLang="ja-JP" sz="1600" b="0" i="1" smtClean="0">
                                  <a:latin typeface="Cambria Math" panose="02040503050406030204" pitchFamily="18" charset="0"/>
                                </a:rPr>
                                <m:t>𝑥</m:t>
                              </m:r>
                            </m:e>
                          </m:d>
                        </m:e>
                      </m:func>
                      <m:r>
                        <a:rPr kumimoji="1" lang="en-US" altLang="ja-JP" sz="1600" b="0" i="1" smtClean="0">
                          <a:latin typeface="Cambria Math" panose="02040503050406030204" pitchFamily="18" charset="0"/>
                        </a:rPr>
                        <m:t>+0.5</m:t>
                      </m:r>
                      <m:func>
                        <m:funcPr>
                          <m:ctrlPr>
                            <a:rPr kumimoji="1" lang="en-US" altLang="ja-JP" sz="1600" b="0" i="1" smtClean="0">
                              <a:latin typeface="Cambria Math" panose="02040503050406030204" pitchFamily="18" charset="0"/>
                            </a:rPr>
                          </m:ctrlPr>
                        </m:funcPr>
                        <m:fName>
                          <m:r>
                            <m:rPr>
                              <m:sty m:val="p"/>
                            </m:rPr>
                            <a:rPr kumimoji="1" lang="en-US" altLang="ja-JP" sz="1600" b="0" i="0" smtClean="0">
                              <a:latin typeface="Cambria Math" panose="02040503050406030204" pitchFamily="18" charset="0"/>
                            </a:rPr>
                            <m:t>sin</m:t>
                          </m:r>
                        </m:fName>
                        <m:e>
                          <m:d>
                            <m:dPr>
                              <m:ctrlPr>
                                <a:rPr kumimoji="1" lang="en-US" altLang="ja-JP" sz="1600" b="0" i="1" smtClean="0">
                                  <a:latin typeface="Cambria Math" panose="02040503050406030204" pitchFamily="18" charset="0"/>
                                </a:rPr>
                              </m:ctrlPr>
                            </m:dPr>
                            <m:e>
                              <m:r>
                                <a:rPr kumimoji="1" lang="en-US" altLang="ja-JP" sz="1600" b="0" i="1" smtClean="0">
                                  <a:latin typeface="Cambria Math" panose="02040503050406030204" pitchFamily="18" charset="0"/>
                                </a:rPr>
                                <m:t>7</m:t>
                              </m:r>
                              <m:r>
                                <a:rPr kumimoji="1" lang="en-US" altLang="ja-JP" sz="1600" b="0" i="1" smtClean="0">
                                  <a:latin typeface="Cambria Math" panose="02040503050406030204" pitchFamily="18" charset="0"/>
                                </a:rPr>
                                <m:t>𝜋</m:t>
                              </m:r>
                              <m:r>
                                <a:rPr kumimoji="1" lang="en-US" altLang="ja-JP" sz="1600" b="0" i="1" smtClean="0">
                                  <a:latin typeface="Cambria Math" panose="02040503050406030204" pitchFamily="18" charset="0"/>
                                </a:rPr>
                                <m:t>𝑥</m:t>
                              </m:r>
                            </m:e>
                          </m:d>
                        </m:e>
                      </m:func>
                      <m:r>
                        <a:rPr kumimoji="1" lang="en-US" altLang="ja-JP" sz="1600" b="0" i="1" smtClean="0">
                          <a:latin typeface="Cambria Math" panose="02040503050406030204" pitchFamily="18" charset="0"/>
                        </a:rPr>
                        <m:t>+</m:t>
                      </m:r>
                      <m:r>
                        <a:rPr kumimoji="1" lang="en-US" altLang="ja-JP" sz="1600" b="0" i="1" smtClean="0">
                          <a:latin typeface="Cambria Math" panose="02040503050406030204" pitchFamily="18" charset="0"/>
                        </a:rPr>
                        <m:t>𝜖</m:t>
                      </m:r>
                      <m:r>
                        <a:rPr kumimoji="1" lang="en-US" altLang="ja-JP" sz="1600" b="0" i="1" smtClean="0">
                          <a:latin typeface="Cambria Math" panose="02040503050406030204" pitchFamily="18" charset="0"/>
                        </a:rPr>
                        <m:t>,  </m:t>
                      </m:r>
                      <m:r>
                        <a:rPr kumimoji="1" lang="en-US" altLang="ja-JP" sz="1600" b="0" i="1" smtClean="0">
                          <a:latin typeface="Cambria Math" panose="02040503050406030204" pitchFamily="18" charset="0"/>
                        </a:rPr>
                        <m:t>𝜖</m:t>
                      </m:r>
                      <m:r>
                        <a:rPr kumimoji="1" lang="en-US" altLang="ja-JP" sz="1600" b="0" i="1" smtClean="0">
                          <a:latin typeface="Cambria Math" panose="02040503050406030204" pitchFamily="18" charset="0"/>
                        </a:rPr>
                        <m:t>~</m:t>
                      </m:r>
                      <m:r>
                        <a:rPr kumimoji="1" lang="en-US" altLang="ja-JP" sz="1600" b="0" i="1" smtClean="0">
                          <a:latin typeface="Cambria Math" panose="02040503050406030204" pitchFamily="18" charset="0"/>
                        </a:rPr>
                        <m:t>𝑁</m:t>
                      </m:r>
                      <m:r>
                        <a:rPr kumimoji="1" lang="en-US" altLang="ja-JP" sz="1600" b="0" i="1" smtClean="0">
                          <a:latin typeface="Cambria Math" panose="02040503050406030204" pitchFamily="18" charset="0"/>
                        </a:rPr>
                        <m:t>(</m:t>
                      </m:r>
                      <m:sSup>
                        <m:sSupPr>
                          <m:ctrlPr>
                            <a:rPr kumimoji="1" lang="en-US" altLang="ja-JP" sz="1600" b="0" i="1" smtClean="0">
                              <a:latin typeface="Cambria Math" panose="02040503050406030204" pitchFamily="18" charset="0"/>
                            </a:rPr>
                          </m:ctrlPr>
                        </m:sSupPr>
                        <m:e>
                          <m:r>
                            <a:rPr kumimoji="1" lang="en-US" altLang="ja-JP" sz="1600" b="0" i="1" smtClean="0">
                              <a:latin typeface="Cambria Math" panose="02040503050406030204" pitchFamily="18" charset="0"/>
                            </a:rPr>
                            <m:t>0,0.5</m:t>
                          </m:r>
                        </m:e>
                        <m:sup>
                          <m:r>
                            <a:rPr kumimoji="1" lang="en-US" altLang="ja-JP" sz="1600" b="0" i="1" smtClean="0">
                              <a:latin typeface="Cambria Math" panose="02040503050406030204" pitchFamily="18" charset="0"/>
                            </a:rPr>
                            <m:t>2</m:t>
                          </m:r>
                        </m:sup>
                      </m:sSup>
                      <m:r>
                        <a:rPr kumimoji="1" lang="en-US" altLang="ja-JP" sz="1600" b="0" i="1" smtClean="0">
                          <a:latin typeface="Cambria Math" panose="02040503050406030204" pitchFamily="18" charset="0"/>
                        </a:rPr>
                        <m:t>)</m:t>
                      </m:r>
                    </m:oMath>
                  </m:oMathPara>
                </a14:m>
                <a:endParaRPr kumimoji="1" lang="ja-JP" altLang="en-US" sz="1600" dirty="0"/>
              </a:p>
            </p:txBody>
          </p:sp>
        </mc:Choice>
        <mc:Fallback xmlns="">
          <p:sp>
            <p:nvSpPr>
              <p:cNvPr id="4" name="テキスト ボックス 3">
                <a:extLst>
                  <a:ext uri="{FF2B5EF4-FFF2-40B4-BE49-F238E27FC236}">
                    <a16:creationId xmlns:a16="http://schemas.microsoft.com/office/drawing/2014/main" id="{3C560BC9-FD38-2F70-89E6-1B3E14FAE2D7}"/>
                  </a:ext>
                </a:extLst>
              </p:cNvPr>
              <p:cNvSpPr txBox="1">
                <a:spLocks noRot="1" noChangeAspect="1" noMove="1" noResize="1" noEditPoints="1" noAdjustHandles="1" noChangeArrowheads="1" noChangeShapeType="1" noTextEdit="1"/>
              </p:cNvSpPr>
              <p:nvPr/>
            </p:nvSpPr>
            <p:spPr>
              <a:xfrm>
                <a:off x="2693180" y="1477589"/>
                <a:ext cx="7797327" cy="738664"/>
              </a:xfrm>
              <a:prstGeom prst="rect">
                <a:avLst/>
              </a:prstGeom>
              <a:blipFill>
                <a:blip r:embed="rId3"/>
                <a:stretch>
                  <a:fillRect l="-938" t="-9836" b="-9836"/>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163B01C8-4D18-8046-BFB8-0617B9B64157}"/>
              </a:ext>
            </a:extLst>
          </p:cNvPr>
          <p:cNvSpPr txBox="1"/>
          <p:nvPr/>
        </p:nvSpPr>
        <p:spPr>
          <a:xfrm>
            <a:off x="813604" y="501909"/>
            <a:ext cx="4590603" cy="523220"/>
          </a:xfrm>
          <a:prstGeom prst="rect">
            <a:avLst/>
          </a:prstGeom>
          <a:noFill/>
        </p:spPr>
        <p:txBody>
          <a:bodyPr wrap="square" rtlCol="0">
            <a:spAutoFit/>
          </a:bodyPr>
          <a:lstStyle/>
          <a:p>
            <a:r>
              <a:rPr kumimoji="1" lang="ja-JP" altLang="en-US" sz="2800" dirty="0"/>
              <a:t>回帰における各手法の比較</a:t>
            </a:r>
          </a:p>
        </p:txBody>
      </p:sp>
      <p:sp>
        <p:nvSpPr>
          <p:cNvPr id="6" name="テキスト ボックス 5">
            <a:extLst>
              <a:ext uri="{FF2B5EF4-FFF2-40B4-BE49-F238E27FC236}">
                <a16:creationId xmlns:a16="http://schemas.microsoft.com/office/drawing/2014/main" id="{A15D1E16-522E-AF28-A7CC-7A2335F80152}"/>
              </a:ext>
            </a:extLst>
          </p:cNvPr>
          <p:cNvSpPr txBox="1"/>
          <p:nvPr/>
        </p:nvSpPr>
        <p:spPr>
          <a:xfrm>
            <a:off x="8292212" y="2523056"/>
            <a:ext cx="3565132" cy="1077218"/>
          </a:xfrm>
          <a:prstGeom prst="rect">
            <a:avLst/>
          </a:prstGeom>
          <a:noFill/>
        </p:spPr>
        <p:txBody>
          <a:bodyPr wrap="square" rtlCol="0">
            <a:spAutoFit/>
          </a:bodyPr>
          <a:lstStyle/>
          <a:p>
            <a:r>
              <a:rPr lang="en-US" altLang="ja-JP" sz="1600" dirty="0"/>
              <a:t>※ Bayesian Neural Networks</a:t>
            </a:r>
            <a:r>
              <a:rPr lang="ja-JP" altLang="en-US" sz="1600" dirty="0"/>
              <a:t>の文脈で出てくる手法を比較しているが、そうでないような手法と比較してどうかは論文から読み取れなかった</a:t>
            </a:r>
            <a:endParaRPr kumimoji="1" lang="ja-JP" altLang="en-US" sz="1600" dirty="0"/>
          </a:p>
        </p:txBody>
      </p:sp>
      <p:sp>
        <p:nvSpPr>
          <p:cNvPr id="9" name="テキスト ボックス 8">
            <a:extLst>
              <a:ext uri="{FF2B5EF4-FFF2-40B4-BE49-F238E27FC236}">
                <a16:creationId xmlns:a16="http://schemas.microsoft.com/office/drawing/2014/main" id="{E9101D4D-0DF7-728B-117E-F4A5FAE98E50}"/>
              </a:ext>
            </a:extLst>
          </p:cNvPr>
          <p:cNvSpPr txBox="1"/>
          <p:nvPr/>
        </p:nvSpPr>
        <p:spPr>
          <a:xfrm>
            <a:off x="1232899" y="1046256"/>
            <a:ext cx="7797327" cy="369332"/>
          </a:xfrm>
          <a:prstGeom prst="rect">
            <a:avLst/>
          </a:prstGeom>
          <a:noFill/>
        </p:spPr>
        <p:txBody>
          <a:bodyPr wrap="none" rtlCol="0">
            <a:spAutoFit/>
          </a:bodyPr>
          <a:lstStyle/>
          <a:p>
            <a:r>
              <a:rPr kumimoji="1" lang="ja-JP" altLang="en-US" dirty="0"/>
              <a:t>以下の</a:t>
            </a:r>
            <a:r>
              <a:rPr kumimoji="1" lang="en-US" altLang="ja-JP" dirty="0"/>
              <a:t>x</a:t>
            </a:r>
            <a:r>
              <a:rPr kumimoji="1" lang="ja-JP" altLang="en-US" dirty="0"/>
              <a:t>と</a:t>
            </a:r>
            <a:r>
              <a:rPr kumimoji="1" lang="en-US" altLang="ja-JP" dirty="0"/>
              <a:t>y</a:t>
            </a:r>
            <a:r>
              <a:rPr kumimoji="1" lang="ja-JP" altLang="en-US" dirty="0"/>
              <a:t>に従うサンプルが与えられたときの各手法の比較を行っている</a:t>
            </a:r>
          </a:p>
        </p:txBody>
      </p:sp>
      <p:sp>
        <p:nvSpPr>
          <p:cNvPr id="10" name="正方形/長方形 9">
            <a:extLst>
              <a:ext uri="{FF2B5EF4-FFF2-40B4-BE49-F238E27FC236}">
                <a16:creationId xmlns:a16="http://schemas.microsoft.com/office/drawing/2014/main" id="{703E84D4-D0B1-59B2-DB7A-FE0F26BEB3B4}"/>
              </a:ext>
            </a:extLst>
          </p:cNvPr>
          <p:cNvSpPr/>
          <p:nvPr/>
        </p:nvSpPr>
        <p:spPr>
          <a:xfrm>
            <a:off x="1142372" y="2288742"/>
            <a:ext cx="1806306" cy="154584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165964B5-1A57-389E-2798-3C46BAF66610}"/>
              </a:ext>
            </a:extLst>
          </p:cNvPr>
          <p:cNvSpPr txBox="1"/>
          <p:nvPr/>
        </p:nvSpPr>
        <p:spPr>
          <a:xfrm>
            <a:off x="77405" y="1929913"/>
            <a:ext cx="1064968" cy="523220"/>
          </a:xfrm>
          <a:prstGeom prst="rect">
            <a:avLst/>
          </a:prstGeom>
          <a:noFill/>
        </p:spPr>
        <p:txBody>
          <a:bodyPr wrap="square" rtlCol="0">
            <a:spAutoFit/>
          </a:bodyPr>
          <a:lstStyle/>
          <a:p>
            <a:r>
              <a:rPr kumimoji="1" lang="ja-JP" altLang="en-US" sz="1600" dirty="0"/>
              <a:t>提案手法</a:t>
            </a:r>
            <a:endParaRPr kumimoji="1" lang="en-US" altLang="ja-JP" sz="1600" dirty="0"/>
          </a:p>
          <a:p>
            <a:r>
              <a:rPr kumimoji="1" lang="en-US" altLang="ja-JP" sz="1200" dirty="0"/>
              <a:t>(KL)</a:t>
            </a:r>
            <a:endParaRPr kumimoji="1" lang="ja-JP" altLang="en-US" sz="1200" dirty="0"/>
          </a:p>
        </p:txBody>
      </p:sp>
      <p:sp>
        <p:nvSpPr>
          <p:cNvPr id="13" name="テキスト ボックス 12">
            <a:extLst>
              <a:ext uri="{FF2B5EF4-FFF2-40B4-BE49-F238E27FC236}">
                <a16:creationId xmlns:a16="http://schemas.microsoft.com/office/drawing/2014/main" id="{0F979C17-3A2B-BAC5-F3FC-FA2697D3BC00}"/>
              </a:ext>
            </a:extLst>
          </p:cNvPr>
          <p:cNvSpPr txBox="1"/>
          <p:nvPr/>
        </p:nvSpPr>
        <p:spPr>
          <a:xfrm>
            <a:off x="8292212" y="4309987"/>
            <a:ext cx="3698696" cy="1200329"/>
          </a:xfrm>
          <a:prstGeom prst="rect">
            <a:avLst/>
          </a:prstGeom>
          <a:noFill/>
        </p:spPr>
        <p:txBody>
          <a:bodyPr wrap="square" rtlCol="0">
            <a:spAutoFit/>
          </a:bodyPr>
          <a:lstStyle/>
          <a:p>
            <a:r>
              <a:rPr kumimoji="1" lang="ja-JP" altLang="en-US" dirty="0"/>
              <a:t>見えていない範囲の評価がどうあるべきか難しいが、</a:t>
            </a:r>
            <a:r>
              <a:rPr kumimoji="1" lang="en-US" altLang="ja-JP" dirty="0" err="1"/>
              <a:t>fVI</a:t>
            </a:r>
            <a:r>
              <a:rPr kumimoji="1" lang="ja-JP" altLang="en-US" dirty="0"/>
              <a:t>と</a:t>
            </a:r>
            <a:r>
              <a:rPr kumimoji="1" lang="en-US" altLang="ja-JP" dirty="0"/>
              <a:t>FVIMC</a:t>
            </a:r>
            <a:r>
              <a:rPr kumimoji="1" lang="ja-JP" altLang="en-US" dirty="0"/>
              <a:t>がデータがない部分も上手く当てはまっていることが分かる</a:t>
            </a:r>
            <a:endParaRPr kumimoji="1" lang="en-US" altLang="ja-JP" dirty="0"/>
          </a:p>
        </p:txBody>
      </p:sp>
      <p:sp>
        <p:nvSpPr>
          <p:cNvPr id="2" name="正方形/長方形 1">
            <a:extLst>
              <a:ext uri="{FF2B5EF4-FFF2-40B4-BE49-F238E27FC236}">
                <a16:creationId xmlns:a16="http://schemas.microsoft.com/office/drawing/2014/main" id="{D4BB1848-B41E-0C65-C54D-1530FC348400}"/>
              </a:ext>
            </a:extLst>
          </p:cNvPr>
          <p:cNvSpPr/>
          <p:nvPr/>
        </p:nvSpPr>
        <p:spPr>
          <a:xfrm>
            <a:off x="1142372" y="3900944"/>
            <a:ext cx="1806306" cy="1593983"/>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FA5DA3AC-1092-0104-3647-EEF80D31B3EE}"/>
              </a:ext>
            </a:extLst>
          </p:cNvPr>
          <p:cNvSpPr txBox="1"/>
          <p:nvPr/>
        </p:nvSpPr>
        <p:spPr>
          <a:xfrm>
            <a:off x="1" y="5041508"/>
            <a:ext cx="1304817" cy="523220"/>
          </a:xfrm>
          <a:prstGeom prst="rect">
            <a:avLst/>
          </a:prstGeom>
          <a:noFill/>
        </p:spPr>
        <p:txBody>
          <a:bodyPr wrap="square" rtlCol="0">
            <a:spAutoFit/>
          </a:bodyPr>
          <a:lstStyle/>
          <a:p>
            <a:r>
              <a:rPr kumimoji="1" lang="ja-JP" altLang="en-US" sz="1600" dirty="0"/>
              <a:t>提案手法</a:t>
            </a:r>
            <a:r>
              <a:rPr kumimoji="1" lang="en-US" altLang="ja-JP" sz="1200" dirty="0"/>
              <a:t>(Wasserstein)</a:t>
            </a:r>
            <a:endParaRPr kumimoji="1" lang="ja-JP" altLang="en-US" sz="1200" dirty="0"/>
          </a:p>
        </p:txBody>
      </p:sp>
    </p:spTree>
    <p:extLst>
      <p:ext uri="{BB962C8B-B14F-4D97-AF65-F5344CB8AC3E}">
        <p14:creationId xmlns:p14="http://schemas.microsoft.com/office/powerpoint/2010/main" val="1952893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F052E7B-D4D2-CC02-2C4A-E7213EA112B0}"/>
              </a:ext>
            </a:extLst>
          </p:cNvPr>
          <p:cNvSpPr txBox="1"/>
          <p:nvPr/>
        </p:nvSpPr>
        <p:spPr>
          <a:xfrm>
            <a:off x="813604" y="501909"/>
            <a:ext cx="6111178" cy="523220"/>
          </a:xfrm>
          <a:prstGeom prst="rect">
            <a:avLst/>
          </a:prstGeom>
          <a:noFill/>
        </p:spPr>
        <p:txBody>
          <a:bodyPr wrap="square" rtlCol="0">
            <a:spAutoFit/>
          </a:bodyPr>
          <a:lstStyle/>
          <a:p>
            <a:r>
              <a:rPr kumimoji="1" lang="ja-JP" altLang="en-US" sz="2800" dirty="0"/>
              <a:t>回帰の推定精度と計算速度</a:t>
            </a:r>
          </a:p>
        </p:txBody>
      </p:sp>
      <p:pic>
        <p:nvPicPr>
          <p:cNvPr id="4" name="図 3">
            <a:extLst>
              <a:ext uri="{FF2B5EF4-FFF2-40B4-BE49-F238E27FC236}">
                <a16:creationId xmlns:a16="http://schemas.microsoft.com/office/drawing/2014/main" id="{71E7B97E-18DA-04DA-76E1-142D7E5F2C0A}"/>
              </a:ext>
            </a:extLst>
          </p:cNvPr>
          <p:cNvPicPr>
            <a:picLocks noChangeAspect="1"/>
          </p:cNvPicPr>
          <p:nvPr/>
        </p:nvPicPr>
        <p:blipFill>
          <a:blip r:embed="rId2"/>
          <a:stretch>
            <a:fillRect/>
          </a:stretch>
        </p:blipFill>
        <p:spPr>
          <a:xfrm>
            <a:off x="3952368" y="1237711"/>
            <a:ext cx="8068154" cy="2579070"/>
          </a:xfrm>
          <a:prstGeom prst="rect">
            <a:avLst/>
          </a:prstGeom>
        </p:spPr>
      </p:pic>
      <p:pic>
        <p:nvPicPr>
          <p:cNvPr id="6" name="図 5">
            <a:extLst>
              <a:ext uri="{FF2B5EF4-FFF2-40B4-BE49-F238E27FC236}">
                <a16:creationId xmlns:a16="http://schemas.microsoft.com/office/drawing/2014/main" id="{FA35B92A-6296-48FC-1920-21EB1B83BF37}"/>
              </a:ext>
            </a:extLst>
          </p:cNvPr>
          <p:cNvPicPr>
            <a:picLocks noChangeAspect="1"/>
          </p:cNvPicPr>
          <p:nvPr/>
        </p:nvPicPr>
        <p:blipFill>
          <a:blip r:embed="rId3"/>
          <a:stretch>
            <a:fillRect/>
          </a:stretch>
        </p:blipFill>
        <p:spPr>
          <a:xfrm>
            <a:off x="1030699" y="4049354"/>
            <a:ext cx="4932676" cy="2025337"/>
          </a:xfrm>
          <a:prstGeom prst="rect">
            <a:avLst/>
          </a:prstGeom>
        </p:spPr>
      </p:pic>
      <p:sp>
        <p:nvSpPr>
          <p:cNvPr id="7" name="正方形/長方形 6">
            <a:extLst>
              <a:ext uri="{FF2B5EF4-FFF2-40B4-BE49-F238E27FC236}">
                <a16:creationId xmlns:a16="http://schemas.microsoft.com/office/drawing/2014/main" id="{E7E3CE70-2F5E-6DE5-6056-1856F6088526}"/>
              </a:ext>
            </a:extLst>
          </p:cNvPr>
          <p:cNvSpPr/>
          <p:nvPr/>
        </p:nvSpPr>
        <p:spPr>
          <a:xfrm>
            <a:off x="4127419" y="2415710"/>
            <a:ext cx="7461830" cy="26584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446E865-91A0-09AB-70A6-9E927EDFC3C9}"/>
              </a:ext>
            </a:extLst>
          </p:cNvPr>
          <p:cNvSpPr txBox="1"/>
          <p:nvPr/>
        </p:nvSpPr>
        <p:spPr>
          <a:xfrm>
            <a:off x="3579856" y="2077155"/>
            <a:ext cx="1095125" cy="338554"/>
          </a:xfrm>
          <a:prstGeom prst="rect">
            <a:avLst/>
          </a:prstGeom>
          <a:noFill/>
        </p:spPr>
        <p:txBody>
          <a:bodyPr wrap="square" rtlCol="0">
            <a:spAutoFit/>
          </a:bodyPr>
          <a:lstStyle/>
          <a:p>
            <a:r>
              <a:rPr kumimoji="1" lang="ja-JP" altLang="en-US" sz="1600" dirty="0"/>
              <a:t>提案手法</a:t>
            </a:r>
            <a:endParaRPr kumimoji="1" lang="en-US" altLang="ja-JP" sz="1600" dirty="0"/>
          </a:p>
        </p:txBody>
      </p:sp>
      <p:sp>
        <p:nvSpPr>
          <p:cNvPr id="11" name="正方形/長方形 10">
            <a:extLst>
              <a:ext uri="{FF2B5EF4-FFF2-40B4-BE49-F238E27FC236}">
                <a16:creationId xmlns:a16="http://schemas.microsoft.com/office/drawing/2014/main" id="{B5159A08-EEA6-2DFF-12F9-B0C4F52D2DB7}"/>
              </a:ext>
            </a:extLst>
          </p:cNvPr>
          <p:cNvSpPr/>
          <p:nvPr/>
        </p:nvSpPr>
        <p:spPr>
          <a:xfrm>
            <a:off x="1392781" y="4479819"/>
            <a:ext cx="4042248" cy="41126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1C7EF6E2-A27B-D983-9219-030AC60F3160}"/>
              </a:ext>
            </a:extLst>
          </p:cNvPr>
          <p:cNvSpPr txBox="1"/>
          <p:nvPr/>
        </p:nvSpPr>
        <p:spPr>
          <a:xfrm>
            <a:off x="492198" y="4552529"/>
            <a:ext cx="1095125" cy="338554"/>
          </a:xfrm>
          <a:prstGeom prst="rect">
            <a:avLst/>
          </a:prstGeom>
          <a:noFill/>
        </p:spPr>
        <p:txBody>
          <a:bodyPr wrap="square" rtlCol="0">
            <a:spAutoFit/>
          </a:bodyPr>
          <a:lstStyle/>
          <a:p>
            <a:r>
              <a:rPr kumimoji="1" lang="ja-JP" altLang="en-US" sz="1600" dirty="0"/>
              <a:t>提案手法</a:t>
            </a:r>
            <a:endParaRPr kumimoji="1" lang="en-US" altLang="ja-JP" sz="1600" dirty="0"/>
          </a:p>
        </p:txBody>
      </p:sp>
      <p:sp>
        <p:nvSpPr>
          <p:cNvPr id="13" name="テキスト ボックス 12">
            <a:extLst>
              <a:ext uri="{FF2B5EF4-FFF2-40B4-BE49-F238E27FC236}">
                <a16:creationId xmlns:a16="http://schemas.microsoft.com/office/drawing/2014/main" id="{BF4FE9F8-D0CB-D7F7-D063-1625C40D4E4B}"/>
              </a:ext>
            </a:extLst>
          </p:cNvPr>
          <p:cNvSpPr txBox="1"/>
          <p:nvPr/>
        </p:nvSpPr>
        <p:spPr>
          <a:xfrm>
            <a:off x="1177203" y="2270742"/>
            <a:ext cx="2236702" cy="1569660"/>
          </a:xfrm>
          <a:prstGeom prst="rect">
            <a:avLst/>
          </a:prstGeom>
          <a:noFill/>
        </p:spPr>
        <p:txBody>
          <a:bodyPr wrap="square" rtlCol="0">
            <a:spAutoFit/>
          </a:bodyPr>
          <a:lstStyle/>
          <a:p>
            <a:r>
              <a:rPr kumimoji="1" lang="ja-JP" altLang="en-US" sz="1600" dirty="0"/>
              <a:t>→ </a:t>
            </a:r>
            <a:endParaRPr kumimoji="1" lang="en-US" altLang="ja-JP" sz="1600" dirty="0"/>
          </a:p>
          <a:p>
            <a:r>
              <a:rPr lang="en-US" altLang="ja-JP" sz="1600" dirty="0"/>
              <a:t>7</a:t>
            </a:r>
            <a:r>
              <a:rPr lang="ja-JP" altLang="en-US" sz="1600" dirty="0"/>
              <a:t>つのデータセットに対する回帰の精度比較</a:t>
            </a:r>
            <a:r>
              <a:rPr lang="en-US" altLang="ja-JP" sz="1600" dirty="0"/>
              <a:t>, </a:t>
            </a:r>
            <a:r>
              <a:rPr lang="ja-JP" altLang="en-US" sz="1600" dirty="0"/>
              <a:t>提案手法がどの場合も高い水準で推定できている</a:t>
            </a:r>
            <a:endParaRPr kumimoji="1" lang="ja-JP" altLang="en-US" sz="1600" dirty="0"/>
          </a:p>
        </p:txBody>
      </p:sp>
      <p:sp>
        <p:nvSpPr>
          <p:cNvPr id="14" name="テキスト ボックス 13">
            <a:extLst>
              <a:ext uri="{FF2B5EF4-FFF2-40B4-BE49-F238E27FC236}">
                <a16:creationId xmlns:a16="http://schemas.microsoft.com/office/drawing/2014/main" id="{E4919CE9-31F5-9575-0DA5-07D109DB3D24}"/>
              </a:ext>
            </a:extLst>
          </p:cNvPr>
          <p:cNvSpPr txBox="1"/>
          <p:nvPr/>
        </p:nvSpPr>
        <p:spPr>
          <a:xfrm>
            <a:off x="6095999" y="4357819"/>
            <a:ext cx="5993331" cy="1231106"/>
          </a:xfrm>
          <a:prstGeom prst="rect">
            <a:avLst/>
          </a:prstGeom>
          <a:noFill/>
        </p:spPr>
        <p:txBody>
          <a:bodyPr wrap="square" rtlCol="0">
            <a:spAutoFit/>
          </a:bodyPr>
          <a:lstStyle/>
          <a:p>
            <a:r>
              <a:rPr lang="ja-JP" altLang="en-US" sz="1600" dirty="0"/>
              <a:t>← 上記のデータセットのうちで</a:t>
            </a:r>
            <a:r>
              <a:rPr lang="en-US" altLang="ja-JP" sz="1600" dirty="0"/>
              <a:t>Boston(</a:t>
            </a:r>
            <a:r>
              <a:rPr lang="ja-JP" altLang="en-US" sz="1600" dirty="0"/>
              <a:t>サンプル数</a:t>
            </a:r>
            <a:r>
              <a:rPr lang="en-US" altLang="ja-JP" sz="1600" dirty="0"/>
              <a:t>=455)</a:t>
            </a:r>
            <a:r>
              <a:rPr lang="ja-JP" altLang="en-US" sz="1600" dirty="0"/>
              <a:t>と</a:t>
            </a:r>
            <a:r>
              <a:rPr lang="en-US" altLang="ja-JP" sz="1600" dirty="0"/>
              <a:t>Protein(</a:t>
            </a:r>
            <a:r>
              <a:rPr lang="ja-JP" altLang="en-US" sz="1600" dirty="0"/>
              <a:t>サンプル数</a:t>
            </a:r>
            <a:r>
              <a:rPr lang="en-US" altLang="ja-JP" sz="1600" dirty="0"/>
              <a:t>=41157)</a:t>
            </a:r>
            <a:r>
              <a:rPr lang="ja-JP" altLang="en-US" sz="1600" dirty="0"/>
              <a:t>の計算速度の比較</a:t>
            </a:r>
            <a:r>
              <a:rPr lang="en-US" altLang="ja-JP" sz="1600" dirty="0"/>
              <a:t>, </a:t>
            </a:r>
          </a:p>
          <a:p>
            <a:r>
              <a:rPr lang="ja-JP" altLang="en-US" sz="1400" dirty="0"/>
              <a:t>・</a:t>
            </a:r>
            <a:r>
              <a:rPr lang="en-US" altLang="ja-JP" sz="1400" dirty="0"/>
              <a:t>KLBBB,</a:t>
            </a:r>
            <a:r>
              <a:rPr lang="ja-JP" altLang="en-US" sz="1400" dirty="0"/>
              <a:t> </a:t>
            </a:r>
            <a:r>
              <a:rPr lang="en-US" altLang="ja-JP" sz="1400" dirty="0"/>
              <a:t>SGLD</a:t>
            </a:r>
            <a:r>
              <a:rPr lang="ja-JP" altLang="en-US" sz="1400" dirty="0"/>
              <a:t>は早いが、精度がかなり悪い</a:t>
            </a:r>
            <a:endParaRPr lang="en-US" altLang="ja-JP" sz="1400" dirty="0"/>
          </a:p>
          <a:p>
            <a:r>
              <a:rPr kumimoji="1" lang="ja-JP" altLang="en-US" sz="1400" dirty="0"/>
              <a:t>・</a:t>
            </a:r>
            <a:r>
              <a:rPr kumimoji="1" lang="en-US" altLang="ja-JP" sz="1400" dirty="0" err="1"/>
              <a:t>fSGLD</a:t>
            </a:r>
            <a:r>
              <a:rPr kumimoji="1" lang="ja-JP" altLang="en-US" sz="1400" dirty="0"/>
              <a:t>はサンプル数が少ないと早くて、全体的に精度も良いが</a:t>
            </a:r>
            <a:r>
              <a:rPr lang="ja-JP" altLang="en-US" sz="1400" dirty="0"/>
              <a:t>、サンプル数が増えると遅い</a:t>
            </a:r>
            <a:endParaRPr lang="en-US" altLang="ja-JP" sz="1400" dirty="0"/>
          </a:p>
        </p:txBody>
      </p:sp>
      <p:sp>
        <p:nvSpPr>
          <p:cNvPr id="16" name="テキスト ボックス 15">
            <a:extLst>
              <a:ext uri="{FF2B5EF4-FFF2-40B4-BE49-F238E27FC236}">
                <a16:creationId xmlns:a16="http://schemas.microsoft.com/office/drawing/2014/main" id="{C0A7AA6D-A73B-D4BD-46EA-2BE0DD7A63C5}"/>
              </a:ext>
            </a:extLst>
          </p:cNvPr>
          <p:cNvSpPr txBox="1"/>
          <p:nvPr/>
        </p:nvSpPr>
        <p:spPr>
          <a:xfrm>
            <a:off x="3497037" y="6246397"/>
            <a:ext cx="6097604" cy="369332"/>
          </a:xfrm>
          <a:prstGeom prst="rect">
            <a:avLst/>
          </a:prstGeom>
          <a:noFill/>
        </p:spPr>
        <p:txBody>
          <a:bodyPr wrap="square">
            <a:spAutoFit/>
          </a:bodyPr>
          <a:lstStyle/>
          <a:p>
            <a:r>
              <a:rPr kumimoji="1" lang="ja-JP" altLang="en-US" sz="1800" dirty="0"/>
              <a:t>提案手法はまあまあな速さで、精度が高いことが分かる</a:t>
            </a:r>
          </a:p>
        </p:txBody>
      </p:sp>
    </p:spTree>
    <p:extLst>
      <p:ext uri="{BB962C8B-B14F-4D97-AF65-F5344CB8AC3E}">
        <p14:creationId xmlns:p14="http://schemas.microsoft.com/office/powerpoint/2010/main" val="127753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74E6D6FE-DCB2-FAF2-4688-07D59B1E9213}"/>
              </a:ext>
            </a:extLst>
          </p:cNvPr>
          <p:cNvPicPr>
            <a:picLocks noChangeAspect="1"/>
          </p:cNvPicPr>
          <p:nvPr/>
        </p:nvPicPr>
        <p:blipFill>
          <a:blip r:embed="rId2"/>
          <a:stretch>
            <a:fillRect/>
          </a:stretch>
        </p:blipFill>
        <p:spPr>
          <a:xfrm>
            <a:off x="2353415" y="2357841"/>
            <a:ext cx="7485170" cy="2738142"/>
          </a:xfrm>
          <a:prstGeom prst="rect">
            <a:avLst/>
          </a:prstGeom>
        </p:spPr>
      </p:pic>
      <p:sp>
        <p:nvSpPr>
          <p:cNvPr id="4" name="テキスト ボックス 3">
            <a:extLst>
              <a:ext uri="{FF2B5EF4-FFF2-40B4-BE49-F238E27FC236}">
                <a16:creationId xmlns:a16="http://schemas.microsoft.com/office/drawing/2014/main" id="{72EE56BD-9B78-CD67-55D6-9C2F78366221}"/>
              </a:ext>
            </a:extLst>
          </p:cNvPr>
          <p:cNvSpPr txBox="1"/>
          <p:nvPr/>
        </p:nvSpPr>
        <p:spPr>
          <a:xfrm>
            <a:off x="813604" y="501909"/>
            <a:ext cx="6111178" cy="523220"/>
          </a:xfrm>
          <a:prstGeom prst="rect">
            <a:avLst/>
          </a:prstGeom>
          <a:noFill/>
        </p:spPr>
        <p:txBody>
          <a:bodyPr wrap="square" rtlCol="0">
            <a:spAutoFit/>
          </a:bodyPr>
          <a:lstStyle/>
          <a:p>
            <a:r>
              <a:rPr kumimoji="1" lang="ja-JP" altLang="en-US" sz="2800" dirty="0"/>
              <a:t>画像分類と</a:t>
            </a:r>
            <a:r>
              <a:rPr kumimoji="1" lang="en-US" altLang="ja-JP" sz="2800" dirty="0"/>
              <a:t>OOD</a:t>
            </a:r>
            <a:r>
              <a:rPr kumimoji="1" lang="ja-JP" altLang="en-US" sz="2800" dirty="0"/>
              <a:t>タスクにおける性能</a:t>
            </a:r>
          </a:p>
        </p:txBody>
      </p:sp>
      <p:sp>
        <p:nvSpPr>
          <p:cNvPr id="5" name="テキスト ボックス 4">
            <a:extLst>
              <a:ext uri="{FF2B5EF4-FFF2-40B4-BE49-F238E27FC236}">
                <a16:creationId xmlns:a16="http://schemas.microsoft.com/office/drawing/2014/main" id="{BFE58A71-4F74-FD0F-7DEA-3A530332C948}"/>
              </a:ext>
            </a:extLst>
          </p:cNvPr>
          <p:cNvSpPr txBox="1"/>
          <p:nvPr/>
        </p:nvSpPr>
        <p:spPr>
          <a:xfrm>
            <a:off x="1160979" y="1506819"/>
            <a:ext cx="10469367" cy="369332"/>
          </a:xfrm>
          <a:prstGeom prst="rect">
            <a:avLst/>
          </a:prstGeom>
          <a:noFill/>
        </p:spPr>
        <p:txBody>
          <a:bodyPr wrap="square" rtlCol="0">
            <a:spAutoFit/>
          </a:bodyPr>
          <a:lstStyle/>
          <a:p>
            <a:r>
              <a:rPr kumimoji="1" lang="en-US" altLang="ja-JP" dirty="0"/>
              <a:t>MNIST</a:t>
            </a:r>
            <a:r>
              <a:rPr kumimoji="1" lang="ja-JP" altLang="en-US" dirty="0"/>
              <a:t>と</a:t>
            </a:r>
            <a:r>
              <a:rPr lang="en-US" altLang="ja-JP" dirty="0" err="1"/>
              <a:t>FashionMNIST</a:t>
            </a:r>
            <a:r>
              <a:rPr lang="ja-JP" altLang="en-US" dirty="0"/>
              <a:t>のデータを使って、画像分類と</a:t>
            </a:r>
            <a:r>
              <a:rPr lang="en-US" altLang="ja-JP" dirty="0"/>
              <a:t>OOD</a:t>
            </a:r>
            <a:r>
              <a:rPr lang="ja-JP" altLang="en-US" dirty="0"/>
              <a:t>検知を行った際の各手法の結果の比較</a:t>
            </a:r>
            <a:endParaRPr kumimoji="1" lang="ja-JP" altLang="en-US" dirty="0"/>
          </a:p>
        </p:txBody>
      </p:sp>
      <p:sp>
        <p:nvSpPr>
          <p:cNvPr id="6" name="正方形/長方形 5">
            <a:extLst>
              <a:ext uri="{FF2B5EF4-FFF2-40B4-BE49-F238E27FC236}">
                <a16:creationId xmlns:a16="http://schemas.microsoft.com/office/drawing/2014/main" id="{C2A7F638-191B-7B99-1B34-B146B75662AF}"/>
              </a:ext>
            </a:extLst>
          </p:cNvPr>
          <p:cNvSpPr/>
          <p:nvPr/>
        </p:nvSpPr>
        <p:spPr>
          <a:xfrm>
            <a:off x="2463006" y="3429000"/>
            <a:ext cx="7256347" cy="423809"/>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A31C36FF-7482-00DE-1314-D169B5255E77}"/>
              </a:ext>
            </a:extLst>
          </p:cNvPr>
          <p:cNvSpPr txBox="1"/>
          <p:nvPr/>
        </p:nvSpPr>
        <p:spPr>
          <a:xfrm>
            <a:off x="1398038" y="3391756"/>
            <a:ext cx="1064968" cy="338554"/>
          </a:xfrm>
          <a:prstGeom prst="rect">
            <a:avLst/>
          </a:prstGeom>
          <a:noFill/>
        </p:spPr>
        <p:txBody>
          <a:bodyPr wrap="square" rtlCol="0">
            <a:spAutoFit/>
          </a:bodyPr>
          <a:lstStyle/>
          <a:p>
            <a:r>
              <a:rPr kumimoji="1" lang="ja-JP" altLang="en-US" sz="1600" dirty="0"/>
              <a:t>提案手法</a:t>
            </a:r>
            <a:endParaRPr kumimoji="1" lang="en-US" altLang="ja-JP" sz="1600" dirty="0"/>
          </a:p>
        </p:txBody>
      </p:sp>
      <p:sp>
        <p:nvSpPr>
          <p:cNvPr id="8" name="テキスト ボックス 7">
            <a:extLst>
              <a:ext uri="{FF2B5EF4-FFF2-40B4-BE49-F238E27FC236}">
                <a16:creationId xmlns:a16="http://schemas.microsoft.com/office/drawing/2014/main" id="{6645970C-0D33-B936-F932-0DA90E40CE58}"/>
              </a:ext>
            </a:extLst>
          </p:cNvPr>
          <p:cNvSpPr txBox="1"/>
          <p:nvPr/>
        </p:nvSpPr>
        <p:spPr>
          <a:xfrm>
            <a:off x="2237548" y="5806732"/>
            <a:ext cx="8316227" cy="646331"/>
          </a:xfrm>
          <a:prstGeom prst="rect">
            <a:avLst/>
          </a:prstGeom>
          <a:noFill/>
        </p:spPr>
        <p:txBody>
          <a:bodyPr wrap="square" rtlCol="0">
            <a:spAutoFit/>
          </a:bodyPr>
          <a:lstStyle/>
          <a:p>
            <a:r>
              <a:rPr kumimoji="1" lang="ja-JP" altLang="en-US" dirty="0"/>
              <a:t>回帰の場合と似た傾向で、提案手法は</a:t>
            </a:r>
            <a:r>
              <a:rPr lang="ja-JP" altLang="en-US" dirty="0"/>
              <a:t>、</a:t>
            </a:r>
            <a:r>
              <a:rPr kumimoji="1" lang="ja-JP" altLang="en-US" dirty="0"/>
              <a:t>それぞれの場合で高い精度が出ていることが分かった</a:t>
            </a:r>
            <a:r>
              <a:rPr lang="en-US" altLang="ja-JP" dirty="0"/>
              <a:t>(</a:t>
            </a:r>
            <a:r>
              <a:rPr lang="ja-JP" altLang="en-US" dirty="0"/>
              <a:t>計算速度は載っていなかったので不明</a:t>
            </a:r>
            <a:r>
              <a:rPr lang="en-US" altLang="ja-JP" dirty="0"/>
              <a:t>)</a:t>
            </a:r>
            <a:endParaRPr kumimoji="1" lang="ja-JP" altLang="en-US" dirty="0"/>
          </a:p>
        </p:txBody>
      </p:sp>
    </p:spTree>
    <p:extLst>
      <p:ext uri="{BB962C8B-B14F-4D97-AF65-F5344CB8AC3E}">
        <p14:creationId xmlns:p14="http://schemas.microsoft.com/office/powerpoint/2010/main" val="1634966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FEF8D-0CEF-DE33-3584-5CA56E3B781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1887287-8C55-A57C-8D5C-EC77A06C3447}"/>
              </a:ext>
            </a:extLst>
          </p:cNvPr>
          <p:cNvSpPr txBox="1"/>
          <p:nvPr/>
        </p:nvSpPr>
        <p:spPr>
          <a:xfrm>
            <a:off x="1068513" y="3013501"/>
            <a:ext cx="10027578" cy="830997"/>
          </a:xfrm>
          <a:prstGeom prst="rect">
            <a:avLst/>
          </a:prstGeom>
          <a:noFill/>
        </p:spPr>
        <p:txBody>
          <a:bodyPr wrap="square" rtlCol="0">
            <a:spAutoFit/>
          </a:bodyPr>
          <a:lstStyle/>
          <a:p>
            <a:pPr algn="ctr"/>
            <a:r>
              <a:rPr kumimoji="1" lang="ja-JP" altLang="en-US" sz="4800" dirty="0"/>
              <a:t>まとめ</a:t>
            </a:r>
          </a:p>
        </p:txBody>
      </p:sp>
    </p:spTree>
    <p:extLst>
      <p:ext uri="{BB962C8B-B14F-4D97-AF65-F5344CB8AC3E}">
        <p14:creationId xmlns:p14="http://schemas.microsoft.com/office/powerpoint/2010/main" val="1824291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D0C8014-18CC-D9A8-B2FE-522E2C697D14}"/>
              </a:ext>
            </a:extLst>
          </p:cNvPr>
          <p:cNvSpPr txBox="1"/>
          <p:nvPr/>
        </p:nvSpPr>
        <p:spPr>
          <a:xfrm>
            <a:off x="667821" y="1859624"/>
            <a:ext cx="11296381" cy="3693319"/>
          </a:xfrm>
          <a:prstGeom prst="rect">
            <a:avLst/>
          </a:prstGeom>
          <a:noFill/>
        </p:spPr>
        <p:txBody>
          <a:bodyPr wrap="square" rtlCol="0">
            <a:spAutoFit/>
          </a:bodyPr>
          <a:lstStyle/>
          <a:p>
            <a:r>
              <a:rPr kumimoji="1" lang="en-US" altLang="ja-JP" dirty="0"/>
              <a:t>1. </a:t>
            </a:r>
            <a:r>
              <a:rPr kumimoji="1" lang="ja-JP" altLang="en-US" dirty="0"/>
              <a:t>関数空間上における事後分布を考えて、その上で</a:t>
            </a:r>
            <a:r>
              <a:rPr kumimoji="1" lang="en-US" altLang="ja-JP" dirty="0"/>
              <a:t>MCMC(</a:t>
            </a:r>
            <a:r>
              <a:rPr kumimoji="1" lang="en-US" altLang="ja-JP" dirty="0" err="1"/>
              <a:t>fSGLD</a:t>
            </a:r>
            <a:r>
              <a:rPr kumimoji="1" lang="en-US" altLang="ja-JP" dirty="0"/>
              <a:t>)</a:t>
            </a:r>
            <a:r>
              <a:rPr kumimoji="1" lang="ja-JP" altLang="en-US" dirty="0"/>
              <a:t>や変分推論</a:t>
            </a:r>
            <a:r>
              <a:rPr kumimoji="1" lang="en-US" altLang="ja-JP" dirty="0"/>
              <a:t>(</a:t>
            </a:r>
            <a:r>
              <a:rPr kumimoji="1" lang="en-US" altLang="ja-JP" dirty="0" err="1"/>
              <a:t>fVI</a:t>
            </a:r>
            <a:r>
              <a:rPr kumimoji="1" lang="en-US" altLang="ja-JP" dirty="0"/>
              <a:t>)</a:t>
            </a:r>
            <a:r>
              <a:rPr kumimoji="1" lang="ja-JP" altLang="en-US" dirty="0"/>
              <a:t>を行う方法を紹介した</a:t>
            </a:r>
            <a:endParaRPr kumimoji="1" lang="en-US" altLang="ja-JP" dirty="0"/>
          </a:p>
          <a:p>
            <a:endParaRPr kumimoji="1" lang="en-US" altLang="ja-JP" dirty="0"/>
          </a:p>
          <a:p>
            <a:endParaRPr lang="en-US" altLang="ja-JP" dirty="0"/>
          </a:p>
          <a:p>
            <a:r>
              <a:rPr kumimoji="1" lang="en-US" altLang="ja-JP" dirty="0"/>
              <a:t>2. 2</a:t>
            </a:r>
            <a:r>
              <a:rPr kumimoji="1" lang="ja-JP" altLang="en-US" dirty="0"/>
              <a:t>つの推論方法を</a:t>
            </a:r>
            <a:r>
              <a:rPr kumimoji="1" lang="en-US" altLang="ja-JP" dirty="0"/>
              <a:t>T-stage</a:t>
            </a:r>
            <a:r>
              <a:rPr kumimoji="1" lang="ja-JP" altLang="en-US" dirty="0"/>
              <a:t>でつないで、それぞれの良い点を活かすような方法を紹介した</a:t>
            </a:r>
            <a:endParaRPr kumimoji="1" lang="en-US" altLang="ja-JP" dirty="0"/>
          </a:p>
          <a:p>
            <a:endParaRPr lang="en-US" altLang="ja-JP" dirty="0"/>
          </a:p>
          <a:p>
            <a:endParaRPr kumimoji="1" lang="en-US" altLang="ja-JP" dirty="0"/>
          </a:p>
          <a:p>
            <a:r>
              <a:rPr lang="en-US" altLang="ja-JP" dirty="0"/>
              <a:t>3. </a:t>
            </a:r>
            <a:r>
              <a:rPr lang="ja-JP" altLang="en-US" dirty="0"/>
              <a:t>初期値が同じ場合、</a:t>
            </a:r>
            <a:r>
              <a:rPr lang="en-US" altLang="ja-JP" dirty="0" err="1"/>
              <a:t>fSGLD</a:t>
            </a:r>
            <a:r>
              <a:rPr lang="ja-JP" altLang="en-US" dirty="0"/>
              <a:t>と</a:t>
            </a:r>
            <a:r>
              <a:rPr lang="en-US" altLang="ja-JP" dirty="0" err="1"/>
              <a:t>fVI</a:t>
            </a:r>
            <a:r>
              <a:rPr lang="ja-JP" altLang="en-US" dirty="0"/>
              <a:t>の時間発展が同じであることを命題として示した</a:t>
            </a:r>
            <a:endParaRPr lang="en-US" altLang="ja-JP" dirty="0"/>
          </a:p>
          <a:p>
            <a:endParaRPr lang="en-US" altLang="ja-JP" dirty="0"/>
          </a:p>
          <a:p>
            <a:endParaRPr lang="en-US" altLang="ja-JP" dirty="0"/>
          </a:p>
          <a:p>
            <a:r>
              <a:rPr lang="en-US" altLang="ja-JP" dirty="0"/>
              <a:t>4. </a:t>
            </a:r>
            <a:r>
              <a:rPr lang="ja-JP" altLang="en-US" dirty="0"/>
              <a:t>数値計算によって、計算量は一番早い手法よりは遅いがまあまあな速さで、精度は基本的に一番良い結果であることが分かった</a:t>
            </a:r>
            <a:endParaRPr lang="en-US" altLang="ja-JP" dirty="0"/>
          </a:p>
          <a:p>
            <a:endParaRPr lang="en-US" altLang="ja-JP" dirty="0"/>
          </a:p>
          <a:p>
            <a:endParaRPr lang="en-US" altLang="ja-JP" dirty="0"/>
          </a:p>
        </p:txBody>
      </p:sp>
      <p:sp>
        <p:nvSpPr>
          <p:cNvPr id="3" name="テキスト ボックス 2">
            <a:extLst>
              <a:ext uri="{FF2B5EF4-FFF2-40B4-BE49-F238E27FC236}">
                <a16:creationId xmlns:a16="http://schemas.microsoft.com/office/drawing/2014/main" id="{6BFEF660-1A8C-6F1A-CB9C-FB58D7112309}"/>
              </a:ext>
            </a:extLst>
          </p:cNvPr>
          <p:cNvSpPr txBox="1"/>
          <p:nvPr/>
        </p:nvSpPr>
        <p:spPr>
          <a:xfrm>
            <a:off x="585627" y="359596"/>
            <a:ext cx="7037798" cy="584775"/>
          </a:xfrm>
          <a:prstGeom prst="rect">
            <a:avLst/>
          </a:prstGeom>
          <a:noFill/>
        </p:spPr>
        <p:txBody>
          <a:bodyPr wrap="square" rtlCol="0">
            <a:spAutoFit/>
          </a:bodyPr>
          <a:lstStyle/>
          <a:p>
            <a:r>
              <a:rPr lang="ja-JP" altLang="en-US" sz="3200" dirty="0"/>
              <a:t>今回紹介した内容</a:t>
            </a:r>
            <a:endParaRPr kumimoji="1" lang="ja-JP" altLang="en-US" sz="3200" dirty="0"/>
          </a:p>
        </p:txBody>
      </p:sp>
    </p:spTree>
    <p:extLst>
      <p:ext uri="{BB962C8B-B14F-4D97-AF65-F5344CB8AC3E}">
        <p14:creationId xmlns:p14="http://schemas.microsoft.com/office/powerpoint/2010/main" val="2794804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7509FC1-D0FF-F31E-8574-D2E1B651C7D0}"/>
              </a:ext>
            </a:extLst>
          </p:cNvPr>
          <p:cNvSpPr txBox="1"/>
          <p:nvPr/>
        </p:nvSpPr>
        <p:spPr>
          <a:xfrm>
            <a:off x="585627" y="359596"/>
            <a:ext cx="7037798" cy="584775"/>
          </a:xfrm>
          <a:prstGeom prst="rect">
            <a:avLst/>
          </a:prstGeom>
          <a:noFill/>
        </p:spPr>
        <p:txBody>
          <a:bodyPr wrap="square" rtlCol="0">
            <a:spAutoFit/>
          </a:bodyPr>
          <a:lstStyle/>
          <a:p>
            <a:r>
              <a:rPr lang="ja-JP" altLang="en-US" sz="3200" dirty="0"/>
              <a:t>自分自身の関心</a:t>
            </a:r>
            <a:endParaRPr kumimoji="1" lang="ja-JP" altLang="en-US" sz="3200"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E5396233-9F8E-D220-E7BF-40FF452DD532}"/>
                  </a:ext>
                </a:extLst>
              </p:cNvPr>
              <p:cNvSpPr txBox="1"/>
              <p:nvPr/>
            </p:nvSpPr>
            <p:spPr>
              <a:xfrm>
                <a:off x="585625" y="1266939"/>
                <a:ext cx="11106365" cy="1107996"/>
              </a:xfrm>
              <a:prstGeom prst="rect">
                <a:avLst/>
              </a:prstGeom>
              <a:noFill/>
            </p:spPr>
            <p:txBody>
              <a:bodyPr wrap="square" rtlCol="0">
                <a:spAutoFit/>
              </a:bodyPr>
              <a:lstStyle/>
              <a:p>
                <a:r>
                  <a:rPr lang="en-US" altLang="ja-JP" dirty="0"/>
                  <a:t>1. </a:t>
                </a:r>
                <a:r>
                  <a:rPr lang="ja-JP" altLang="en-US" dirty="0"/>
                  <a:t>業務への応用</a:t>
                </a:r>
                <a:endParaRPr lang="en-US" altLang="ja-JP" dirty="0"/>
              </a:p>
              <a:p>
                <a:r>
                  <a:rPr lang="ja-JP" altLang="en-US" sz="1600" dirty="0"/>
                  <a:t>　→ 命題</a:t>
                </a:r>
                <a:r>
                  <a:rPr lang="en-US" altLang="ja-JP" sz="1600" dirty="0"/>
                  <a:t>3.2</a:t>
                </a:r>
                <a:r>
                  <a:rPr lang="ja-JP" altLang="en-US" sz="1600" dirty="0"/>
                  <a:t>に対する関数</a:t>
                </a:r>
                <a14:m>
                  <m:oMath xmlns:m="http://schemas.openxmlformats.org/officeDocument/2006/math">
                    <m:r>
                      <a:rPr lang="en-US" altLang="ja-JP" sz="1600" b="0" i="1" smtClean="0">
                        <a:latin typeface="Cambria Math" panose="02040503050406030204" pitchFamily="18" charset="0"/>
                      </a:rPr>
                      <m:t>𝑓</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𝑤</m:t>
                    </m:r>
                    <m:r>
                      <a:rPr lang="en-US" altLang="ja-JP" sz="1600" b="0" i="1" smtClean="0">
                        <a:latin typeface="Cambria Math" panose="02040503050406030204" pitchFamily="18" charset="0"/>
                      </a:rPr>
                      <m:t>)</m:t>
                    </m:r>
                  </m:oMath>
                </a14:m>
                <a:r>
                  <a:rPr lang="ja-JP" altLang="en-US" sz="1600" dirty="0"/>
                  <a:t>の前提条件は気になるが、基本的に今回考えた手法は</a:t>
                </a:r>
                <a:r>
                  <a:rPr lang="en-US" altLang="ja-JP" sz="1600" dirty="0"/>
                  <a:t>Neural Network</a:t>
                </a:r>
                <a:r>
                  <a:rPr lang="ja-JP" altLang="en-US" sz="1600" dirty="0"/>
                  <a:t>に限定した手法ではないので、広く業務に活かしたい</a:t>
                </a:r>
                <a:endParaRPr lang="en-US" altLang="ja-JP" sz="1600" dirty="0"/>
              </a:p>
              <a:p>
                <a:r>
                  <a:rPr lang="ja-JP" altLang="en-US" sz="1600" dirty="0"/>
                  <a:t>　→ </a:t>
                </a:r>
                <a14:m>
                  <m:oMath xmlns:m="http://schemas.openxmlformats.org/officeDocument/2006/math">
                    <m:r>
                      <a:rPr lang="en-US" altLang="ja-JP" sz="1600" b="0" i="1" smtClean="0">
                        <a:latin typeface="Cambria Math" panose="02040503050406030204" pitchFamily="18" charset="0"/>
                      </a:rPr>
                      <m:t>∀</m:t>
                    </m:r>
                    <m:r>
                      <m:rPr>
                        <m:sty m:val="p"/>
                      </m:rPr>
                      <a:rPr lang="en-US" altLang="ja-JP" sz="1600" b="0" i="0" smtClean="0">
                        <a:latin typeface="Cambria Math" panose="02040503050406030204" pitchFamily="18" charset="0"/>
                      </a:rPr>
                      <m:t>x</m:t>
                    </m:r>
                    <m:r>
                      <a:rPr lang="en-US" altLang="ja-JP" sz="1600" b="0" i="0" smtClean="0">
                        <a:latin typeface="Cambria Math" panose="02040503050406030204" pitchFamily="18" charset="0"/>
                      </a:rPr>
                      <m:t> </m:t>
                    </m:r>
                    <m:sSub>
                      <m:sSubPr>
                        <m:ctrlPr>
                          <a:rPr lang="en-US" altLang="ja-JP" sz="1600" b="0" i="1" smtClean="0">
                            <a:latin typeface="Cambria Math" panose="02040503050406030204" pitchFamily="18" charset="0"/>
                          </a:rPr>
                        </m:ctrlPr>
                      </m:sSubPr>
                      <m:e>
                        <m:r>
                          <m:rPr>
                            <m:sty m:val="p"/>
                          </m:rPr>
                          <a:rPr lang="en-US" altLang="ja-JP" sz="1600" b="0" i="0" smtClean="0">
                            <a:latin typeface="Cambria Math" panose="02040503050406030204" pitchFamily="18" charset="0"/>
                          </a:rPr>
                          <m:t>V</m:t>
                        </m:r>
                      </m:e>
                      <m:sub>
                        <m:r>
                          <m:rPr>
                            <m:sty m:val="p"/>
                          </m:rPr>
                          <a:rPr lang="en-US" altLang="ja-JP" sz="1600" b="0" i="0" smtClean="0">
                            <a:latin typeface="Cambria Math" panose="02040503050406030204" pitchFamily="18" charset="0"/>
                          </a:rPr>
                          <m:t>f</m:t>
                        </m:r>
                      </m:sub>
                    </m:sSub>
                    <m:r>
                      <a:rPr lang="en-US" altLang="ja-JP" sz="1600" b="0" i="0" smtClean="0">
                        <a:latin typeface="Cambria Math" panose="02040503050406030204" pitchFamily="18" charset="0"/>
                      </a:rPr>
                      <m:t>[</m:t>
                    </m:r>
                    <m:r>
                      <a:rPr lang="en-US" altLang="ja-JP" sz="1600" b="0" i="1" smtClean="0">
                        <a:latin typeface="Cambria Math" panose="02040503050406030204" pitchFamily="18" charset="0"/>
                      </a:rPr>
                      <m:t>𝑓</m:t>
                    </m:r>
                    <m:d>
                      <m:dPr>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𝑥</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𝑤</m:t>
                        </m:r>
                      </m:e>
                    </m:d>
                    <m:r>
                      <a:rPr lang="en-US" altLang="ja-JP" sz="1600" b="0" i="1" smtClean="0">
                        <a:latin typeface="Cambria Math" panose="02040503050406030204" pitchFamily="18" charset="0"/>
                      </a:rPr>
                      <m:t>]</m:t>
                    </m:r>
                  </m:oMath>
                </a14:m>
                <a:r>
                  <a:rPr lang="ja-JP" altLang="en-US" sz="1600" dirty="0"/>
                  <a:t>が評価できるので、予測したい関数のある点における不確実性の評価とかでも使えそう</a:t>
                </a:r>
                <a:endParaRPr lang="en-US" altLang="ja-JP" sz="1600" dirty="0"/>
              </a:p>
            </p:txBody>
          </p:sp>
        </mc:Choice>
        <mc:Fallback xmlns="">
          <p:sp>
            <p:nvSpPr>
              <p:cNvPr id="3" name="テキスト ボックス 2">
                <a:extLst>
                  <a:ext uri="{FF2B5EF4-FFF2-40B4-BE49-F238E27FC236}">
                    <a16:creationId xmlns:a16="http://schemas.microsoft.com/office/drawing/2014/main" id="{E5396233-9F8E-D220-E7BF-40FF452DD532}"/>
                  </a:ext>
                </a:extLst>
              </p:cNvPr>
              <p:cNvSpPr txBox="1">
                <a:spLocks noRot="1" noChangeAspect="1" noMove="1" noResize="1" noEditPoints="1" noAdjustHandles="1" noChangeArrowheads="1" noChangeShapeType="1" noTextEdit="1"/>
              </p:cNvSpPr>
              <p:nvPr/>
            </p:nvSpPr>
            <p:spPr>
              <a:xfrm>
                <a:off x="585625" y="1266939"/>
                <a:ext cx="11106365" cy="1107996"/>
              </a:xfrm>
              <a:prstGeom prst="rect">
                <a:avLst/>
              </a:prstGeom>
              <a:blipFill>
                <a:blip r:embed="rId2"/>
                <a:stretch>
                  <a:fillRect l="-439" t="-3297" b="-6044"/>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99B70B1C-951C-5B96-2280-FB3306938E03}"/>
              </a:ext>
            </a:extLst>
          </p:cNvPr>
          <p:cNvSpPr txBox="1"/>
          <p:nvPr/>
        </p:nvSpPr>
        <p:spPr>
          <a:xfrm>
            <a:off x="585627" y="5314050"/>
            <a:ext cx="11106365" cy="861774"/>
          </a:xfrm>
          <a:prstGeom prst="rect">
            <a:avLst/>
          </a:prstGeom>
          <a:noFill/>
        </p:spPr>
        <p:txBody>
          <a:bodyPr wrap="square">
            <a:spAutoFit/>
          </a:bodyPr>
          <a:lstStyle/>
          <a:p>
            <a:r>
              <a:rPr lang="en-US" altLang="ja-JP" dirty="0"/>
              <a:t>4. Bridging</a:t>
            </a:r>
            <a:r>
              <a:rPr lang="ja-JP" altLang="en-US" dirty="0"/>
              <a:t>する推論方法を変える</a:t>
            </a:r>
            <a:endParaRPr lang="en-US" altLang="ja-JP" dirty="0"/>
          </a:p>
          <a:p>
            <a:r>
              <a:rPr lang="ja-JP" altLang="en-US" sz="1600" dirty="0"/>
              <a:t>　→ 関数空間上で</a:t>
            </a:r>
            <a:r>
              <a:rPr lang="en-US" altLang="ja-JP" sz="1600" dirty="0"/>
              <a:t>Stein Variational Gradient Descent</a:t>
            </a:r>
            <a:r>
              <a:rPr lang="ja-JP" altLang="en-US" sz="1600" dirty="0"/>
              <a:t>を考えて</a:t>
            </a:r>
            <a:r>
              <a:rPr lang="en-US" altLang="ja-JP" sz="1600" dirty="0"/>
              <a:t>(</a:t>
            </a:r>
            <a:r>
              <a:rPr lang="ja-JP" altLang="en-US" sz="1600" dirty="0"/>
              <a:t>これは既に論文でありそう</a:t>
            </a:r>
            <a:r>
              <a:rPr lang="en-US" altLang="ja-JP" sz="1600" dirty="0"/>
              <a:t>)</a:t>
            </a:r>
            <a:r>
              <a:rPr lang="ja-JP" altLang="en-US" sz="1600" dirty="0"/>
              <a:t>、</a:t>
            </a:r>
            <a:r>
              <a:rPr lang="en-US" altLang="ja-JP" sz="1600" dirty="0" err="1"/>
              <a:t>fSGLD</a:t>
            </a:r>
            <a:r>
              <a:rPr lang="ja-JP" altLang="en-US" sz="1600" dirty="0"/>
              <a:t>と繋げると</a:t>
            </a:r>
            <a:r>
              <a:rPr lang="en-US" altLang="ja-JP" sz="1600" dirty="0"/>
              <a:t>T-stage</a:t>
            </a:r>
            <a:r>
              <a:rPr lang="ja-JP" altLang="en-US" sz="1600" dirty="0"/>
              <a:t>を考えずに繋げられないか興味がある</a:t>
            </a:r>
            <a:endParaRPr lang="en-US" altLang="ja-JP" sz="1600" dirty="0"/>
          </a:p>
        </p:txBody>
      </p:sp>
      <p:sp>
        <p:nvSpPr>
          <p:cNvPr id="7" name="テキスト ボックス 6">
            <a:extLst>
              <a:ext uri="{FF2B5EF4-FFF2-40B4-BE49-F238E27FC236}">
                <a16:creationId xmlns:a16="http://schemas.microsoft.com/office/drawing/2014/main" id="{D8F3A80F-5CE3-C962-0744-66891AF72BF6}"/>
              </a:ext>
            </a:extLst>
          </p:cNvPr>
          <p:cNvSpPr txBox="1"/>
          <p:nvPr/>
        </p:nvSpPr>
        <p:spPr>
          <a:xfrm>
            <a:off x="585625" y="2679540"/>
            <a:ext cx="11191984" cy="615553"/>
          </a:xfrm>
          <a:prstGeom prst="rect">
            <a:avLst/>
          </a:prstGeom>
          <a:noFill/>
        </p:spPr>
        <p:txBody>
          <a:bodyPr wrap="square">
            <a:spAutoFit/>
          </a:bodyPr>
          <a:lstStyle/>
          <a:p>
            <a:r>
              <a:rPr lang="en-US" altLang="ja-JP" dirty="0"/>
              <a:t>2. </a:t>
            </a:r>
            <a:r>
              <a:rPr lang="ja-JP" altLang="en-US" dirty="0"/>
              <a:t>関数空間上のベイズ予測分布の汎化誤差 </a:t>
            </a:r>
            <a:endParaRPr lang="en-US" altLang="ja-JP" dirty="0"/>
          </a:p>
          <a:p>
            <a:r>
              <a:rPr lang="ja-JP" altLang="en-US" sz="1600" dirty="0"/>
              <a:t>　→ パラメータ空間上のベイズ予測分布の汎化誤差は理論的に示されているが、それと同じになるかどうか興味がある</a:t>
            </a:r>
            <a:endParaRPr lang="en-US" altLang="ja-JP" sz="1600"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7FEA05B6-B149-5D4E-67A7-3A1BDFB82E1A}"/>
                  </a:ext>
                </a:extLst>
              </p:cNvPr>
              <p:cNvSpPr txBox="1"/>
              <p:nvPr/>
            </p:nvSpPr>
            <p:spPr>
              <a:xfrm>
                <a:off x="542817" y="3599699"/>
                <a:ext cx="11191983" cy="1711494"/>
              </a:xfrm>
              <a:prstGeom prst="rect">
                <a:avLst/>
              </a:prstGeom>
              <a:noFill/>
            </p:spPr>
            <p:txBody>
              <a:bodyPr wrap="square">
                <a:spAutoFit/>
              </a:bodyPr>
              <a:lstStyle/>
              <a:p>
                <a:r>
                  <a:rPr lang="en-US" altLang="ja-JP" dirty="0"/>
                  <a:t>3. </a:t>
                </a:r>
                <a:r>
                  <a:rPr lang="ja-JP" altLang="en-US" dirty="0"/>
                  <a:t>関数空間上における情報量基準</a:t>
                </a:r>
                <a:endParaRPr lang="en-US" altLang="ja-JP" dirty="0"/>
              </a:p>
              <a:p>
                <a:r>
                  <a:rPr lang="ja-JP" altLang="en-US" sz="1600" dirty="0"/>
                  <a:t>　→ </a:t>
                </a:r>
                <a:r>
                  <a:rPr lang="en-US" altLang="ja-JP" sz="1600" dirty="0"/>
                  <a:t>WAIC</a:t>
                </a:r>
                <a:r>
                  <a:rPr lang="ja-JP" altLang="en-US" sz="1600" dirty="0"/>
                  <a:t>や</a:t>
                </a:r>
                <a:r>
                  <a:rPr lang="en-US" altLang="ja-JP" sz="1600" dirty="0"/>
                  <a:t>WBIC</a:t>
                </a:r>
                <a:r>
                  <a:rPr lang="ja-JP" altLang="en-US" sz="1600" dirty="0"/>
                  <a:t>という情報量基準があるが、関数空間上でも同じ定義であるか興味がある</a:t>
                </a:r>
                <a:endParaRPr lang="en-US" altLang="ja-JP" sz="1600" dirty="0"/>
              </a:p>
              <a:p>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𝑊𝐴𝐼𝐶</m:t>
                      </m:r>
                      <m:r>
                        <a:rPr lang="en-US" altLang="ja-JP" sz="1600" b="0" i="1" smtClean="0">
                          <a:latin typeface="Cambria Math" panose="02040503050406030204" pitchFamily="18" charset="0"/>
                        </a:rPr>
                        <m:t>≔</m:t>
                      </m:r>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𝐸</m:t>
                          </m:r>
                        </m:e>
                        <m:sub>
                          <m:r>
                            <a:rPr lang="en-US" altLang="ja-JP" sz="1600" b="0" i="1" smtClean="0">
                              <a:latin typeface="Cambria Math" panose="02040503050406030204" pitchFamily="18" charset="0"/>
                            </a:rPr>
                            <m:t>𝑤</m:t>
                          </m:r>
                        </m:sub>
                      </m:sSub>
                      <m:d>
                        <m:dPr>
                          <m:begChr m:val="["/>
                          <m:endChr m:val="]"/>
                          <m:ctrlPr>
                            <a:rPr lang="en-US" altLang="ja-JP" sz="1600" b="0" i="1" smtClean="0">
                              <a:latin typeface="Cambria Math" panose="02040503050406030204" pitchFamily="18" charset="0"/>
                            </a:rPr>
                          </m:ctrlPr>
                        </m:dPr>
                        <m:e>
                          <m:r>
                            <a:rPr lang="en-US" altLang="ja-JP" sz="1600" b="0" i="1" smtClean="0">
                              <a:latin typeface="Cambria Math" panose="02040503050406030204" pitchFamily="18" charset="0"/>
                            </a:rPr>
                            <m:t>−</m:t>
                          </m:r>
                          <m:f>
                            <m:fPr>
                              <m:ctrlPr>
                                <a:rPr lang="en-US" altLang="ja-JP" sz="1600" b="0" i="1" smtClean="0">
                                  <a:latin typeface="Cambria Math" panose="02040503050406030204" pitchFamily="18" charset="0"/>
                                </a:rPr>
                              </m:ctrlPr>
                            </m:fPr>
                            <m:num>
                              <m:r>
                                <a:rPr lang="en-US" altLang="ja-JP" sz="1600" b="0" i="1" smtClean="0">
                                  <a:latin typeface="Cambria Math" panose="02040503050406030204" pitchFamily="18" charset="0"/>
                                </a:rPr>
                                <m:t>1</m:t>
                              </m:r>
                            </m:num>
                            <m:den>
                              <m:r>
                                <a:rPr lang="en-US" altLang="ja-JP" sz="1600" b="0" i="1" smtClean="0">
                                  <a:latin typeface="Cambria Math" panose="02040503050406030204" pitchFamily="18" charset="0"/>
                                </a:rPr>
                                <m:t>𝑛</m:t>
                              </m:r>
                            </m:den>
                          </m:f>
                          <m:func>
                            <m:funcPr>
                              <m:ctrlPr>
                                <a:rPr lang="en-US" altLang="ja-JP" sz="1600" b="0" i="1" smtClean="0">
                                  <a:latin typeface="Cambria Math" panose="02040503050406030204" pitchFamily="18" charset="0"/>
                                </a:rPr>
                              </m:ctrlPr>
                            </m:funcPr>
                            <m:fName>
                              <m:r>
                                <m:rPr>
                                  <m:sty m:val="p"/>
                                </m:rPr>
                                <a:rPr lang="en-US" altLang="ja-JP" sz="1600" b="0" i="0" smtClean="0">
                                  <a:latin typeface="Cambria Math" panose="02040503050406030204" pitchFamily="18" charset="0"/>
                                </a:rPr>
                                <m:t>log</m:t>
                              </m:r>
                            </m:fName>
                            <m:e>
                              <m:r>
                                <a:rPr lang="en-US" altLang="ja-JP" sz="1600" b="0" i="1" smtClean="0">
                                  <a:latin typeface="Cambria Math" panose="02040503050406030204" pitchFamily="18" charset="0"/>
                                </a:rPr>
                                <m:t>𝑝</m:t>
                              </m:r>
                              <m:d>
                                <m:dPr>
                                  <m:ctrlPr>
                                    <a:rPr lang="en-US" altLang="ja-JP" sz="1600" b="0" i="1" smtClean="0">
                                      <a:latin typeface="Cambria Math" panose="02040503050406030204" pitchFamily="18" charset="0"/>
                                    </a:rPr>
                                  </m:ctrlPr>
                                </m:dPr>
                                <m:e>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𝑌</m:t>
                                      </m:r>
                                    </m:e>
                                    <m:sub>
                                      <m:r>
                                        <a:rPr lang="en-US" altLang="ja-JP" sz="1600" b="0" i="1" smtClean="0">
                                          <a:latin typeface="Cambria Math" panose="02040503050406030204" pitchFamily="18" charset="0"/>
                                        </a:rPr>
                                        <m:t>𝐷</m:t>
                                      </m:r>
                                    </m:sub>
                                  </m:sSub>
                                </m:e>
                                <m:e>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𝑋</m:t>
                                      </m:r>
                                    </m:e>
                                    <m:sub>
                                      <m:r>
                                        <a:rPr lang="en-US" altLang="ja-JP" sz="1600" b="0" i="1" smtClean="0">
                                          <a:latin typeface="Cambria Math" panose="02040503050406030204" pitchFamily="18" charset="0"/>
                                        </a:rPr>
                                        <m:t>𝐷</m:t>
                                      </m:r>
                                    </m:sub>
                                  </m:sSub>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𝑤</m:t>
                                  </m:r>
                                </m:e>
                              </m:d>
                            </m:e>
                          </m:func>
                        </m:e>
                      </m:d>
                      <m:r>
                        <a:rPr lang="en-US" altLang="ja-JP" sz="1600" b="0" i="1" smtClean="0">
                          <a:latin typeface="Cambria Math" panose="02040503050406030204" pitchFamily="18" charset="0"/>
                        </a:rPr>
                        <m:t>+</m:t>
                      </m:r>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𝑉</m:t>
                          </m:r>
                        </m:e>
                        <m:sub>
                          <m:r>
                            <a:rPr lang="en-US" altLang="ja-JP" sz="1600" b="0" i="1" smtClean="0">
                              <a:latin typeface="Cambria Math" panose="02040503050406030204" pitchFamily="18" charset="0"/>
                            </a:rPr>
                            <m:t>𝑤</m:t>
                          </m:r>
                        </m:sub>
                      </m:sSub>
                      <m:r>
                        <a:rPr lang="en-US" altLang="ja-JP" sz="1600" b="0" i="1" smtClean="0">
                          <a:latin typeface="Cambria Math" panose="02040503050406030204" pitchFamily="18" charset="0"/>
                        </a:rPr>
                        <m:t>[</m:t>
                      </m:r>
                      <m:func>
                        <m:funcPr>
                          <m:ctrlPr>
                            <a:rPr lang="en-US" altLang="ja-JP" sz="1600" i="1">
                              <a:latin typeface="Cambria Math" panose="02040503050406030204" pitchFamily="18" charset="0"/>
                            </a:rPr>
                          </m:ctrlPr>
                        </m:funcPr>
                        <m:fName>
                          <m:r>
                            <m:rPr>
                              <m:sty m:val="p"/>
                            </m:rPr>
                            <a:rPr lang="en-US" altLang="ja-JP" sz="1600">
                              <a:latin typeface="Cambria Math" panose="02040503050406030204" pitchFamily="18" charset="0"/>
                            </a:rPr>
                            <m:t>log</m:t>
                          </m:r>
                        </m:fName>
                        <m:e>
                          <m:r>
                            <a:rPr lang="en-US" altLang="ja-JP" sz="1600" i="1">
                              <a:latin typeface="Cambria Math" panose="02040503050406030204" pitchFamily="18" charset="0"/>
                            </a:rPr>
                            <m:t>𝑝</m:t>
                          </m:r>
                          <m:d>
                            <m:dPr>
                              <m:ctrlPr>
                                <a:rPr lang="en-US" altLang="ja-JP" sz="1600" i="1">
                                  <a:latin typeface="Cambria Math" panose="02040503050406030204" pitchFamily="18" charset="0"/>
                                </a:rPr>
                              </m:ctrlPr>
                            </m:dPr>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𝑌</m:t>
                                  </m:r>
                                </m:e>
                                <m:sub>
                                  <m:r>
                                    <a:rPr lang="en-US" altLang="ja-JP" sz="1600" i="1">
                                      <a:latin typeface="Cambria Math" panose="02040503050406030204" pitchFamily="18" charset="0"/>
                                    </a:rPr>
                                    <m:t>𝐷</m:t>
                                  </m:r>
                                </m:sub>
                              </m:sSub>
                            </m:e>
                            <m:e>
                              <m:sSub>
                                <m:sSubPr>
                                  <m:ctrlPr>
                                    <a:rPr lang="en-US" altLang="ja-JP" sz="1600" i="1">
                                      <a:latin typeface="Cambria Math" panose="02040503050406030204" pitchFamily="18" charset="0"/>
                                    </a:rPr>
                                  </m:ctrlPr>
                                </m:sSubPr>
                                <m:e>
                                  <m:r>
                                    <a:rPr lang="en-US" altLang="ja-JP" sz="1600" i="1">
                                      <a:latin typeface="Cambria Math" panose="02040503050406030204" pitchFamily="18" charset="0"/>
                                    </a:rPr>
                                    <m:t>𝑋</m:t>
                                  </m:r>
                                </m:e>
                                <m:sub>
                                  <m:r>
                                    <a:rPr lang="en-US" altLang="ja-JP" sz="1600" i="1">
                                      <a:latin typeface="Cambria Math" panose="02040503050406030204" pitchFamily="18" charset="0"/>
                                    </a:rPr>
                                    <m:t>𝐷</m:t>
                                  </m:r>
                                </m:sub>
                              </m:sSub>
                              <m:r>
                                <a:rPr lang="en-US" altLang="ja-JP" sz="1600" i="1">
                                  <a:latin typeface="Cambria Math" panose="02040503050406030204" pitchFamily="18" charset="0"/>
                                </a:rPr>
                                <m:t>,</m:t>
                              </m:r>
                              <m:r>
                                <a:rPr lang="en-US" altLang="ja-JP" sz="1600" i="1">
                                  <a:latin typeface="Cambria Math" panose="02040503050406030204" pitchFamily="18" charset="0"/>
                                </a:rPr>
                                <m:t>𝑤</m:t>
                              </m:r>
                            </m:e>
                          </m:d>
                        </m:e>
                      </m:func>
                      <m:r>
                        <a:rPr lang="en-US" altLang="ja-JP" sz="1600" b="0" i="1" smtClean="0">
                          <a:latin typeface="Cambria Math" panose="02040503050406030204" pitchFamily="18" charset="0"/>
                        </a:rPr>
                        <m:t>]</m:t>
                      </m:r>
                    </m:oMath>
                  </m:oMathPara>
                </a14:m>
                <a:endParaRPr lang="en-US" altLang="ja-JP" sz="1600" dirty="0"/>
              </a:p>
              <a:p>
                <a:pPr/>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𝑊𝐵𝐼𝐶</m:t>
                      </m:r>
                      <m:r>
                        <a:rPr lang="en-US" altLang="ja-JP" sz="1600" b="0" i="1" smtClean="0">
                          <a:latin typeface="Cambria Math" panose="02040503050406030204" pitchFamily="18" charset="0"/>
                        </a:rPr>
                        <m:t>≔</m:t>
                      </m:r>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𝐸</m:t>
                          </m:r>
                        </m:e>
                        <m:sub>
                          <m:r>
                            <a:rPr lang="en-US" altLang="ja-JP" sz="1600" b="0" i="1" smtClean="0">
                              <a:latin typeface="Cambria Math" panose="02040503050406030204" pitchFamily="18" charset="0"/>
                            </a:rPr>
                            <m:t>𝑤</m:t>
                          </m:r>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𝛽</m:t>
                          </m:r>
                        </m:sub>
                      </m:sSub>
                      <m:d>
                        <m:dPr>
                          <m:begChr m:val="["/>
                          <m:endChr m:val="]"/>
                          <m:ctrlPr>
                            <a:rPr lang="en-US" altLang="ja-JP" sz="1600" b="0" i="1" smtClean="0">
                              <a:latin typeface="Cambria Math" panose="02040503050406030204" pitchFamily="18" charset="0"/>
                            </a:rPr>
                          </m:ctrlPr>
                        </m:dPr>
                        <m:e>
                          <m:f>
                            <m:fPr>
                              <m:ctrlPr>
                                <a:rPr lang="en-US" altLang="ja-JP" sz="1600" b="0" i="1" smtClean="0">
                                  <a:latin typeface="Cambria Math" panose="02040503050406030204" pitchFamily="18" charset="0"/>
                                </a:rPr>
                              </m:ctrlPr>
                            </m:fPr>
                            <m:num>
                              <m:r>
                                <a:rPr lang="en-US" altLang="ja-JP" sz="1600" b="0" i="1" smtClean="0">
                                  <a:latin typeface="Cambria Math" panose="02040503050406030204" pitchFamily="18" charset="0"/>
                                </a:rPr>
                                <m:t>1</m:t>
                              </m:r>
                            </m:num>
                            <m:den>
                              <m:r>
                                <a:rPr lang="en-US" altLang="ja-JP" sz="1600" b="0" i="1" smtClean="0">
                                  <a:latin typeface="Cambria Math" panose="02040503050406030204" pitchFamily="18" charset="0"/>
                                </a:rPr>
                                <m:t>𝑛</m:t>
                              </m:r>
                            </m:den>
                          </m:f>
                          <m:func>
                            <m:funcPr>
                              <m:ctrlPr>
                                <a:rPr lang="en-US" altLang="ja-JP" sz="1600" b="0" i="1" smtClean="0">
                                  <a:latin typeface="Cambria Math" panose="02040503050406030204" pitchFamily="18" charset="0"/>
                                </a:rPr>
                              </m:ctrlPr>
                            </m:funcPr>
                            <m:fName>
                              <m:r>
                                <m:rPr>
                                  <m:sty m:val="p"/>
                                </m:rPr>
                                <a:rPr lang="en-US" altLang="ja-JP" sz="1600" b="0" i="0" smtClean="0">
                                  <a:latin typeface="Cambria Math" panose="02040503050406030204" pitchFamily="18" charset="0"/>
                                </a:rPr>
                                <m:t>log</m:t>
                              </m:r>
                            </m:fName>
                            <m:e>
                              <m:r>
                                <a:rPr lang="en-US" altLang="ja-JP" sz="1600" b="0" i="1" smtClean="0">
                                  <a:latin typeface="Cambria Math" panose="02040503050406030204" pitchFamily="18" charset="0"/>
                                </a:rPr>
                                <m:t>𝑝</m:t>
                              </m:r>
                              <m:d>
                                <m:dPr>
                                  <m:ctrlPr>
                                    <a:rPr lang="en-US" altLang="ja-JP" sz="1600" b="0" i="1" smtClean="0">
                                      <a:latin typeface="Cambria Math" panose="02040503050406030204" pitchFamily="18" charset="0"/>
                                    </a:rPr>
                                  </m:ctrlPr>
                                </m:dPr>
                                <m:e>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𝑌</m:t>
                                      </m:r>
                                    </m:e>
                                    <m:sub>
                                      <m:r>
                                        <a:rPr lang="en-US" altLang="ja-JP" sz="1600" b="0" i="1" smtClean="0">
                                          <a:latin typeface="Cambria Math" panose="02040503050406030204" pitchFamily="18" charset="0"/>
                                        </a:rPr>
                                        <m:t>𝐷</m:t>
                                      </m:r>
                                    </m:sub>
                                  </m:sSub>
                                </m:e>
                                <m:e>
                                  <m:sSub>
                                    <m:sSubPr>
                                      <m:ctrlPr>
                                        <a:rPr lang="en-US" altLang="ja-JP" sz="1600" b="0" i="1" smtClean="0">
                                          <a:latin typeface="Cambria Math" panose="02040503050406030204" pitchFamily="18" charset="0"/>
                                        </a:rPr>
                                      </m:ctrlPr>
                                    </m:sSubPr>
                                    <m:e>
                                      <m:r>
                                        <a:rPr lang="en-US" altLang="ja-JP" sz="1600" b="0" i="1" smtClean="0">
                                          <a:latin typeface="Cambria Math" panose="02040503050406030204" pitchFamily="18" charset="0"/>
                                        </a:rPr>
                                        <m:t>𝑋</m:t>
                                      </m:r>
                                    </m:e>
                                    <m:sub>
                                      <m:r>
                                        <a:rPr lang="en-US" altLang="ja-JP" sz="1600" b="0" i="1" smtClean="0">
                                          <a:latin typeface="Cambria Math" panose="02040503050406030204" pitchFamily="18" charset="0"/>
                                        </a:rPr>
                                        <m:t>𝐷</m:t>
                                      </m:r>
                                    </m:sub>
                                  </m:sSub>
                                  <m:r>
                                    <a:rPr lang="en-US" altLang="ja-JP" sz="1600" b="0" i="1" smtClean="0">
                                      <a:latin typeface="Cambria Math" panose="02040503050406030204" pitchFamily="18" charset="0"/>
                                    </a:rPr>
                                    <m:t>,</m:t>
                                  </m:r>
                                  <m:r>
                                    <a:rPr lang="en-US" altLang="ja-JP" sz="1600" b="0" i="1" smtClean="0">
                                      <a:latin typeface="Cambria Math" panose="02040503050406030204" pitchFamily="18" charset="0"/>
                                    </a:rPr>
                                    <m:t>𝑤</m:t>
                                  </m:r>
                                </m:e>
                              </m:d>
                            </m:e>
                          </m:func>
                        </m:e>
                      </m:d>
                      <m:r>
                        <a:rPr lang="en-US" altLang="ja-JP" sz="1600" b="0" i="1" smtClean="0">
                          <a:latin typeface="Cambria Math" panose="02040503050406030204" pitchFamily="18" charset="0"/>
                        </a:rPr>
                        <m:t>, </m:t>
                      </m:r>
                      <m:r>
                        <a:rPr lang="en-US" altLang="ja-JP" sz="1600" b="0" i="1" smtClean="0">
                          <a:latin typeface="Cambria Math" panose="02040503050406030204" pitchFamily="18" charset="0"/>
                        </a:rPr>
                        <m:t>𝛽</m:t>
                      </m:r>
                      <m:r>
                        <a:rPr lang="en-US" altLang="ja-JP" sz="1600" b="0" i="1" smtClean="0">
                          <a:latin typeface="Cambria Math" panose="02040503050406030204" pitchFamily="18" charset="0"/>
                        </a:rPr>
                        <m:t>=</m:t>
                      </m:r>
                      <m:f>
                        <m:fPr>
                          <m:ctrlPr>
                            <a:rPr lang="en-US" altLang="ja-JP" sz="1600" b="0" i="1" smtClean="0">
                              <a:latin typeface="Cambria Math" panose="02040503050406030204" pitchFamily="18" charset="0"/>
                            </a:rPr>
                          </m:ctrlPr>
                        </m:fPr>
                        <m:num>
                          <m:r>
                            <a:rPr lang="en-US" altLang="ja-JP" sz="1600" b="0" i="1" smtClean="0">
                              <a:latin typeface="Cambria Math" panose="02040503050406030204" pitchFamily="18" charset="0"/>
                            </a:rPr>
                            <m:t>1</m:t>
                          </m:r>
                        </m:num>
                        <m:den>
                          <m:func>
                            <m:funcPr>
                              <m:ctrlPr>
                                <a:rPr lang="en-US" altLang="ja-JP" sz="1600" b="0" i="1" smtClean="0">
                                  <a:latin typeface="Cambria Math" panose="02040503050406030204" pitchFamily="18" charset="0"/>
                                </a:rPr>
                              </m:ctrlPr>
                            </m:funcPr>
                            <m:fName>
                              <m:r>
                                <m:rPr>
                                  <m:sty m:val="p"/>
                                </m:rPr>
                                <a:rPr lang="en-US" altLang="ja-JP" sz="1600" b="0" i="0" smtClean="0">
                                  <a:latin typeface="Cambria Math" panose="02040503050406030204" pitchFamily="18" charset="0"/>
                                </a:rPr>
                                <m:t>log</m:t>
                              </m:r>
                            </m:fName>
                            <m:e>
                              <m:r>
                                <a:rPr lang="en-US" altLang="ja-JP" sz="1600" b="0" i="1" smtClean="0">
                                  <a:latin typeface="Cambria Math" panose="02040503050406030204" pitchFamily="18" charset="0"/>
                                </a:rPr>
                                <m:t>𝑛</m:t>
                              </m:r>
                            </m:e>
                          </m:func>
                        </m:den>
                      </m:f>
                    </m:oMath>
                  </m:oMathPara>
                </a14:m>
                <a:endParaRPr lang="en-US" altLang="ja-JP" dirty="0"/>
              </a:p>
            </p:txBody>
          </p:sp>
        </mc:Choice>
        <mc:Fallback xmlns="">
          <p:sp>
            <p:nvSpPr>
              <p:cNvPr id="9" name="テキスト ボックス 8">
                <a:extLst>
                  <a:ext uri="{FF2B5EF4-FFF2-40B4-BE49-F238E27FC236}">
                    <a16:creationId xmlns:a16="http://schemas.microsoft.com/office/drawing/2014/main" id="{7FEA05B6-B149-5D4E-67A7-3A1BDFB82E1A}"/>
                  </a:ext>
                </a:extLst>
              </p:cNvPr>
              <p:cNvSpPr txBox="1">
                <a:spLocks noRot="1" noChangeAspect="1" noMove="1" noResize="1" noEditPoints="1" noAdjustHandles="1" noChangeArrowheads="1" noChangeShapeType="1" noTextEdit="1"/>
              </p:cNvSpPr>
              <p:nvPr/>
            </p:nvSpPr>
            <p:spPr>
              <a:xfrm>
                <a:off x="542817" y="3599699"/>
                <a:ext cx="11191983" cy="1711494"/>
              </a:xfrm>
              <a:prstGeom prst="rect">
                <a:avLst/>
              </a:prstGeom>
              <a:blipFill>
                <a:blip r:embed="rId3"/>
                <a:stretch>
                  <a:fillRect l="-436" t="-21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6961312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8922</TotalTime>
  <Words>4379</Words>
  <Application>Microsoft Office PowerPoint</Application>
  <PresentationFormat>ワイド画面</PresentationFormat>
  <Paragraphs>287</Paragraphs>
  <Slides>28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28</vt:i4>
      </vt:variant>
    </vt:vector>
  </HeadingPairs>
  <TitlesOfParts>
    <vt:vector size="33" baseType="lpstr">
      <vt:lpstr>游ゴシック</vt:lpstr>
      <vt:lpstr>游ゴシック Light</vt:lpstr>
      <vt:lpstr>Arial</vt:lpstr>
      <vt:lpstr>Cambria Math</vt:lpstr>
      <vt:lpstr>Office テーマ</vt:lpstr>
      <vt:lpstr>ICLR2025 論文読み会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文士 中村</dc:creator>
  <cp:lastModifiedBy>文士 中村</cp:lastModifiedBy>
  <cp:revision>62</cp:revision>
  <dcterms:created xsi:type="dcterms:W3CDTF">2025-05-07T22:30:21Z</dcterms:created>
  <dcterms:modified xsi:type="dcterms:W3CDTF">2025-05-28T13:18:23Z</dcterms:modified>
</cp:coreProperties>
</file>